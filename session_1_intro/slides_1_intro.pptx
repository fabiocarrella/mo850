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6" r:id="rId19"/>
    <p:sldId id="275" r:id="rId20"/>
    <p:sldId id="278" r:id="rId21"/>
    <p:sldId id="279" r:id="rId22"/>
    <p:sldId id="265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74" autoAdjust="0"/>
  </p:normalViewPr>
  <p:slideViewPr>
    <p:cSldViewPr snapToGrid="0">
      <p:cViewPr varScale="1">
        <p:scale>
          <a:sx n="64" d="100"/>
          <a:sy n="64" d="100"/>
        </p:scale>
        <p:origin x="139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D12A14-659F-4983-8E51-10975FDFBF4A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5A27808-FCC3-448B-8324-6862C2CF68A0}">
      <dgm:prSet phldrT="[Testo]" phldr="0"/>
      <dgm:spPr/>
      <dgm:t>
        <a:bodyPr/>
        <a:lstStyle/>
        <a:p>
          <a:r>
            <a:rPr lang="pt-BR" dirty="0"/>
            <a:t>Computer Science</a:t>
          </a:r>
          <a:endParaRPr lang="it-IT" dirty="0"/>
        </a:p>
      </dgm:t>
    </dgm:pt>
    <dgm:pt modelId="{C551323B-D5CA-4BA2-B411-E9E96A3AEB60}" type="parTrans" cxnId="{AAD5ED50-6A7B-47E7-8FA8-C92DA45EDE92}">
      <dgm:prSet/>
      <dgm:spPr/>
      <dgm:t>
        <a:bodyPr/>
        <a:lstStyle/>
        <a:p>
          <a:endParaRPr lang="it-IT"/>
        </a:p>
      </dgm:t>
    </dgm:pt>
    <dgm:pt modelId="{54AF21F6-3073-4042-8737-16A1EA3CED06}" type="sibTrans" cxnId="{AAD5ED50-6A7B-47E7-8FA8-C92DA45EDE92}">
      <dgm:prSet/>
      <dgm:spPr/>
      <dgm:t>
        <a:bodyPr/>
        <a:lstStyle/>
        <a:p>
          <a:endParaRPr lang="it-IT"/>
        </a:p>
      </dgm:t>
    </dgm:pt>
    <dgm:pt modelId="{4CCB738B-8933-4F69-8AC7-85A4F4AF53EF}">
      <dgm:prSet phldrT="[Testo]" phldr="0"/>
      <dgm:spPr/>
      <dgm:t>
        <a:bodyPr/>
        <a:lstStyle/>
        <a:p>
          <a:r>
            <a:rPr lang="pt-BR" dirty="0"/>
            <a:t>Linguistics</a:t>
          </a:r>
          <a:endParaRPr lang="it-IT" dirty="0"/>
        </a:p>
      </dgm:t>
    </dgm:pt>
    <dgm:pt modelId="{45B0FAD6-D0D4-4699-AEA7-C30521EA10B6}" type="parTrans" cxnId="{AA97AFDA-A0F3-4BEF-96B6-349BC43BCC91}">
      <dgm:prSet/>
      <dgm:spPr/>
      <dgm:t>
        <a:bodyPr/>
        <a:lstStyle/>
        <a:p>
          <a:endParaRPr lang="it-IT"/>
        </a:p>
      </dgm:t>
    </dgm:pt>
    <dgm:pt modelId="{DAD304EE-E3DA-452E-AFBC-296D555A25CF}" type="sibTrans" cxnId="{AA97AFDA-A0F3-4BEF-96B6-349BC43BCC91}">
      <dgm:prSet/>
      <dgm:spPr/>
      <dgm:t>
        <a:bodyPr/>
        <a:lstStyle/>
        <a:p>
          <a:endParaRPr lang="it-IT"/>
        </a:p>
      </dgm:t>
    </dgm:pt>
    <dgm:pt modelId="{745E4006-4E65-49B8-AD06-1EDFA26A1197}">
      <dgm:prSet phldrT="[Testo]" phldr="0"/>
      <dgm:spPr/>
      <dgm:t>
        <a:bodyPr/>
        <a:lstStyle/>
        <a:p>
          <a:r>
            <a:rPr lang="pt-BR" dirty="0"/>
            <a:t>Psychology</a:t>
          </a:r>
          <a:endParaRPr lang="it-IT" dirty="0"/>
        </a:p>
      </dgm:t>
    </dgm:pt>
    <dgm:pt modelId="{CEF03F7C-B07E-43FC-822C-4F4A28ABDC0C}" type="parTrans" cxnId="{27F634A8-7602-4A13-A5FB-130E5D15203A}">
      <dgm:prSet/>
      <dgm:spPr/>
      <dgm:t>
        <a:bodyPr/>
        <a:lstStyle/>
        <a:p>
          <a:endParaRPr lang="it-IT"/>
        </a:p>
      </dgm:t>
    </dgm:pt>
    <dgm:pt modelId="{904BB42D-952A-4511-9C83-DB6EFF40C6BA}" type="sibTrans" cxnId="{27F634A8-7602-4A13-A5FB-130E5D15203A}">
      <dgm:prSet/>
      <dgm:spPr/>
      <dgm:t>
        <a:bodyPr/>
        <a:lstStyle/>
        <a:p>
          <a:endParaRPr lang="it-IT"/>
        </a:p>
      </dgm:t>
    </dgm:pt>
    <dgm:pt modelId="{40EDA4E5-7D66-4173-9BDA-21421D04DF27}" type="pres">
      <dgm:prSet presAssocID="{83D12A14-659F-4983-8E51-10975FDFBF4A}" presName="compositeShape" presStyleCnt="0">
        <dgm:presLayoutVars>
          <dgm:chMax val="7"/>
          <dgm:dir/>
          <dgm:resizeHandles val="exact"/>
        </dgm:presLayoutVars>
      </dgm:prSet>
      <dgm:spPr/>
    </dgm:pt>
    <dgm:pt modelId="{7DDAA9EF-D1B3-4AED-9B75-6AA0B5026CC5}" type="pres">
      <dgm:prSet presAssocID="{55A27808-FCC3-448B-8324-6862C2CF68A0}" presName="circ1" presStyleLbl="vennNode1" presStyleIdx="0" presStyleCnt="3"/>
      <dgm:spPr/>
    </dgm:pt>
    <dgm:pt modelId="{6DB5B949-8582-47DD-83A4-302679101256}" type="pres">
      <dgm:prSet presAssocID="{55A27808-FCC3-448B-8324-6862C2CF68A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7B6294A-B24B-420E-BE8B-44C05677FCFA}" type="pres">
      <dgm:prSet presAssocID="{4CCB738B-8933-4F69-8AC7-85A4F4AF53EF}" presName="circ2" presStyleLbl="vennNode1" presStyleIdx="1" presStyleCnt="3"/>
      <dgm:spPr/>
    </dgm:pt>
    <dgm:pt modelId="{404CB104-8C69-4F50-98EE-D050177841AE}" type="pres">
      <dgm:prSet presAssocID="{4CCB738B-8933-4F69-8AC7-85A4F4AF53E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30BF997-3136-4671-BCD6-BE4D60CA63E5}" type="pres">
      <dgm:prSet presAssocID="{745E4006-4E65-49B8-AD06-1EDFA26A1197}" presName="circ3" presStyleLbl="vennNode1" presStyleIdx="2" presStyleCnt="3"/>
      <dgm:spPr/>
    </dgm:pt>
    <dgm:pt modelId="{4ECB6DBB-05DC-4A58-955D-9CB3A45D477D}" type="pres">
      <dgm:prSet presAssocID="{745E4006-4E65-49B8-AD06-1EDFA26A119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6BD4A00A-41DE-4F93-ABE8-026AF7C07FAE}" type="presOf" srcId="{745E4006-4E65-49B8-AD06-1EDFA26A1197}" destId="{4ECB6DBB-05DC-4A58-955D-9CB3A45D477D}" srcOrd="1" destOrd="0" presId="urn:microsoft.com/office/officeart/2005/8/layout/venn1"/>
    <dgm:cxn modelId="{39289569-B187-4785-ACEB-90FB95335BB6}" type="presOf" srcId="{55A27808-FCC3-448B-8324-6862C2CF68A0}" destId="{6DB5B949-8582-47DD-83A4-302679101256}" srcOrd="1" destOrd="0" presId="urn:microsoft.com/office/officeart/2005/8/layout/venn1"/>
    <dgm:cxn modelId="{AAD5ED50-6A7B-47E7-8FA8-C92DA45EDE92}" srcId="{83D12A14-659F-4983-8E51-10975FDFBF4A}" destId="{55A27808-FCC3-448B-8324-6862C2CF68A0}" srcOrd="0" destOrd="0" parTransId="{C551323B-D5CA-4BA2-B411-E9E96A3AEB60}" sibTransId="{54AF21F6-3073-4042-8737-16A1EA3CED06}"/>
    <dgm:cxn modelId="{602E9854-15C5-49DC-996A-B12EAE605118}" type="presOf" srcId="{745E4006-4E65-49B8-AD06-1EDFA26A1197}" destId="{430BF997-3136-4671-BCD6-BE4D60CA63E5}" srcOrd="0" destOrd="0" presId="urn:microsoft.com/office/officeart/2005/8/layout/venn1"/>
    <dgm:cxn modelId="{27F634A8-7602-4A13-A5FB-130E5D15203A}" srcId="{83D12A14-659F-4983-8E51-10975FDFBF4A}" destId="{745E4006-4E65-49B8-AD06-1EDFA26A1197}" srcOrd="2" destOrd="0" parTransId="{CEF03F7C-B07E-43FC-822C-4F4A28ABDC0C}" sibTransId="{904BB42D-952A-4511-9C83-DB6EFF40C6BA}"/>
    <dgm:cxn modelId="{FCCF6CC1-E448-45B1-8EC1-AE334FABF046}" type="presOf" srcId="{55A27808-FCC3-448B-8324-6862C2CF68A0}" destId="{7DDAA9EF-D1B3-4AED-9B75-6AA0B5026CC5}" srcOrd="0" destOrd="0" presId="urn:microsoft.com/office/officeart/2005/8/layout/venn1"/>
    <dgm:cxn modelId="{AA97AFDA-A0F3-4BEF-96B6-349BC43BCC91}" srcId="{83D12A14-659F-4983-8E51-10975FDFBF4A}" destId="{4CCB738B-8933-4F69-8AC7-85A4F4AF53EF}" srcOrd="1" destOrd="0" parTransId="{45B0FAD6-D0D4-4699-AEA7-C30521EA10B6}" sibTransId="{DAD304EE-E3DA-452E-AFBC-296D555A25CF}"/>
    <dgm:cxn modelId="{613AF2DF-A022-437C-A40A-F861D51A3E27}" type="presOf" srcId="{4CCB738B-8933-4F69-8AC7-85A4F4AF53EF}" destId="{67B6294A-B24B-420E-BE8B-44C05677FCFA}" srcOrd="0" destOrd="0" presId="urn:microsoft.com/office/officeart/2005/8/layout/venn1"/>
    <dgm:cxn modelId="{46F3D4E7-BD97-4AB9-87DA-A5C2312C4B3C}" type="presOf" srcId="{4CCB738B-8933-4F69-8AC7-85A4F4AF53EF}" destId="{404CB104-8C69-4F50-98EE-D050177841AE}" srcOrd="1" destOrd="0" presId="urn:microsoft.com/office/officeart/2005/8/layout/venn1"/>
    <dgm:cxn modelId="{FF9F8EFE-3304-4FE8-BA4A-234565AE26AA}" type="presOf" srcId="{83D12A14-659F-4983-8E51-10975FDFBF4A}" destId="{40EDA4E5-7D66-4173-9BDA-21421D04DF27}" srcOrd="0" destOrd="0" presId="urn:microsoft.com/office/officeart/2005/8/layout/venn1"/>
    <dgm:cxn modelId="{425DE440-B57E-4649-90F9-57DC52A722E2}" type="presParOf" srcId="{40EDA4E5-7D66-4173-9BDA-21421D04DF27}" destId="{7DDAA9EF-D1B3-4AED-9B75-6AA0B5026CC5}" srcOrd="0" destOrd="0" presId="urn:microsoft.com/office/officeart/2005/8/layout/venn1"/>
    <dgm:cxn modelId="{C7064C2B-400B-4528-A4E8-8AB357E0E88C}" type="presParOf" srcId="{40EDA4E5-7D66-4173-9BDA-21421D04DF27}" destId="{6DB5B949-8582-47DD-83A4-302679101256}" srcOrd="1" destOrd="0" presId="urn:microsoft.com/office/officeart/2005/8/layout/venn1"/>
    <dgm:cxn modelId="{1E29D179-A13A-4669-A1D1-DCC5139BD311}" type="presParOf" srcId="{40EDA4E5-7D66-4173-9BDA-21421D04DF27}" destId="{67B6294A-B24B-420E-BE8B-44C05677FCFA}" srcOrd="2" destOrd="0" presId="urn:microsoft.com/office/officeart/2005/8/layout/venn1"/>
    <dgm:cxn modelId="{8AFC0A66-F1AF-4C67-87C3-523A0B394D17}" type="presParOf" srcId="{40EDA4E5-7D66-4173-9BDA-21421D04DF27}" destId="{404CB104-8C69-4F50-98EE-D050177841AE}" srcOrd="3" destOrd="0" presId="urn:microsoft.com/office/officeart/2005/8/layout/venn1"/>
    <dgm:cxn modelId="{4B201347-F625-4BE8-9061-A4BC0E12A66C}" type="presParOf" srcId="{40EDA4E5-7D66-4173-9BDA-21421D04DF27}" destId="{430BF997-3136-4671-BCD6-BE4D60CA63E5}" srcOrd="4" destOrd="0" presId="urn:microsoft.com/office/officeart/2005/8/layout/venn1"/>
    <dgm:cxn modelId="{E2C544F3-6145-4BC3-8F23-F153956B50EB}" type="presParOf" srcId="{40EDA4E5-7D66-4173-9BDA-21421D04DF27}" destId="{4ECB6DBB-05DC-4A58-955D-9CB3A45D477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D12A14-659F-4983-8E51-10975FDFBF4A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5A27808-FCC3-448B-8324-6862C2CF68A0}">
      <dgm:prSet phldrT="[Testo]" phldr="0"/>
      <dgm:spPr/>
      <dgm:t>
        <a:bodyPr/>
        <a:lstStyle/>
        <a:p>
          <a:r>
            <a:rPr lang="pt-BR" dirty="0"/>
            <a:t>Computer Science</a:t>
          </a:r>
          <a:endParaRPr lang="it-IT" dirty="0"/>
        </a:p>
      </dgm:t>
    </dgm:pt>
    <dgm:pt modelId="{C551323B-D5CA-4BA2-B411-E9E96A3AEB60}" type="parTrans" cxnId="{AAD5ED50-6A7B-47E7-8FA8-C92DA45EDE92}">
      <dgm:prSet/>
      <dgm:spPr/>
      <dgm:t>
        <a:bodyPr/>
        <a:lstStyle/>
        <a:p>
          <a:endParaRPr lang="it-IT"/>
        </a:p>
      </dgm:t>
    </dgm:pt>
    <dgm:pt modelId="{54AF21F6-3073-4042-8737-16A1EA3CED06}" type="sibTrans" cxnId="{AAD5ED50-6A7B-47E7-8FA8-C92DA45EDE92}">
      <dgm:prSet/>
      <dgm:spPr/>
      <dgm:t>
        <a:bodyPr/>
        <a:lstStyle/>
        <a:p>
          <a:endParaRPr lang="it-IT"/>
        </a:p>
      </dgm:t>
    </dgm:pt>
    <dgm:pt modelId="{4CCB738B-8933-4F69-8AC7-85A4F4AF53EF}">
      <dgm:prSet phldrT="[Testo]" phldr="0"/>
      <dgm:spPr/>
      <dgm:t>
        <a:bodyPr/>
        <a:lstStyle/>
        <a:p>
          <a:r>
            <a:rPr lang="pt-BR" dirty="0"/>
            <a:t>Linguistics</a:t>
          </a:r>
          <a:endParaRPr lang="it-IT" dirty="0"/>
        </a:p>
      </dgm:t>
    </dgm:pt>
    <dgm:pt modelId="{45B0FAD6-D0D4-4699-AEA7-C30521EA10B6}" type="parTrans" cxnId="{AA97AFDA-A0F3-4BEF-96B6-349BC43BCC91}">
      <dgm:prSet/>
      <dgm:spPr/>
      <dgm:t>
        <a:bodyPr/>
        <a:lstStyle/>
        <a:p>
          <a:endParaRPr lang="it-IT"/>
        </a:p>
      </dgm:t>
    </dgm:pt>
    <dgm:pt modelId="{DAD304EE-E3DA-452E-AFBC-296D555A25CF}" type="sibTrans" cxnId="{AA97AFDA-A0F3-4BEF-96B6-349BC43BCC91}">
      <dgm:prSet/>
      <dgm:spPr/>
      <dgm:t>
        <a:bodyPr/>
        <a:lstStyle/>
        <a:p>
          <a:endParaRPr lang="it-IT"/>
        </a:p>
      </dgm:t>
    </dgm:pt>
    <dgm:pt modelId="{745E4006-4E65-49B8-AD06-1EDFA26A1197}">
      <dgm:prSet phldrT="[Testo]" phldr="0"/>
      <dgm:spPr/>
      <dgm:t>
        <a:bodyPr/>
        <a:lstStyle/>
        <a:p>
          <a:r>
            <a:rPr lang="pt-BR" dirty="0"/>
            <a:t>Psychology</a:t>
          </a:r>
          <a:endParaRPr lang="it-IT" dirty="0"/>
        </a:p>
      </dgm:t>
    </dgm:pt>
    <dgm:pt modelId="{CEF03F7C-B07E-43FC-822C-4F4A28ABDC0C}" type="parTrans" cxnId="{27F634A8-7602-4A13-A5FB-130E5D15203A}">
      <dgm:prSet/>
      <dgm:spPr/>
      <dgm:t>
        <a:bodyPr/>
        <a:lstStyle/>
        <a:p>
          <a:endParaRPr lang="it-IT"/>
        </a:p>
      </dgm:t>
    </dgm:pt>
    <dgm:pt modelId="{904BB42D-952A-4511-9C83-DB6EFF40C6BA}" type="sibTrans" cxnId="{27F634A8-7602-4A13-A5FB-130E5D15203A}">
      <dgm:prSet/>
      <dgm:spPr/>
      <dgm:t>
        <a:bodyPr/>
        <a:lstStyle/>
        <a:p>
          <a:endParaRPr lang="it-IT"/>
        </a:p>
      </dgm:t>
    </dgm:pt>
    <dgm:pt modelId="{40EDA4E5-7D66-4173-9BDA-21421D04DF27}" type="pres">
      <dgm:prSet presAssocID="{83D12A14-659F-4983-8E51-10975FDFBF4A}" presName="compositeShape" presStyleCnt="0">
        <dgm:presLayoutVars>
          <dgm:chMax val="7"/>
          <dgm:dir/>
          <dgm:resizeHandles val="exact"/>
        </dgm:presLayoutVars>
      </dgm:prSet>
      <dgm:spPr/>
    </dgm:pt>
    <dgm:pt modelId="{7DDAA9EF-D1B3-4AED-9B75-6AA0B5026CC5}" type="pres">
      <dgm:prSet presAssocID="{55A27808-FCC3-448B-8324-6862C2CF68A0}" presName="circ1" presStyleLbl="vennNode1" presStyleIdx="0" presStyleCnt="3"/>
      <dgm:spPr/>
    </dgm:pt>
    <dgm:pt modelId="{6DB5B949-8582-47DD-83A4-302679101256}" type="pres">
      <dgm:prSet presAssocID="{55A27808-FCC3-448B-8324-6862C2CF68A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7B6294A-B24B-420E-BE8B-44C05677FCFA}" type="pres">
      <dgm:prSet presAssocID="{4CCB738B-8933-4F69-8AC7-85A4F4AF53EF}" presName="circ2" presStyleLbl="vennNode1" presStyleIdx="1" presStyleCnt="3"/>
      <dgm:spPr/>
    </dgm:pt>
    <dgm:pt modelId="{404CB104-8C69-4F50-98EE-D050177841AE}" type="pres">
      <dgm:prSet presAssocID="{4CCB738B-8933-4F69-8AC7-85A4F4AF53E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30BF997-3136-4671-BCD6-BE4D60CA63E5}" type="pres">
      <dgm:prSet presAssocID="{745E4006-4E65-49B8-AD06-1EDFA26A1197}" presName="circ3" presStyleLbl="vennNode1" presStyleIdx="2" presStyleCnt="3"/>
      <dgm:spPr/>
    </dgm:pt>
    <dgm:pt modelId="{4ECB6DBB-05DC-4A58-955D-9CB3A45D477D}" type="pres">
      <dgm:prSet presAssocID="{745E4006-4E65-49B8-AD06-1EDFA26A119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6BD4A00A-41DE-4F93-ABE8-026AF7C07FAE}" type="presOf" srcId="{745E4006-4E65-49B8-AD06-1EDFA26A1197}" destId="{4ECB6DBB-05DC-4A58-955D-9CB3A45D477D}" srcOrd="1" destOrd="0" presId="urn:microsoft.com/office/officeart/2005/8/layout/venn1"/>
    <dgm:cxn modelId="{39289569-B187-4785-ACEB-90FB95335BB6}" type="presOf" srcId="{55A27808-FCC3-448B-8324-6862C2CF68A0}" destId="{6DB5B949-8582-47DD-83A4-302679101256}" srcOrd="1" destOrd="0" presId="urn:microsoft.com/office/officeart/2005/8/layout/venn1"/>
    <dgm:cxn modelId="{AAD5ED50-6A7B-47E7-8FA8-C92DA45EDE92}" srcId="{83D12A14-659F-4983-8E51-10975FDFBF4A}" destId="{55A27808-FCC3-448B-8324-6862C2CF68A0}" srcOrd="0" destOrd="0" parTransId="{C551323B-D5CA-4BA2-B411-E9E96A3AEB60}" sibTransId="{54AF21F6-3073-4042-8737-16A1EA3CED06}"/>
    <dgm:cxn modelId="{602E9854-15C5-49DC-996A-B12EAE605118}" type="presOf" srcId="{745E4006-4E65-49B8-AD06-1EDFA26A1197}" destId="{430BF997-3136-4671-BCD6-BE4D60CA63E5}" srcOrd="0" destOrd="0" presId="urn:microsoft.com/office/officeart/2005/8/layout/venn1"/>
    <dgm:cxn modelId="{27F634A8-7602-4A13-A5FB-130E5D15203A}" srcId="{83D12A14-659F-4983-8E51-10975FDFBF4A}" destId="{745E4006-4E65-49B8-AD06-1EDFA26A1197}" srcOrd="2" destOrd="0" parTransId="{CEF03F7C-B07E-43FC-822C-4F4A28ABDC0C}" sibTransId="{904BB42D-952A-4511-9C83-DB6EFF40C6BA}"/>
    <dgm:cxn modelId="{FCCF6CC1-E448-45B1-8EC1-AE334FABF046}" type="presOf" srcId="{55A27808-FCC3-448B-8324-6862C2CF68A0}" destId="{7DDAA9EF-D1B3-4AED-9B75-6AA0B5026CC5}" srcOrd="0" destOrd="0" presId="urn:microsoft.com/office/officeart/2005/8/layout/venn1"/>
    <dgm:cxn modelId="{AA97AFDA-A0F3-4BEF-96B6-349BC43BCC91}" srcId="{83D12A14-659F-4983-8E51-10975FDFBF4A}" destId="{4CCB738B-8933-4F69-8AC7-85A4F4AF53EF}" srcOrd="1" destOrd="0" parTransId="{45B0FAD6-D0D4-4699-AEA7-C30521EA10B6}" sibTransId="{DAD304EE-E3DA-452E-AFBC-296D555A25CF}"/>
    <dgm:cxn modelId="{613AF2DF-A022-437C-A40A-F861D51A3E27}" type="presOf" srcId="{4CCB738B-8933-4F69-8AC7-85A4F4AF53EF}" destId="{67B6294A-B24B-420E-BE8B-44C05677FCFA}" srcOrd="0" destOrd="0" presId="urn:microsoft.com/office/officeart/2005/8/layout/venn1"/>
    <dgm:cxn modelId="{46F3D4E7-BD97-4AB9-87DA-A5C2312C4B3C}" type="presOf" srcId="{4CCB738B-8933-4F69-8AC7-85A4F4AF53EF}" destId="{404CB104-8C69-4F50-98EE-D050177841AE}" srcOrd="1" destOrd="0" presId="urn:microsoft.com/office/officeart/2005/8/layout/venn1"/>
    <dgm:cxn modelId="{FF9F8EFE-3304-4FE8-BA4A-234565AE26AA}" type="presOf" srcId="{83D12A14-659F-4983-8E51-10975FDFBF4A}" destId="{40EDA4E5-7D66-4173-9BDA-21421D04DF27}" srcOrd="0" destOrd="0" presId="urn:microsoft.com/office/officeart/2005/8/layout/venn1"/>
    <dgm:cxn modelId="{425DE440-B57E-4649-90F9-57DC52A722E2}" type="presParOf" srcId="{40EDA4E5-7D66-4173-9BDA-21421D04DF27}" destId="{7DDAA9EF-D1B3-4AED-9B75-6AA0B5026CC5}" srcOrd="0" destOrd="0" presId="urn:microsoft.com/office/officeart/2005/8/layout/venn1"/>
    <dgm:cxn modelId="{C7064C2B-400B-4528-A4E8-8AB357E0E88C}" type="presParOf" srcId="{40EDA4E5-7D66-4173-9BDA-21421D04DF27}" destId="{6DB5B949-8582-47DD-83A4-302679101256}" srcOrd="1" destOrd="0" presId="urn:microsoft.com/office/officeart/2005/8/layout/venn1"/>
    <dgm:cxn modelId="{1E29D179-A13A-4669-A1D1-DCC5139BD311}" type="presParOf" srcId="{40EDA4E5-7D66-4173-9BDA-21421D04DF27}" destId="{67B6294A-B24B-420E-BE8B-44C05677FCFA}" srcOrd="2" destOrd="0" presId="urn:microsoft.com/office/officeart/2005/8/layout/venn1"/>
    <dgm:cxn modelId="{8AFC0A66-F1AF-4C67-87C3-523A0B394D17}" type="presParOf" srcId="{40EDA4E5-7D66-4173-9BDA-21421D04DF27}" destId="{404CB104-8C69-4F50-98EE-D050177841AE}" srcOrd="3" destOrd="0" presId="urn:microsoft.com/office/officeart/2005/8/layout/venn1"/>
    <dgm:cxn modelId="{4B201347-F625-4BE8-9061-A4BC0E12A66C}" type="presParOf" srcId="{40EDA4E5-7D66-4173-9BDA-21421D04DF27}" destId="{430BF997-3136-4671-BCD6-BE4D60CA63E5}" srcOrd="4" destOrd="0" presId="urn:microsoft.com/office/officeart/2005/8/layout/venn1"/>
    <dgm:cxn modelId="{E2C544F3-6145-4BC3-8F23-F153956B50EB}" type="presParOf" srcId="{40EDA4E5-7D66-4173-9BDA-21421D04DF27}" destId="{4ECB6DBB-05DC-4A58-955D-9CB3A45D477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D12A14-659F-4983-8E51-10975FDFBF4A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55A27808-FCC3-448B-8324-6862C2CF68A0}">
      <dgm:prSet phldrT="[Testo]" phldr="0"/>
      <dgm:spPr/>
      <dgm:t>
        <a:bodyPr/>
        <a:lstStyle/>
        <a:p>
          <a:r>
            <a:rPr lang="pt-BR" dirty="0"/>
            <a:t>Computation</a:t>
          </a:r>
          <a:endParaRPr lang="it-IT" dirty="0"/>
        </a:p>
      </dgm:t>
    </dgm:pt>
    <dgm:pt modelId="{C551323B-D5CA-4BA2-B411-E9E96A3AEB60}" type="parTrans" cxnId="{AAD5ED50-6A7B-47E7-8FA8-C92DA45EDE92}">
      <dgm:prSet/>
      <dgm:spPr/>
      <dgm:t>
        <a:bodyPr/>
        <a:lstStyle/>
        <a:p>
          <a:endParaRPr lang="it-IT"/>
        </a:p>
      </dgm:t>
    </dgm:pt>
    <dgm:pt modelId="{54AF21F6-3073-4042-8737-16A1EA3CED06}" type="sibTrans" cxnId="{AAD5ED50-6A7B-47E7-8FA8-C92DA45EDE92}">
      <dgm:prSet/>
      <dgm:spPr/>
      <dgm:t>
        <a:bodyPr/>
        <a:lstStyle/>
        <a:p>
          <a:endParaRPr lang="it-IT"/>
        </a:p>
      </dgm:t>
    </dgm:pt>
    <dgm:pt modelId="{4CCB738B-8933-4F69-8AC7-85A4F4AF53EF}">
      <dgm:prSet phldrT="[Testo]" phldr="0"/>
      <dgm:spPr/>
      <dgm:t>
        <a:bodyPr/>
        <a:lstStyle/>
        <a:p>
          <a:r>
            <a:rPr lang="pt-BR" dirty="0"/>
            <a:t>Linguistics</a:t>
          </a:r>
          <a:endParaRPr lang="it-IT" dirty="0"/>
        </a:p>
      </dgm:t>
    </dgm:pt>
    <dgm:pt modelId="{45B0FAD6-D0D4-4699-AEA7-C30521EA10B6}" type="parTrans" cxnId="{AA97AFDA-A0F3-4BEF-96B6-349BC43BCC91}">
      <dgm:prSet/>
      <dgm:spPr/>
      <dgm:t>
        <a:bodyPr/>
        <a:lstStyle/>
        <a:p>
          <a:endParaRPr lang="it-IT"/>
        </a:p>
      </dgm:t>
    </dgm:pt>
    <dgm:pt modelId="{DAD304EE-E3DA-452E-AFBC-296D555A25CF}" type="sibTrans" cxnId="{AA97AFDA-A0F3-4BEF-96B6-349BC43BCC91}">
      <dgm:prSet/>
      <dgm:spPr/>
      <dgm:t>
        <a:bodyPr/>
        <a:lstStyle/>
        <a:p>
          <a:endParaRPr lang="it-IT"/>
        </a:p>
      </dgm:t>
    </dgm:pt>
    <dgm:pt modelId="{745E4006-4E65-49B8-AD06-1EDFA26A1197}">
      <dgm:prSet phldrT="[Testo]" phldr="0"/>
      <dgm:spPr/>
      <dgm:t>
        <a:bodyPr/>
        <a:lstStyle/>
        <a:p>
          <a:r>
            <a:rPr lang="pt-BR" dirty="0"/>
            <a:t>Psychology</a:t>
          </a:r>
          <a:endParaRPr lang="it-IT" dirty="0"/>
        </a:p>
      </dgm:t>
    </dgm:pt>
    <dgm:pt modelId="{CEF03F7C-B07E-43FC-822C-4F4A28ABDC0C}" type="parTrans" cxnId="{27F634A8-7602-4A13-A5FB-130E5D15203A}">
      <dgm:prSet/>
      <dgm:spPr/>
      <dgm:t>
        <a:bodyPr/>
        <a:lstStyle/>
        <a:p>
          <a:endParaRPr lang="it-IT"/>
        </a:p>
      </dgm:t>
    </dgm:pt>
    <dgm:pt modelId="{904BB42D-952A-4511-9C83-DB6EFF40C6BA}" type="sibTrans" cxnId="{27F634A8-7602-4A13-A5FB-130E5D15203A}">
      <dgm:prSet/>
      <dgm:spPr/>
      <dgm:t>
        <a:bodyPr/>
        <a:lstStyle/>
        <a:p>
          <a:endParaRPr lang="it-IT"/>
        </a:p>
      </dgm:t>
    </dgm:pt>
    <dgm:pt modelId="{40EDA4E5-7D66-4173-9BDA-21421D04DF27}" type="pres">
      <dgm:prSet presAssocID="{83D12A14-659F-4983-8E51-10975FDFBF4A}" presName="compositeShape" presStyleCnt="0">
        <dgm:presLayoutVars>
          <dgm:chMax val="7"/>
          <dgm:dir/>
          <dgm:resizeHandles val="exact"/>
        </dgm:presLayoutVars>
      </dgm:prSet>
      <dgm:spPr/>
    </dgm:pt>
    <dgm:pt modelId="{7DDAA9EF-D1B3-4AED-9B75-6AA0B5026CC5}" type="pres">
      <dgm:prSet presAssocID="{55A27808-FCC3-448B-8324-6862C2CF68A0}" presName="circ1" presStyleLbl="vennNode1" presStyleIdx="0" presStyleCnt="3"/>
      <dgm:spPr/>
    </dgm:pt>
    <dgm:pt modelId="{6DB5B949-8582-47DD-83A4-302679101256}" type="pres">
      <dgm:prSet presAssocID="{55A27808-FCC3-448B-8324-6862C2CF68A0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7B6294A-B24B-420E-BE8B-44C05677FCFA}" type="pres">
      <dgm:prSet presAssocID="{4CCB738B-8933-4F69-8AC7-85A4F4AF53EF}" presName="circ2" presStyleLbl="vennNode1" presStyleIdx="1" presStyleCnt="3"/>
      <dgm:spPr/>
    </dgm:pt>
    <dgm:pt modelId="{404CB104-8C69-4F50-98EE-D050177841AE}" type="pres">
      <dgm:prSet presAssocID="{4CCB738B-8933-4F69-8AC7-85A4F4AF53EF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30BF997-3136-4671-BCD6-BE4D60CA63E5}" type="pres">
      <dgm:prSet presAssocID="{745E4006-4E65-49B8-AD06-1EDFA26A1197}" presName="circ3" presStyleLbl="vennNode1" presStyleIdx="2" presStyleCnt="3"/>
      <dgm:spPr/>
    </dgm:pt>
    <dgm:pt modelId="{4ECB6DBB-05DC-4A58-955D-9CB3A45D477D}" type="pres">
      <dgm:prSet presAssocID="{745E4006-4E65-49B8-AD06-1EDFA26A1197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6BD4A00A-41DE-4F93-ABE8-026AF7C07FAE}" type="presOf" srcId="{745E4006-4E65-49B8-AD06-1EDFA26A1197}" destId="{4ECB6DBB-05DC-4A58-955D-9CB3A45D477D}" srcOrd="1" destOrd="0" presId="urn:microsoft.com/office/officeart/2005/8/layout/venn1"/>
    <dgm:cxn modelId="{39289569-B187-4785-ACEB-90FB95335BB6}" type="presOf" srcId="{55A27808-FCC3-448B-8324-6862C2CF68A0}" destId="{6DB5B949-8582-47DD-83A4-302679101256}" srcOrd="1" destOrd="0" presId="urn:microsoft.com/office/officeart/2005/8/layout/venn1"/>
    <dgm:cxn modelId="{AAD5ED50-6A7B-47E7-8FA8-C92DA45EDE92}" srcId="{83D12A14-659F-4983-8E51-10975FDFBF4A}" destId="{55A27808-FCC3-448B-8324-6862C2CF68A0}" srcOrd="0" destOrd="0" parTransId="{C551323B-D5CA-4BA2-B411-E9E96A3AEB60}" sibTransId="{54AF21F6-3073-4042-8737-16A1EA3CED06}"/>
    <dgm:cxn modelId="{602E9854-15C5-49DC-996A-B12EAE605118}" type="presOf" srcId="{745E4006-4E65-49B8-AD06-1EDFA26A1197}" destId="{430BF997-3136-4671-BCD6-BE4D60CA63E5}" srcOrd="0" destOrd="0" presId="urn:microsoft.com/office/officeart/2005/8/layout/venn1"/>
    <dgm:cxn modelId="{27F634A8-7602-4A13-A5FB-130E5D15203A}" srcId="{83D12A14-659F-4983-8E51-10975FDFBF4A}" destId="{745E4006-4E65-49B8-AD06-1EDFA26A1197}" srcOrd="2" destOrd="0" parTransId="{CEF03F7C-B07E-43FC-822C-4F4A28ABDC0C}" sibTransId="{904BB42D-952A-4511-9C83-DB6EFF40C6BA}"/>
    <dgm:cxn modelId="{FCCF6CC1-E448-45B1-8EC1-AE334FABF046}" type="presOf" srcId="{55A27808-FCC3-448B-8324-6862C2CF68A0}" destId="{7DDAA9EF-D1B3-4AED-9B75-6AA0B5026CC5}" srcOrd="0" destOrd="0" presId="urn:microsoft.com/office/officeart/2005/8/layout/venn1"/>
    <dgm:cxn modelId="{AA97AFDA-A0F3-4BEF-96B6-349BC43BCC91}" srcId="{83D12A14-659F-4983-8E51-10975FDFBF4A}" destId="{4CCB738B-8933-4F69-8AC7-85A4F4AF53EF}" srcOrd="1" destOrd="0" parTransId="{45B0FAD6-D0D4-4699-AEA7-C30521EA10B6}" sibTransId="{DAD304EE-E3DA-452E-AFBC-296D555A25CF}"/>
    <dgm:cxn modelId="{613AF2DF-A022-437C-A40A-F861D51A3E27}" type="presOf" srcId="{4CCB738B-8933-4F69-8AC7-85A4F4AF53EF}" destId="{67B6294A-B24B-420E-BE8B-44C05677FCFA}" srcOrd="0" destOrd="0" presId="urn:microsoft.com/office/officeart/2005/8/layout/venn1"/>
    <dgm:cxn modelId="{46F3D4E7-BD97-4AB9-87DA-A5C2312C4B3C}" type="presOf" srcId="{4CCB738B-8933-4F69-8AC7-85A4F4AF53EF}" destId="{404CB104-8C69-4F50-98EE-D050177841AE}" srcOrd="1" destOrd="0" presId="urn:microsoft.com/office/officeart/2005/8/layout/venn1"/>
    <dgm:cxn modelId="{FF9F8EFE-3304-4FE8-BA4A-234565AE26AA}" type="presOf" srcId="{83D12A14-659F-4983-8E51-10975FDFBF4A}" destId="{40EDA4E5-7D66-4173-9BDA-21421D04DF27}" srcOrd="0" destOrd="0" presId="urn:microsoft.com/office/officeart/2005/8/layout/venn1"/>
    <dgm:cxn modelId="{425DE440-B57E-4649-90F9-57DC52A722E2}" type="presParOf" srcId="{40EDA4E5-7D66-4173-9BDA-21421D04DF27}" destId="{7DDAA9EF-D1B3-4AED-9B75-6AA0B5026CC5}" srcOrd="0" destOrd="0" presId="urn:microsoft.com/office/officeart/2005/8/layout/venn1"/>
    <dgm:cxn modelId="{C7064C2B-400B-4528-A4E8-8AB357E0E88C}" type="presParOf" srcId="{40EDA4E5-7D66-4173-9BDA-21421D04DF27}" destId="{6DB5B949-8582-47DD-83A4-302679101256}" srcOrd="1" destOrd="0" presId="urn:microsoft.com/office/officeart/2005/8/layout/venn1"/>
    <dgm:cxn modelId="{1E29D179-A13A-4669-A1D1-DCC5139BD311}" type="presParOf" srcId="{40EDA4E5-7D66-4173-9BDA-21421D04DF27}" destId="{67B6294A-B24B-420E-BE8B-44C05677FCFA}" srcOrd="2" destOrd="0" presId="urn:microsoft.com/office/officeart/2005/8/layout/venn1"/>
    <dgm:cxn modelId="{8AFC0A66-F1AF-4C67-87C3-523A0B394D17}" type="presParOf" srcId="{40EDA4E5-7D66-4173-9BDA-21421D04DF27}" destId="{404CB104-8C69-4F50-98EE-D050177841AE}" srcOrd="3" destOrd="0" presId="urn:microsoft.com/office/officeart/2005/8/layout/venn1"/>
    <dgm:cxn modelId="{4B201347-F625-4BE8-9061-A4BC0E12A66C}" type="presParOf" srcId="{40EDA4E5-7D66-4173-9BDA-21421D04DF27}" destId="{430BF997-3136-4671-BCD6-BE4D60CA63E5}" srcOrd="4" destOrd="0" presId="urn:microsoft.com/office/officeart/2005/8/layout/venn1"/>
    <dgm:cxn modelId="{E2C544F3-6145-4BC3-8F23-F153956B50EB}" type="presParOf" srcId="{40EDA4E5-7D66-4173-9BDA-21421D04DF27}" destId="{4ECB6DBB-05DC-4A58-955D-9CB3A45D477D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AA9EF-D1B3-4AED-9B75-6AA0B5026CC5}">
      <dsp:nvSpPr>
        <dsp:cNvPr id="0" name=""/>
        <dsp:cNvSpPr/>
      </dsp:nvSpPr>
      <dsp:spPr>
        <a:xfrm>
          <a:off x="2177287" y="57343"/>
          <a:ext cx="2752469" cy="27524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Computer Science</a:t>
          </a:r>
          <a:endParaRPr lang="it-IT" sz="2600" kern="1200" dirty="0"/>
        </a:p>
      </dsp:txBody>
      <dsp:txXfrm>
        <a:off x="2544283" y="539025"/>
        <a:ext cx="2018477" cy="1238611"/>
      </dsp:txXfrm>
    </dsp:sp>
    <dsp:sp modelId="{67B6294A-B24B-420E-BE8B-44C05677FCFA}">
      <dsp:nvSpPr>
        <dsp:cNvPr id="0" name=""/>
        <dsp:cNvSpPr/>
      </dsp:nvSpPr>
      <dsp:spPr>
        <a:xfrm>
          <a:off x="3170470" y="1777636"/>
          <a:ext cx="2752469" cy="27524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Linguistics</a:t>
          </a:r>
          <a:endParaRPr lang="it-IT" sz="2600" kern="1200" dirty="0"/>
        </a:p>
      </dsp:txBody>
      <dsp:txXfrm>
        <a:off x="4012266" y="2488691"/>
        <a:ext cx="1651481" cy="1513858"/>
      </dsp:txXfrm>
    </dsp:sp>
    <dsp:sp modelId="{430BF997-3136-4671-BCD6-BE4D60CA63E5}">
      <dsp:nvSpPr>
        <dsp:cNvPr id="0" name=""/>
        <dsp:cNvSpPr/>
      </dsp:nvSpPr>
      <dsp:spPr>
        <a:xfrm>
          <a:off x="1184104" y="1777636"/>
          <a:ext cx="2752469" cy="27524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Psychology</a:t>
          </a:r>
          <a:endParaRPr lang="it-IT" sz="2600" kern="1200" dirty="0"/>
        </a:p>
      </dsp:txBody>
      <dsp:txXfrm>
        <a:off x="1443295" y="2488691"/>
        <a:ext cx="1651481" cy="1513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AA9EF-D1B3-4AED-9B75-6AA0B5026CC5}">
      <dsp:nvSpPr>
        <dsp:cNvPr id="0" name=""/>
        <dsp:cNvSpPr/>
      </dsp:nvSpPr>
      <dsp:spPr>
        <a:xfrm>
          <a:off x="2177287" y="57343"/>
          <a:ext cx="2752469" cy="27524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Computer Science</a:t>
          </a:r>
          <a:endParaRPr lang="it-IT" sz="2600" kern="1200" dirty="0"/>
        </a:p>
      </dsp:txBody>
      <dsp:txXfrm>
        <a:off x="2544283" y="539025"/>
        <a:ext cx="2018477" cy="1238611"/>
      </dsp:txXfrm>
    </dsp:sp>
    <dsp:sp modelId="{67B6294A-B24B-420E-BE8B-44C05677FCFA}">
      <dsp:nvSpPr>
        <dsp:cNvPr id="0" name=""/>
        <dsp:cNvSpPr/>
      </dsp:nvSpPr>
      <dsp:spPr>
        <a:xfrm>
          <a:off x="3170470" y="1777636"/>
          <a:ext cx="2752469" cy="27524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Linguistics</a:t>
          </a:r>
          <a:endParaRPr lang="it-IT" sz="2600" kern="1200" dirty="0"/>
        </a:p>
      </dsp:txBody>
      <dsp:txXfrm>
        <a:off x="4012266" y="2488691"/>
        <a:ext cx="1651481" cy="1513858"/>
      </dsp:txXfrm>
    </dsp:sp>
    <dsp:sp modelId="{430BF997-3136-4671-BCD6-BE4D60CA63E5}">
      <dsp:nvSpPr>
        <dsp:cNvPr id="0" name=""/>
        <dsp:cNvSpPr/>
      </dsp:nvSpPr>
      <dsp:spPr>
        <a:xfrm>
          <a:off x="1184104" y="1777636"/>
          <a:ext cx="2752469" cy="27524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Psychology</a:t>
          </a:r>
          <a:endParaRPr lang="it-IT" sz="2600" kern="1200" dirty="0"/>
        </a:p>
      </dsp:txBody>
      <dsp:txXfrm>
        <a:off x="1443295" y="2488691"/>
        <a:ext cx="1651481" cy="15138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AA9EF-D1B3-4AED-9B75-6AA0B5026CC5}">
      <dsp:nvSpPr>
        <dsp:cNvPr id="0" name=""/>
        <dsp:cNvSpPr/>
      </dsp:nvSpPr>
      <dsp:spPr>
        <a:xfrm>
          <a:off x="2177287" y="57343"/>
          <a:ext cx="2752469" cy="27524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Computation</a:t>
          </a:r>
          <a:endParaRPr lang="it-IT" sz="2600" kern="1200" dirty="0"/>
        </a:p>
      </dsp:txBody>
      <dsp:txXfrm>
        <a:off x="2544283" y="539025"/>
        <a:ext cx="2018477" cy="1238611"/>
      </dsp:txXfrm>
    </dsp:sp>
    <dsp:sp modelId="{67B6294A-B24B-420E-BE8B-44C05677FCFA}">
      <dsp:nvSpPr>
        <dsp:cNvPr id="0" name=""/>
        <dsp:cNvSpPr/>
      </dsp:nvSpPr>
      <dsp:spPr>
        <a:xfrm>
          <a:off x="3170470" y="1777636"/>
          <a:ext cx="2752469" cy="27524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Linguistics</a:t>
          </a:r>
          <a:endParaRPr lang="it-IT" sz="2600" kern="1200" dirty="0"/>
        </a:p>
      </dsp:txBody>
      <dsp:txXfrm>
        <a:off x="4012266" y="2488691"/>
        <a:ext cx="1651481" cy="1513858"/>
      </dsp:txXfrm>
    </dsp:sp>
    <dsp:sp modelId="{430BF997-3136-4671-BCD6-BE4D60CA63E5}">
      <dsp:nvSpPr>
        <dsp:cNvPr id="0" name=""/>
        <dsp:cNvSpPr/>
      </dsp:nvSpPr>
      <dsp:spPr>
        <a:xfrm>
          <a:off x="1184104" y="1777636"/>
          <a:ext cx="2752469" cy="2752469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dirty="0"/>
            <a:t>Psychology</a:t>
          </a:r>
          <a:endParaRPr lang="it-IT" sz="2600" kern="1200" dirty="0"/>
        </a:p>
      </dsp:txBody>
      <dsp:txXfrm>
        <a:off x="1443295" y="2488691"/>
        <a:ext cx="1651481" cy="15138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16F2C-4F22-4D6C-9759-7E77A28DB452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B328D-763F-4F02-A81E-9F12D2471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6937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940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985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27F78-0FF7-9319-3D6D-46B491EE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6F1F84D-72DB-8455-FF77-90CBA7BE5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F51DBB5-6E81-C469-D91A-22C161847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59705B0-E6D9-97FC-5368-238F2842C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9390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12105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8475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4559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8D857-49AF-D9B9-877B-1331E7423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4C7162E-5752-54F7-048C-E96780EB5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0B4A6ED-3BAA-7776-38E9-99BC34142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5D4961-313A-033E-D538-A21B858AB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2356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D5CC1-7E80-01D1-0C51-49E9BF189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AED8AF4-FB7B-AE5A-E6F1-3124B2680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1364178-B9D5-17D5-E77B-1511AE3BD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B8B18B-72C8-E030-D5E1-E0DC6DD80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6610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FE1D7-0D93-2023-A4EA-1714DBD6E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E3FA2BF-DF4B-1247-D771-87ED6CCE6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90F34BB-ADAD-5A4A-7DC6-16CB5A074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5E79DCE-D374-06FE-00FD-62A720364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5137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575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0671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3117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8680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A3C0E-CF3C-A2CA-38DD-A401F60A2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ED5C83F-486B-C1A3-BF87-319673307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A17F70E-E3BE-60C8-1789-D655F32AD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4C99F86-C7A6-CFFC-5CE4-A632A6907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3986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CD206-1BE9-DC3B-589A-35701AE18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0A3BFEB-6583-22F4-10B2-7D6AF4BBE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AAAC605-00A7-F28E-7E97-7205B4BEC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753427-2DDC-24F0-7075-B79EE6753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3732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https://yourmist.streamlit.app/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DB328D-763F-4F02-A81E-9F12D2471F2D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710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F42592-981A-8883-C21B-ACBFA0B64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66EE105-225A-CB65-87B3-0581880C9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EA1120-40C9-90C0-463D-900B69AA4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09A871-A2C2-65C2-DC4C-2AF0BEF5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C5C10FA-FBB2-625E-668F-420D412A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1728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8E24BD-D4B9-E47E-A8D4-5EBA19218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B862FD5-BF51-A81D-38F4-E8E4CFEB0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3746F4-9496-75E2-0F78-759F537F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72AFD3-EFEA-BFE2-29CC-350B7F5E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CBAAB5-44AA-B631-CFB8-8034B7C6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8869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68055-6BE7-BD51-1158-4EDA95CE6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C32D4D4-30D6-BA12-E302-323BAD4E1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994019-B0B5-813C-B2BE-5DD932567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76E7FC-CCB6-1C7A-7B01-DD8DDA98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9C9E6A-7EEE-4E56-B0A4-A70F62028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124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C04A92-976D-F20E-91B3-67509EC1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0F46FD-6F73-CAAF-9100-DAAE00047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1636B7-B5CD-F6D1-E071-F5E755BCE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242A72C-AB93-4EB2-A2DF-DBDE69777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E097500-BB29-DEF4-8A3E-0F56FF33C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08B5106-38EF-5E3B-9B03-280E15F7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97286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B35550-B0A0-4BF7-CAC8-B07D95B85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9A1E310-A216-9161-CB62-B85C87C01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038338C-4D26-71F3-EA14-4C4B2397B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B4FB537-C5DC-7C5A-2A2A-DBD64CB7C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AB1FDF2-FB6D-53B2-4E47-B7CCDDFED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D4E8DFC-887A-B589-05DC-16D51E760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6AB4E29-9723-98C1-7F2D-7B0FB578C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9F63636-5981-6ECA-6583-1ABD80F1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8406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140DB9-FBEA-8854-91BD-632A3E46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1BA83-8628-578C-1224-F6150EBA7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CE72DB-8675-8F0C-CED0-23395A214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8B3DF73-AC00-7322-D2FD-BCAE0D0A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001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09C19DA7-A7B7-C477-B886-049F44FDC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A533F73-66A9-F3EB-0B67-E06C724D9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58EF943-EE4A-3C83-A35C-67CA692B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996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0EF991-F95C-91BD-DB18-1220C2DC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94BF03-A86A-4AF0-A177-662D52772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974044A-DD50-7092-DBBC-E5AE0B091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FE1ED14-8531-0F4E-2258-BA9FB1B0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99EB072-0467-8ACA-E089-365EF463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A301EFF-75E0-025D-C3C8-B1766A52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6989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AC1234-B99B-42AC-F476-DD05CD33B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9A46033-439B-3F5F-4E39-F4DB82F08E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AED3079-0E10-CECA-D37F-819AD3DC6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22CB452-B8A6-0B9F-46A4-E7984011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5ECA21D-0023-2241-56B2-C514B84B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0D7EE04-BAFF-DC7E-8729-0E06CD9E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169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981A68-259C-59DB-2B8C-BDD8BC79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7BCD853-A469-79B8-1FBD-97C4D7DC9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FF21A1-4962-3CF6-38C1-389A49887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A90329-13F8-72A8-8405-FBD41753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4A51AA-15B0-5EF1-7F98-15C3F548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697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E4DB5DD-3630-D05D-6354-892B6B360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469CA68-0084-D3FB-F0BE-EFD627411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A7B141-5412-C09A-545B-4B141464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4FD9DF-14B6-16E6-640D-4C2CC897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13D9E5-3D89-5DD3-E617-37E7A5D84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5963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655094-A813-3B9E-BCBF-F6C9DF53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6D8E7A6-FC08-55F7-6B8F-3098F3B3A9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5DB6ED-EED6-FBF6-E824-A60F665BA0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77B62-B9B7-42A1-9B35-726B8340D31A}" type="datetimeFigureOut">
              <a:rPr lang="it-IT" smtClean="0"/>
              <a:t>27/02/2026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F76F9B-7E0B-85F3-3F20-34A0450B81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E54157-7CC9-67CA-34F0-3277EF9B3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3B9F2-5F80-43E0-A349-C5F67875A62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296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8D442E-89C7-EC0F-CD08-6EC76AB5B8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MO850 – Tópicos Avançados em Ciência da</a:t>
            </a:r>
            <a:br>
              <a:rPr lang="pt-BR" dirty="0"/>
            </a:br>
            <a:r>
              <a:rPr lang="pt-BR" dirty="0"/>
              <a:t>Computação I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6342D76-F852-3FA9-B58B-DC6553364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Dr. Fabio Carrella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3756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AE64F4-E439-3CF6-991A-5B172303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What is this course about?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7E3C7E-ED33-BB6E-A497-4FD982819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/>
          </a:bodyPr>
          <a:lstStyle/>
          <a:p>
            <a:r>
              <a:rPr lang="pt-BR" dirty="0"/>
              <a:t>Natural language processing...with a twist.</a:t>
            </a:r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688E9A27-F006-715F-D471-A307F8D4E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5976813"/>
              </p:ext>
            </p:extLst>
          </p:nvPr>
        </p:nvGraphicFramePr>
        <p:xfrm>
          <a:off x="5084957" y="1690688"/>
          <a:ext cx="7107044" cy="4587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4087F6-EC79-CBD0-EB6C-42A6237A85BE}"/>
              </a:ext>
            </a:extLst>
          </p:cNvPr>
          <p:cNvSpPr txBox="1"/>
          <p:nvPr/>
        </p:nvSpPr>
        <p:spPr>
          <a:xfrm>
            <a:off x="7704166" y="3713357"/>
            <a:ext cx="100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CSS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81BC7AE-D5A2-43CE-E376-9FE4D801CA82}"/>
              </a:ext>
            </a:extLst>
          </p:cNvPr>
          <p:cNvSpPr txBox="1"/>
          <p:nvPr/>
        </p:nvSpPr>
        <p:spPr>
          <a:xfrm>
            <a:off x="8943146" y="3713357"/>
            <a:ext cx="100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NLP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BD1A03E-6371-5EB9-EED3-EC6539A57B95}"/>
              </a:ext>
            </a:extLst>
          </p:cNvPr>
          <p:cNvSpPr txBox="1"/>
          <p:nvPr/>
        </p:nvSpPr>
        <p:spPr>
          <a:xfrm>
            <a:off x="8440677" y="4626415"/>
            <a:ext cx="100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</a:t>
            </a:r>
            <a:endParaRPr lang="it-IT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35C3DAFA-05E9-5612-062B-0A3942A13BD1}"/>
              </a:ext>
            </a:extLst>
          </p:cNvPr>
          <p:cNvCxnSpPr>
            <a:cxnSpLocks/>
          </p:cNvCxnSpPr>
          <p:nvPr/>
        </p:nvCxnSpPr>
        <p:spPr>
          <a:xfrm flipH="1">
            <a:off x="8638479" y="3546088"/>
            <a:ext cx="2412380" cy="710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D4C44BE-71E2-5360-2EE2-DB54EFF94F04}"/>
              </a:ext>
            </a:extLst>
          </p:cNvPr>
          <p:cNvSpPr txBox="1"/>
          <p:nvPr/>
        </p:nvSpPr>
        <p:spPr>
          <a:xfrm>
            <a:off x="10446039" y="3127246"/>
            <a:ext cx="158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We are here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1538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4" grpId="0">
        <p:bldAsOne/>
      </p:bldGraphic>
      <p:bldP spid="5" grpId="0"/>
      <p:bldP spid="6" grpId="0"/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762CF-7581-7859-E510-CBE9B7BD6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DCADC1-4FDF-6379-0DD0-17744FB0F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Why this course matter?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E4372C-BE70-491D-7DFA-70F6D36A3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/>
              <a:t>According to the latest report by the World Economic Forum, misinformation stands out as the most significant short-term global risk, capable of disrupting elections and exacerbating societal polarization.</a:t>
            </a:r>
            <a:endParaRPr lang="it-IT" dirty="0"/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52739137-977E-4F18-A1F7-7BF207FBC1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6019288"/>
              </p:ext>
            </p:extLst>
          </p:nvPr>
        </p:nvGraphicFramePr>
        <p:xfrm>
          <a:off x="5084957" y="1690688"/>
          <a:ext cx="7107044" cy="4587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977049B2-6420-8A09-62AE-66DBA5F00D56}"/>
              </a:ext>
            </a:extLst>
          </p:cNvPr>
          <p:cNvSpPr txBox="1"/>
          <p:nvPr/>
        </p:nvSpPr>
        <p:spPr>
          <a:xfrm>
            <a:off x="7704166" y="3713357"/>
            <a:ext cx="100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CSS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6084DBF-43E7-2706-74E7-A7C13E1F56C8}"/>
              </a:ext>
            </a:extLst>
          </p:cNvPr>
          <p:cNvSpPr txBox="1"/>
          <p:nvPr/>
        </p:nvSpPr>
        <p:spPr>
          <a:xfrm>
            <a:off x="8943146" y="3713357"/>
            <a:ext cx="100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NLP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1A8FE71-C900-FA02-9F9A-BCAA9F281A5C}"/>
              </a:ext>
            </a:extLst>
          </p:cNvPr>
          <p:cNvSpPr txBox="1"/>
          <p:nvPr/>
        </p:nvSpPr>
        <p:spPr>
          <a:xfrm>
            <a:off x="8440677" y="4626415"/>
            <a:ext cx="100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</a:t>
            </a:r>
            <a:endParaRPr lang="it-IT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1B7C50EB-BCB7-1E29-CB4E-D2366A650CC2}"/>
              </a:ext>
            </a:extLst>
          </p:cNvPr>
          <p:cNvCxnSpPr>
            <a:cxnSpLocks/>
          </p:cNvCxnSpPr>
          <p:nvPr/>
        </p:nvCxnSpPr>
        <p:spPr>
          <a:xfrm flipH="1">
            <a:off x="8638479" y="3546088"/>
            <a:ext cx="2412380" cy="710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F5D416A-1A7B-DE9D-06CC-211F76591EAD}"/>
              </a:ext>
            </a:extLst>
          </p:cNvPr>
          <p:cNvSpPr txBox="1"/>
          <p:nvPr/>
        </p:nvSpPr>
        <p:spPr>
          <a:xfrm>
            <a:off x="10446039" y="3127246"/>
            <a:ext cx="158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We are here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2724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Graphic spid="4" grpId="0">
        <p:bldAsOne/>
      </p:bldGraphic>
      <p:bldP spid="5" grpId="0"/>
      <p:bldP spid="6" grpId="0"/>
      <p:bldP spid="7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723237-3767-3896-878C-AACC5FBE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Course structure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C14349-5704-EA40-21F0-E1F729F2A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>
                <a:effectLst/>
              </a:rPr>
              <a:t>Part 1: </a:t>
            </a:r>
            <a:r>
              <a:rPr lang="it-IT" b="1" dirty="0" err="1">
                <a:effectLst/>
              </a:rPr>
              <a:t>Foundations</a:t>
            </a:r>
            <a:r>
              <a:rPr lang="it-IT" b="1" dirty="0">
                <a:effectLst/>
              </a:rPr>
              <a:t> &amp; Data</a:t>
            </a:r>
          </a:p>
          <a:p>
            <a:pPr lvl="1"/>
            <a:r>
              <a:rPr lang="it-IT" dirty="0">
                <a:effectLst/>
              </a:rPr>
              <a:t>Data </a:t>
            </a:r>
            <a:r>
              <a:rPr lang="it-IT" dirty="0" err="1">
                <a:effectLst/>
              </a:rPr>
              <a:t>collection</a:t>
            </a:r>
            <a:r>
              <a:rPr lang="it-IT" dirty="0">
                <a:effectLst/>
              </a:rPr>
              <a:t> (</a:t>
            </a:r>
            <a:r>
              <a:rPr lang="it-IT" dirty="0" err="1">
                <a:effectLst/>
              </a:rPr>
              <a:t>problems</a:t>
            </a:r>
            <a:r>
              <a:rPr lang="it-IT" dirty="0">
                <a:effectLst/>
              </a:rPr>
              <a:t>) and </a:t>
            </a:r>
            <a:r>
              <a:rPr lang="it-IT" dirty="0" err="1">
                <a:effectLst/>
              </a:rPr>
              <a:t>exploration</a:t>
            </a:r>
            <a:endParaRPr lang="it-IT" dirty="0">
              <a:effectLst/>
            </a:endParaRPr>
          </a:p>
          <a:p>
            <a:r>
              <a:rPr lang="it-IT" b="1" dirty="0"/>
              <a:t>Part 2: </a:t>
            </a:r>
            <a:r>
              <a:rPr lang="it-IT" b="1" dirty="0" err="1"/>
              <a:t>Representation</a:t>
            </a:r>
            <a:r>
              <a:rPr lang="it-IT" b="1" dirty="0"/>
              <a:t> </a:t>
            </a:r>
            <a:r>
              <a:rPr lang="it-IT" b="1" dirty="0" err="1"/>
              <a:t>Meaning</a:t>
            </a:r>
            <a:endParaRPr lang="it-IT" b="1" dirty="0"/>
          </a:p>
          <a:p>
            <a:pPr lvl="1"/>
            <a:r>
              <a:rPr lang="it-IT" dirty="0"/>
              <a:t>Lexicon- and </a:t>
            </a:r>
            <a:r>
              <a:rPr lang="it-IT" dirty="0" err="1"/>
              <a:t>vector-based</a:t>
            </a:r>
            <a:r>
              <a:rPr lang="it-IT" dirty="0"/>
              <a:t> </a:t>
            </a:r>
            <a:r>
              <a:rPr lang="it-IT" dirty="0" err="1"/>
              <a:t>approaches</a:t>
            </a:r>
            <a:endParaRPr lang="it-IT" dirty="0"/>
          </a:p>
          <a:p>
            <a:r>
              <a:rPr lang="en-US" b="1" dirty="0">
                <a:effectLst/>
              </a:rPr>
              <a:t>Part 3: Applied Statistics for Text-Derived Measures</a:t>
            </a:r>
          </a:p>
          <a:p>
            <a:pPr lvl="1"/>
            <a:r>
              <a:rPr lang="en-US" dirty="0"/>
              <a:t>Wrangling text-derived measures</a:t>
            </a:r>
            <a:endParaRPr lang="en-US" dirty="0">
              <a:effectLst/>
            </a:endParaRPr>
          </a:p>
          <a:p>
            <a:r>
              <a:rPr lang="en-US" b="1" dirty="0">
                <a:effectLst/>
              </a:rPr>
              <a:t>Part 4: Case Study – Synthetic Realities</a:t>
            </a:r>
          </a:p>
          <a:p>
            <a:pPr lvl="1"/>
            <a:r>
              <a:rPr lang="en-US" dirty="0"/>
              <a:t>LLMs, persuasion, social agents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3191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1462E3-234F-37ED-AD1F-F47119972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Course structure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CCF660-ADFB-987E-6486-4DAA2542D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Assessment</a:t>
            </a:r>
          </a:p>
          <a:p>
            <a:r>
              <a:rPr lang="pt-BR" dirty="0"/>
              <a:t>Readings</a:t>
            </a:r>
          </a:p>
          <a:p>
            <a:r>
              <a:rPr lang="pt-BR" dirty="0"/>
              <a:t>Materials &amp; Softwares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3788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0B1F86-03AA-8587-A725-975E4076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What is misinformation?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DF84EB-258B-930B-63A9-6D63B7F50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pt-BR" dirty="0"/>
              <a:t>Misinformation = </a:t>
            </a:r>
            <a:r>
              <a:rPr lang="it-IT" dirty="0"/>
              <a:t>false,” “inaccurate,” or “</a:t>
            </a:r>
            <a:r>
              <a:rPr lang="it-IT" dirty="0" err="1"/>
              <a:t>incorrect”information</a:t>
            </a:r>
            <a:endParaRPr lang="pt-BR" dirty="0"/>
          </a:p>
          <a:p>
            <a:r>
              <a:rPr lang="pt-BR" dirty="0"/>
              <a:t>Misinformation = disinformation?</a:t>
            </a:r>
          </a:p>
          <a:p>
            <a:r>
              <a:rPr lang="it-IT" dirty="0" err="1"/>
              <a:t>Disinformation</a:t>
            </a:r>
            <a:r>
              <a:rPr lang="it-IT" dirty="0"/>
              <a:t> = </a:t>
            </a:r>
            <a:r>
              <a:rPr lang="en-US" dirty="0"/>
              <a:t>false information that is described as being intentionally shared</a:t>
            </a:r>
          </a:p>
          <a:p>
            <a:r>
              <a:rPr lang="en-US" dirty="0"/>
              <a:t>Disinformation = </a:t>
            </a:r>
            <a:r>
              <a:rPr lang="en-US" dirty="0" err="1"/>
              <a:t>malinformation</a:t>
            </a:r>
            <a:r>
              <a:rPr lang="en-US" dirty="0"/>
              <a:t>?</a:t>
            </a:r>
          </a:p>
          <a:p>
            <a:r>
              <a:rPr lang="pt-BR" dirty="0"/>
              <a:t>Malinformation = </a:t>
            </a:r>
            <a:r>
              <a:rPr lang="en-US" dirty="0"/>
              <a:t> Information shared for malicious ends</a:t>
            </a:r>
          </a:p>
          <a:p>
            <a:r>
              <a:rPr lang="en-US" dirty="0"/>
              <a:t>Fake news = similar to disinformation, news that is intentional and verifiably false</a:t>
            </a:r>
          </a:p>
          <a:p>
            <a:endParaRPr lang="en-US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401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A79D0-5B94-427F-F289-81F96A25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5E1373-0E6B-50B7-B5EF-F3B3BAA29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What is misinformation?</a:t>
            </a:r>
            <a:endParaRPr lang="it-IT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C30B365-31E3-6E90-F673-FA540975CDB5}"/>
              </a:ext>
            </a:extLst>
          </p:cNvPr>
          <p:cNvCxnSpPr>
            <a:cxnSpLocks/>
          </p:cNvCxnSpPr>
          <p:nvPr/>
        </p:nvCxnSpPr>
        <p:spPr>
          <a:xfrm flipV="1">
            <a:off x="1545771" y="1690688"/>
            <a:ext cx="0" cy="4144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7E4006A3-FF9F-B433-2682-F05B08BAF39F}"/>
              </a:ext>
            </a:extLst>
          </p:cNvPr>
          <p:cNvCxnSpPr/>
          <p:nvPr/>
        </p:nvCxnSpPr>
        <p:spPr>
          <a:xfrm>
            <a:off x="1774371" y="5878286"/>
            <a:ext cx="87085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04C80B3-61C3-7940-1196-6A7112E10395}"/>
              </a:ext>
            </a:extLst>
          </p:cNvPr>
          <p:cNvSpPr txBox="1"/>
          <p:nvPr/>
        </p:nvSpPr>
        <p:spPr>
          <a:xfrm>
            <a:off x="1774372" y="6106886"/>
            <a:ext cx="1872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Malicious Intent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9E63BCE-9A12-7D23-45B5-9D78CBF3FF04}"/>
              </a:ext>
            </a:extLst>
          </p:cNvPr>
          <p:cNvSpPr txBox="1"/>
          <p:nvPr/>
        </p:nvSpPr>
        <p:spPr>
          <a:xfrm>
            <a:off x="8610865" y="6123543"/>
            <a:ext cx="1872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Good Intent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E9081B5-265A-AB5E-872C-35D258E4173F}"/>
              </a:ext>
            </a:extLst>
          </p:cNvPr>
          <p:cNvSpPr txBox="1"/>
          <p:nvPr/>
        </p:nvSpPr>
        <p:spPr>
          <a:xfrm>
            <a:off x="961153" y="1291319"/>
            <a:ext cx="461665" cy="173831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pt-BR" dirty="0"/>
              <a:t>High veracity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9FC0968C-6DF3-6ABE-84C1-D681E1AB482C}"/>
              </a:ext>
            </a:extLst>
          </p:cNvPr>
          <p:cNvSpPr txBox="1"/>
          <p:nvPr/>
        </p:nvSpPr>
        <p:spPr>
          <a:xfrm>
            <a:off x="961152" y="4096431"/>
            <a:ext cx="461665" cy="173831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pt-BR" dirty="0"/>
              <a:t>Low veracity</a:t>
            </a:r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2A1598C-B101-BFCF-8B8F-86CCD13074C7}"/>
              </a:ext>
            </a:extLst>
          </p:cNvPr>
          <p:cNvSpPr txBox="1"/>
          <p:nvPr/>
        </p:nvSpPr>
        <p:spPr>
          <a:xfrm>
            <a:off x="9946066" y="2234055"/>
            <a:ext cx="175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Misinformation</a:t>
            </a:r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86DDF3D-3EBC-4538-DB6D-D77FC66876A1}"/>
              </a:ext>
            </a:extLst>
          </p:cNvPr>
          <p:cNvSpPr txBox="1"/>
          <p:nvPr/>
        </p:nvSpPr>
        <p:spPr>
          <a:xfrm>
            <a:off x="9946061" y="2541349"/>
            <a:ext cx="175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Disinformation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CE0E73D-8CD9-495D-6200-1793F1C72F29}"/>
              </a:ext>
            </a:extLst>
          </p:cNvPr>
          <p:cNvSpPr txBox="1"/>
          <p:nvPr/>
        </p:nvSpPr>
        <p:spPr>
          <a:xfrm>
            <a:off x="9946062" y="2893590"/>
            <a:ext cx="175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Fake News</a:t>
            </a:r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DBB15102-A68B-5B4B-108C-CC1621B9FC73}"/>
              </a:ext>
            </a:extLst>
          </p:cNvPr>
          <p:cNvSpPr txBox="1"/>
          <p:nvPr/>
        </p:nvSpPr>
        <p:spPr>
          <a:xfrm>
            <a:off x="9946063" y="3878471"/>
            <a:ext cx="175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News Parody</a:t>
            </a:r>
            <a:endParaRPr lang="it-IT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39E57DA-E06C-D9C4-DAA4-E732486BBE07}"/>
              </a:ext>
            </a:extLst>
          </p:cNvPr>
          <p:cNvSpPr txBox="1"/>
          <p:nvPr/>
        </p:nvSpPr>
        <p:spPr>
          <a:xfrm>
            <a:off x="9946064" y="4237684"/>
            <a:ext cx="1756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News Satire</a:t>
            </a:r>
            <a:endParaRPr lang="it-IT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129958C-46F2-992C-A57B-5CF8B8361DEA}"/>
              </a:ext>
            </a:extLst>
          </p:cNvPr>
          <p:cNvSpPr txBox="1"/>
          <p:nvPr/>
        </p:nvSpPr>
        <p:spPr>
          <a:xfrm>
            <a:off x="9989234" y="3200884"/>
            <a:ext cx="197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Rumors</a:t>
            </a:r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FA526F4-383A-7020-0F54-BFD508B2ED02}"/>
              </a:ext>
            </a:extLst>
          </p:cNvPr>
          <p:cNvSpPr txBox="1"/>
          <p:nvPr/>
        </p:nvSpPr>
        <p:spPr>
          <a:xfrm>
            <a:off x="9946065" y="3571689"/>
            <a:ext cx="1977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Conspiracies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446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06C1-50A3-54A4-E0E8-454455DB7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746DCA-3A53-3B4D-3ED2-20ED72C81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What is misinformation?</a:t>
            </a:r>
            <a:endParaRPr lang="it-IT" dirty="0"/>
          </a:p>
        </p:txBody>
      </p:sp>
      <p:pic>
        <p:nvPicPr>
          <p:cNvPr id="1026" name="Picture 2" descr="figure 2">
            <a:extLst>
              <a:ext uri="{FF2B5EF4-FFF2-40B4-BE49-F238E27FC236}">
                <a16:creationId xmlns:a16="http://schemas.microsoft.com/office/drawing/2014/main" id="{24E43004-FE3C-417F-5A22-BED9BF606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7945" y="1210334"/>
            <a:ext cx="7954055" cy="553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8BEAFE2-6AD4-AD5B-2E72-C6A2826DCAB4}"/>
              </a:ext>
            </a:extLst>
          </p:cNvPr>
          <p:cNvSpPr txBox="1"/>
          <p:nvPr/>
        </p:nvSpPr>
        <p:spPr>
          <a:xfrm>
            <a:off x="693234" y="2964075"/>
            <a:ext cx="3109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Aïmeur</a:t>
            </a:r>
            <a:r>
              <a:rPr lang="en-US" dirty="0"/>
              <a:t>, E., Amri, S., &amp; Brassard, G. (2023). Fake news, disinformation and misinformation in social media: a review. </a:t>
            </a:r>
            <a:r>
              <a:rPr lang="en-US" i="1" dirty="0"/>
              <a:t>Social Network Analysis and Mining</a:t>
            </a:r>
            <a:r>
              <a:rPr lang="en-US" dirty="0"/>
              <a:t>, </a:t>
            </a:r>
            <a:r>
              <a:rPr lang="en-US" i="1" dirty="0"/>
              <a:t>13</a:t>
            </a:r>
            <a:r>
              <a:rPr lang="en-US" dirty="0"/>
              <a:t>(1), 30.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291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79D8-813B-03F2-B578-3AC099720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3B1A27-3AE7-4B4E-0EBA-F55AABB1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What is misinformation?</a:t>
            </a:r>
            <a:endParaRPr lang="it-IT" dirty="0"/>
          </a:p>
        </p:txBody>
      </p:sp>
      <p:pic>
        <p:nvPicPr>
          <p:cNvPr id="4" name="Immagine 3" descr="Immagine che contiene testo, schermata, biglietto da visita&#10;&#10;Il contenuto generato dall'IA potrebbe non essere corretto.">
            <a:extLst>
              <a:ext uri="{FF2B5EF4-FFF2-40B4-BE49-F238E27FC236}">
                <a16:creationId xmlns:a16="http://schemas.microsoft.com/office/drawing/2014/main" id="{9DB9431E-BDF7-D763-ADC1-BB65684D8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686919" y="2053174"/>
            <a:ext cx="5334463" cy="4275190"/>
          </a:xfrm>
          <a:prstGeom prst="rect">
            <a:avLst/>
          </a:prstGeom>
        </p:spPr>
      </p:pic>
      <p:pic>
        <p:nvPicPr>
          <p:cNvPr id="7" name="Immagine 6" descr="Immagine che contiene testo, schermata, diagramma, design&#10;&#10;Il contenuto generato dall'IA potrebbe non essere corretto.">
            <a:extLst>
              <a:ext uri="{FF2B5EF4-FFF2-40B4-BE49-F238E27FC236}">
                <a16:creationId xmlns:a16="http://schemas.microsoft.com/office/drawing/2014/main" id="{2A0D0E20-F79A-CD87-E97B-AAEF141AA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74642" y="1340642"/>
            <a:ext cx="5334462" cy="5700254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2461268-1177-7706-55CE-7C0C053436AD}"/>
              </a:ext>
            </a:extLst>
          </p:cNvPr>
          <p:cNvSpPr txBox="1"/>
          <p:nvPr/>
        </p:nvSpPr>
        <p:spPr>
          <a:xfrm>
            <a:off x="313752" y="1927012"/>
            <a:ext cx="19028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Adams, Z., Osman, M., </a:t>
            </a:r>
            <a:r>
              <a:rPr lang="en-US" dirty="0" err="1"/>
              <a:t>Bechlivanidis</a:t>
            </a:r>
            <a:r>
              <a:rPr lang="en-US" dirty="0"/>
              <a:t>, C., &amp; Meder, B. (2023). (Why) is misinformation a problem?. </a:t>
            </a:r>
            <a:r>
              <a:rPr lang="en-US" i="1" dirty="0"/>
              <a:t>Perspectives on Psychological Science</a:t>
            </a:r>
            <a:r>
              <a:rPr lang="en-US" dirty="0"/>
              <a:t>, </a:t>
            </a:r>
            <a:r>
              <a:rPr lang="en-US" i="1" dirty="0"/>
              <a:t>18</a:t>
            </a:r>
            <a:r>
              <a:rPr lang="en-US" dirty="0"/>
              <a:t>(6), 1436-1463.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4230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C16F0E-C8CC-BB24-B25C-01BEFFCE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Why do we fall for misinformation?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764DE3-47CC-0054-E12B-A9952CDEE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Cognitive miserliness</a:t>
            </a:r>
            <a:r>
              <a:rPr lang="pt-BR" baseline="30000" dirty="0"/>
              <a:t>[1]</a:t>
            </a:r>
            <a:r>
              <a:rPr lang="pt-BR" dirty="0"/>
              <a:t> / Dual process theory</a:t>
            </a:r>
            <a:r>
              <a:rPr lang="pt-BR" baseline="30000" dirty="0"/>
              <a:t>[2,3]</a:t>
            </a:r>
          </a:p>
          <a:p>
            <a:r>
              <a:rPr lang="pt-BR" dirty="0"/>
              <a:t>Heuristics</a:t>
            </a:r>
            <a:r>
              <a:rPr lang="pt-BR" baseline="30000" dirty="0"/>
              <a:t>[4]</a:t>
            </a:r>
          </a:p>
          <a:p>
            <a:r>
              <a:rPr lang="pt-BR" dirty="0"/>
              <a:t>Confirmation bias</a:t>
            </a:r>
            <a:r>
              <a:rPr lang="pt-BR" baseline="30000" dirty="0"/>
              <a:t>[5] </a:t>
            </a:r>
            <a:r>
              <a:rPr lang="pt-BR" dirty="0"/>
              <a:t>/ Selective exposure </a:t>
            </a:r>
            <a:r>
              <a:rPr lang="pt-BR" baseline="30000" dirty="0"/>
              <a:t>[6]</a:t>
            </a:r>
          </a:p>
          <a:p>
            <a:r>
              <a:rPr lang="pt-BR" dirty="0"/>
              <a:t>Identity-Protective Cognition</a:t>
            </a:r>
            <a:r>
              <a:rPr lang="pt-BR" baseline="30000" dirty="0"/>
              <a:t>[7]</a:t>
            </a:r>
          </a:p>
          <a:p>
            <a:r>
              <a:rPr lang="pt-BR" dirty="0"/>
              <a:t>Naive Realism</a:t>
            </a:r>
            <a:r>
              <a:rPr lang="pt-BR" baseline="30000" dirty="0"/>
              <a:t>[8] / </a:t>
            </a:r>
            <a:r>
              <a:rPr lang="pt-BR" dirty="0"/>
              <a:t>Pluralistic ignorance </a:t>
            </a:r>
            <a:r>
              <a:rPr lang="pt-BR" baseline="30000" dirty="0"/>
              <a:t>[9]</a:t>
            </a:r>
          </a:p>
          <a:p>
            <a:r>
              <a:rPr lang="pt-BR" dirty="0"/>
              <a:t>Illusory Truth Effect </a:t>
            </a:r>
            <a:r>
              <a:rPr lang="pt-BR" baseline="30000" dirty="0"/>
              <a:t>[10]</a:t>
            </a:r>
            <a:r>
              <a:rPr lang="pt-BR" dirty="0"/>
              <a:t> / Bandwagon effect </a:t>
            </a:r>
            <a:r>
              <a:rPr lang="pt-BR" baseline="30000" dirty="0"/>
              <a:t>[11]</a:t>
            </a:r>
          </a:p>
          <a:p>
            <a:r>
              <a:rPr lang="pt-BR" dirty="0"/>
              <a:t>Algorithmic Amplification / Homophily </a:t>
            </a:r>
            <a:r>
              <a:rPr lang="pt-BR" baseline="30000" dirty="0"/>
              <a:t>[12]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571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4D730A-6D36-ADE3-290D-BD68D933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cognitive biases to linguistic signals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DFD093-92DB-1630-79B7-919735053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Exploiting</a:t>
            </a:r>
            <a:r>
              <a:rPr lang="it-IT" dirty="0"/>
              <a:t> Cognitive </a:t>
            </a:r>
            <a:r>
              <a:rPr lang="it-IT" dirty="0" err="1"/>
              <a:t>Miserliness</a:t>
            </a:r>
            <a:endParaRPr lang="it-IT" dirty="0"/>
          </a:p>
          <a:p>
            <a:r>
              <a:rPr lang="en-US" dirty="0"/>
              <a:t>Linguistic cues:</a:t>
            </a:r>
          </a:p>
          <a:p>
            <a:pPr lvl="1"/>
            <a:r>
              <a:rPr lang="en-US" dirty="0"/>
              <a:t>Repetition</a:t>
            </a:r>
          </a:p>
          <a:p>
            <a:pPr lvl="1"/>
            <a:r>
              <a:rPr lang="en-US" dirty="0"/>
              <a:t>Simple syntax / short words</a:t>
            </a:r>
          </a:p>
          <a:p>
            <a:pPr lvl="1"/>
            <a:r>
              <a:rPr lang="en-US" dirty="0"/>
              <a:t>Urgency cues (“Act now”)</a:t>
            </a:r>
          </a:p>
          <a:p>
            <a:pPr lvl="1"/>
            <a:r>
              <a:rPr lang="en-US" dirty="0"/>
              <a:t>Emotional intensifiers (“Catastrophic”, “Unprecedented”)</a:t>
            </a:r>
          </a:p>
          <a:p>
            <a:r>
              <a:rPr lang="en-US" dirty="0"/>
              <a:t>Easy-to-process content feels true and shareable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2170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7B6FB-DDB7-BD7C-5BF3-93797EC30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6AD1D3-3AE1-0B67-97A7-866FC766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cognitive biases to linguistic signals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587EF2-BEFE-A196-6465-9E742F6C2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Exploiting</a:t>
            </a:r>
            <a:r>
              <a:rPr lang="it-IT" dirty="0"/>
              <a:t> </a:t>
            </a:r>
            <a:r>
              <a:rPr lang="it-IT" dirty="0" err="1"/>
              <a:t>Motivated</a:t>
            </a:r>
            <a:r>
              <a:rPr lang="it-IT" dirty="0"/>
              <a:t> </a:t>
            </a:r>
            <a:r>
              <a:rPr lang="it-IT" dirty="0" err="1"/>
              <a:t>Reasoning</a:t>
            </a:r>
            <a:endParaRPr lang="it-IT" dirty="0"/>
          </a:p>
          <a:p>
            <a:r>
              <a:rPr lang="en-US" dirty="0"/>
              <a:t>Linguistic cues:</a:t>
            </a:r>
          </a:p>
          <a:p>
            <a:pPr lvl="1"/>
            <a:r>
              <a:rPr lang="en-US" dirty="0"/>
              <a:t>Moral language (“Corrupt”, “Betrayal”)</a:t>
            </a:r>
          </a:p>
          <a:p>
            <a:pPr lvl="1"/>
            <a:r>
              <a:rPr lang="en-US" dirty="0"/>
              <a:t>Us vs. Them pronouns</a:t>
            </a:r>
          </a:p>
          <a:p>
            <a:pPr lvl="1"/>
            <a:r>
              <a:rPr lang="en-US" dirty="0"/>
              <a:t>Dehumanization (“Illegal aliens”)</a:t>
            </a:r>
          </a:p>
          <a:p>
            <a:pPr lvl="1"/>
            <a:r>
              <a:rPr lang="en-US" dirty="0"/>
              <a:t>Absolutist terms (“Always”, “Never”)</a:t>
            </a:r>
          </a:p>
          <a:p>
            <a:pPr lvl="1"/>
            <a:r>
              <a:rPr lang="en-US" dirty="0"/>
              <a:t>Victimhood framing</a:t>
            </a:r>
          </a:p>
          <a:p>
            <a:r>
              <a:rPr lang="it-IT" dirty="0"/>
              <a:t>Triggers </a:t>
            </a:r>
            <a:r>
              <a:rPr lang="it-IT" dirty="0" err="1"/>
              <a:t>identity-protective</a:t>
            </a:r>
            <a:r>
              <a:rPr lang="it-IT" dirty="0"/>
              <a:t> </a:t>
            </a:r>
            <a:r>
              <a:rPr lang="it-IT" dirty="0" err="1"/>
              <a:t>cognition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688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AB493-3E89-263C-A5BF-2B1E13735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1FA2C3-2755-FF43-0C45-058744AF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cognitive biases to linguistic signals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A84B16-97FB-FF47-9B56-41ADCB984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Exploiting</a:t>
            </a:r>
            <a:r>
              <a:rPr lang="it-IT" dirty="0"/>
              <a:t> Social </a:t>
            </a:r>
            <a:r>
              <a:rPr lang="it-IT" dirty="0" err="1"/>
              <a:t>Heuristics</a:t>
            </a:r>
            <a:endParaRPr lang="it-IT" dirty="0"/>
          </a:p>
          <a:p>
            <a:r>
              <a:rPr lang="en-US" dirty="0"/>
              <a:t>Linguistic cues:</a:t>
            </a:r>
          </a:p>
          <a:p>
            <a:pPr lvl="1"/>
            <a:r>
              <a:rPr lang="en-US" dirty="0"/>
              <a:t>Anecdotal reporting (“We saw firsthand…”)</a:t>
            </a:r>
          </a:p>
          <a:p>
            <a:pPr lvl="1"/>
            <a:r>
              <a:rPr lang="en-US" dirty="0"/>
              <a:t>Authority appeals (“Scientists confirm…”)</a:t>
            </a:r>
          </a:p>
          <a:p>
            <a:pPr lvl="1"/>
            <a:r>
              <a:rPr lang="en-US" dirty="0"/>
              <a:t>Consensus claims (“Everyone knows…”)</a:t>
            </a:r>
          </a:p>
          <a:p>
            <a:pPr lvl="1"/>
            <a:r>
              <a:rPr lang="en-US" dirty="0"/>
              <a:t>Pseudo-scientific tone</a:t>
            </a:r>
          </a:p>
          <a:p>
            <a:r>
              <a:rPr lang="it-IT" dirty="0" err="1"/>
              <a:t>Reduces</a:t>
            </a:r>
            <a:r>
              <a:rPr lang="it-IT" dirty="0"/>
              <a:t> </a:t>
            </a:r>
            <a:r>
              <a:rPr lang="it-IT" dirty="0" err="1"/>
              <a:t>epistemic</a:t>
            </a:r>
            <a:r>
              <a:rPr lang="it-IT" dirty="0"/>
              <a:t> </a:t>
            </a:r>
            <a:r>
              <a:rPr lang="it-IT" dirty="0" err="1"/>
              <a:t>effort</a:t>
            </a:r>
            <a:r>
              <a:rPr lang="it-IT" dirty="0"/>
              <a:t>, </a:t>
            </a:r>
            <a:r>
              <a:rPr lang="it-IT" dirty="0" err="1"/>
              <a:t>reliying</a:t>
            </a:r>
            <a:r>
              <a:rPr lang="it-IT" dirty="0"/>
              <a:t> on </a:t>
            </a:r>
            <a:r>
              <a:rPr lang="it-IT" dirty="0" err="1"/>
              <a:t>others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cues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4959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A49D2-80D3-7F38-14C3-D314C299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16A71C-17A6-4600-5760-4FD77810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cognitive biases to linguistic signals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C3D566-DEEB-24AA-2E67-5107B124C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Exploiting</a:t>
            </a:r>
            <a:r>
              <a:rPr lang="it-IT" dirty="0"/>
              <a:t> </a:t>
            </a:r>
            <a:r>
              <a:rPr lang="it-IT" dirty="0" err="1"/>
              <a:t>Uncertainty</a:t>
            </a:r>
            <a:endParaRPr lang="it-IT" dirty="0"/>
          </a:p>
          <a:p>
            <a:r>
              <a:rPr lang="en-US" dirty="0"/>
              <a:t>Linguistic cues:</a:t>
            </a:r>
          </a:p>
          <a:p>
            <a:pPr lvl="1"/>
            <a:r>
              <a:rPr lang="en-US" dirty="0"/>
              <a:t>Vagueness (“Reports say…”)</a:t>
            </a:r>
          </a:p>
          <a:p>
            <a:pPr lvl="1"/>
            <a:r>
              <a:rPr lang="en-US" dirty="0"/>
              <a:t>Epistemic hedging</a:t>
            </a:r>
          </a:p>
          <a:p>
            <a:pPr lvl="1"/>
            <a:r>
              <a:rPr lang="en-US" dirty="0"/>
              <a:t>Rhetorical questions</a:t>
            </a:r>
          </a:p>
          <a:p>
            <a:pPr lvl="1"/>
            <a:r>
              <a:rPr lang="en-US" dirty="0"/>
              <a:t>Suspicion framing (“Why are they hiding this?”)</a:t>
            </a:r>
          </a:p>
          <a:p>
            <a:r>
              <a:rPr lang="it-IT" dirty="0" err="1"/>
              <a:t>Encourages</a:t>
            </a:r>
            <a:r>
              <a:rPr lang="it-IT" dirty="0"/>
              <a:t> </a:t>
            </a:r>
            <a:r>
              <a:rPr lang="it-IT" dirty="0" err="1"/>
              <a:t>inference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verification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624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&#10;&#10;Il contenuto generato dall'IA potrebbe non essere corretto.">
            <a:extLst>
              <a:ext uri="{FF2B5EF4-FFF2-40B4-BE49-F238E27FC236}">
                <a16:creationId xmlns:a16="http://schemas.microsoft.com/office/drawing/2014/main" id="{79D97C51-A01C-DBB5-18D2-0AFDB6A8B1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0" r="4171"/>
          <a:stretch>
            <a:fillRect/>
          </a:stretch>
        </p:blipFill>
        <p:spPr>
          <a:xfrm>
            <a:off x="5325626" y="0"/>
            <a:ext cx="6866374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00A73660-1D10-3050-6980-21230265B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33" y="340412"/>
            <a:ext cx="10515600" cy="1325563"/>
          </a:xfrm>
        </p:spPr>
        <p:txBody>
          <a:bodyPr/>
          <a:lstStyle/>
          <a:p>
            <a:r>
              <a:rPr lang="it-IT" dirty="0"/>
              <a:t>From </a:t>
            </a:r>
            <a:r>
              <a:rPr lang="it-IT" dirty="0" err="1"/>
              <a:t>bias</a:t>
            </a:r>
            <a:r>
              <a:rPr lang="it-IT" dirty="0"/>
              <a:t> to </a:t>
            </a:r>
            <a:r>
              <a:rPr lang="it-IT" dirty="0" err="1"/>
              <a:t>classifiers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C1765E-F22B-6C20-171F-08FB95609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66286" cy="4351338"/>
          </a:xfrm>
        </p:spPr>
        <p:txBody>
          <a:bodyPr/>
          <a:lstStyle/>
          <a:p>
            <a:r>
              <a:rPr lang="en-US" dirty="0"/>
              <a:t>If bias has linguistic signals, can we detect them?</a:t>
            </a:r>
          </a:p>
          <a:p>
            <a:r>
              <a:rPr lang="en-US" dirty="0"/>
              <a:t>Many classifiers use rhetorical &amp; stylistic features</a:t>
            </a:r>
          </a:p>
          <a:p>
            <a:r>
              <a:rPr lang="en-US" dirty="0"/>
              <a:t>Deep learning models (e.g., </a:t>
            </a:r>
            <a:r>
              <a:rPr lang="en-US" dirty="0" err="1"/>
              <a:t>XLNet</a:t>
            </a:r>
            <a:r>
              <a:rPr lang="en-US" dirty="0"/>
              <a:t>, BERT) accuracy &gt; 95% </a:t>
            </a:r>
            <a:r>
              <a:rPr lang="en-US" baseline="30000" dirty="0"/>
              <a:t>[13,14]</a:t>
            </a:r>
            <a:endParaRPr lang="it-IT" baseline="30000" dirty="0"/>
          </a:p>
        </p:txBody>
      </p:sp>
    </p:spTree>
    <p:extLst>
      <p:ext uri="{BB962C8B-B14F-4D97-AF65-F5344CB8AC3E}">
        <p14:creationId xmlns:p14="http://schemas.microsoft.com/office/powerpoint/2010/main" val="227977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0E128F-EA53-E760-7A4E-2F0EFC017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limits</a:t>
            </a:r>
            <a:r>
              <a:rPr lang="it-IT" dirty="0"/>
              <a:t> of </a:t>
            </a:r>
            <a:r>
              <a:rPr lang="it-IT" dirty="0" err="1"/>
              <a:t>detection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12A01B-0AAC-0235-58A2-37FE81C09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Data-</a:t>
            </a:r>
            <a:r>
              <a:rPr lang="it-IT" dirty="0" err="1"/>
              <a:t>Related</a:t>
            </a:r>
            <a:r>
              <a:rPr lang="it-IT" dirty="0"/>
              <a:t> Challenges</a:t>
            </a:r>
          </a:p>
          <a:p>
            <a:pPr lvl="1"/>
            <a:r>
              <a:rPr lang="it-IT" dirty="0"/>
              <a:t>Quality vs </a:t>
            </a:r>
            <a:r>
              <a:rPr lang="it-IT" dirty="0" err="1"/>
              <a:t>quantity</a:t>
            </a:r>
            <a:endParaRPr lang="it-IT" dirty="0"/>
          </a:p>
          <a:p>
            <a:pPr lvl="1"/>
            <a:r>
              <a:rPr lang="it-IT" dirty="0"/>
              <a:t>Balance </a:t>
            </a:r>
            <a:r>
              <a:rPr lang="it-IT" dirty="0" err="1"/>
              <a:t>issue</a:t>
            </a:r>
            <a:endParaRPr lang="it-IT" dirty="0"/>
          </a:p>
          <a:p>
            <a:r>
              <a:rPr lang="it-IT" dirty="0" err="1"/>
              <a:t>Computational</a:t>
            </a:r>
            <a:r>
              <a:rPr lang="it-IT" dirty="0"/>
              <a:t> and </a:t>
            </a:r>
            <a:r>
              <a:rPr lang="it-IT" dirty="0" err="1"/>
              <a:t>Architectural</a:t>
            </a:r>
            <a:r>
              <a:rPr lang="it-IT" dirty="0"/>
              <a:t> Challenges</a:t>
            </a:r>
          </a:p>
          <a:p>
            <a:pPr lvl="1"/>
            <a:r>
              <a:rPr lang="it-IT" dirty="0"/>
              <a:t>Real-time </a:t>
            </a:r>
            <a:r>
              <a:rPr lang="it-IT" dirty="0" err="1"/>
              <a:t>applications</a:t>
            </a:r>
            <a:endParaRPr lang="it-IT" dirty="0"/>
          </a:p>
          <a:p>
            <a:r>
              <a:rPr lang="it-IT" dirty="0" err="1"/>
              <a:t>Interpretability</a:t>
            </a:r>
            <a:r>
              <a:rPr lang="it-IT" dirty="0"/>
              <a:t> and </a:t>
            </a:r>
            <a:r>
              <a:rPr lang="it-IT" dirty="0" err="1"/>
              <a:t>Explainability</a:t>
            </a:r>
            <a:r>
              <a:rPr lang="it-IT" dirty="0"/>
              <a:t> Challenges</a:t>
            </a:r>
          </a:p>
          <a:p>
            <a:pPr lvl="1"/>
            <a:r>
              <a:rPr lang="it-IT" dirty="0" err="1"/>
              <a:t>Lack</a:t>
            </a:r>
            <a:r>
              <a:rPr lang="it-IT" dirty="0"/>
              <a:t> of </a:t>
            </a:r>
            <a:r>
              <a:rPr lang="it-IT" dirty="0" err="1"/>
              <a:t>transparency</a:t>
            </a:r>
            <a:endParaRPr lang="it-IT" dirty="0"/>
          </a:p>
          <a:p>
            <a:r>
              <a:rPr lang="it-IT" dirty="0" err="1"/>
              <a:t>Ethical</a:t>
            </a:r>
            <a:r>
              <a:rPr lang="it-IT" dirty="0"/>
              <a:t> Challenges</a:t>
            </a:r>
          </a:p>
          <a:p>
            <a:pPr lvl="1"/>
            <a:r>
              <a:rPr lang="it-IT" dirty="0"/>
              <a:t>User data in training </a:t>
            </a:r>
            <a:r>
              <a:rPr lang="it-IT" dirty="0" err="1"/>
              <a:t>phase</a:t>
            </a:r>
            <a:endParaRPr lang="it-IT" dirty="0"/>
          </a:p>
          <a:p>
            <a:r>
              <a:rPr lang="it-IT" dirty="0" err="1"/>
              <a:t>Generalizability</a:t>
            </a:r>
            <a:r>
              <a:rPr lang="it-IT" dirty="0"/>
              <a:t> and </a:t>
            </a:r>
            <a:r>
              <a:rPr lang="it-IT" dirty="0" err="1"/>
              <a:t>Adaptability</a:t>
            </a:r>
            <a:r>
              <a:rPr lang="it-IT" dirty="0"/>
              <a:t> Challenges</a:t>
            </a:r>
          </a:p>
          <a:p>
            <a:pPr lvl="1"/>
            <a:r>
              <a:rPr lang="it-IT" dirty="0"/>
              <a:t>Cross-</a:t>
            </a:r>
            <a:r>
              <a:rPr lang="it-IT" dirty="0" err="1"/>
              <a:t>language</a:t>
            </a:r>
            <a:r>
              <a:rPr lang="it-IT" dirty="0"/>
              <a:t> and domain </a:t>
            </a:r>
            <a:r>
              <a:rPr lang="it-IT" dirty="0" err="1"/>
              <a:t>adaptation</a:t>
            </a:r>
            <a:endParaRPr lang="it-IT" dirty="0"/>
          </a:p>
          <a:p>
            <a:pPr lvl="1"/>
            <a:r>
              <a:rPr lang="it-IT" dirty="0" err="1"/>
              <a:t>LLMs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43342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E6A134-937C-8214-2354-D2359F63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Static vs. adaptive manipulation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ABA82A2-4E7F-86D2-E1C4-164545338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manipulation</a:t>
            </a:r>
          </a:p>
          <a:p>
            <a:pPr lvl="1"/>
            <a:r>
              <a:rPr lang="en-US" dirty="0"/>
              <a:t>Cognitive biases exist</a:t>
            </a:r>
          </a:p>
          <a:p>
            <a:pPr lvl="1"/>
            <a:r>
              <a:rPr lang="en-US" dirty="0"/>
              <a:t>Certain linguistic framings exploit them</a:t>
            </a:r>
          </a:p>
          <a:p>
            <a:pPr lvl="1"/>
            <a:r>
              <a:rPr lang="en-US" dirty="0"/>
              <a:t>We try to detect or debunk those patterns</a:t>
            </a:r>
          </a:p>
          <a:p>
            <a:r>
              <a:rPr lang="en-US" dirty="0"/>
              <a:t>What if the message changes depending on the audience?</a:t>
            </a:r>
          </a:p>
          <a:p>
            <a:pPr lvl="1"/>
            <a:r>
              <a:rPr lang="en-US" dirty="0"/>
              <a:t>(LLM-based) Microtargeting </a:t>
            </a:r>
            <a:r>
              <a:rPr lang="en-US" baseline="30000" dirty="0"/>
              <a:t>[16]</a:t>
            </a:r>
          </a:p>
          <a:p>
            <a:r>
              <a:rPr lang="en-US" dirty="0"/>
              <a:t>Interventions can also be personalized </a:t>
            </a:r>
            <a:r>
              <a:rPr lang="en-US" baseline="30000" dirty="0"/>
              <a:t>[17]</a:t>
            </a:r>
            <a:endParaRPr lang="it-IT" baseline="30000" dirty="0"/>
          </a:p>
        </p:txBody>
      </p:sp>
    </p:spTree>
    <p:extLst>
      <p:ext uri="{BB962C8B-B14F-4D97-AF65-F5344CB8AC3E}">
        <p14:creationId xmlns:p14="http://schemas.microsoft.com/office/powerpoint/2010/main" val="211279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896E4-E563-4BA8-6B5E-F86ADEF34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6C8E6D-3443-C8F1-6CD0-2A30A730E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The limits of debunking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FB0EFA-9BBC-8A10-FDA9-503850D09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1737"/>
          </a:xfrm>
        </p:spPr>
        <p:txBody>
          <a:bodyPr>
            <a:normAutofit/>
          </a:bodyPr>
          <a:lstStyle/>
          <a:p>
            <a:r>
              <a:rPr lang="pt-BR" dirty="0"/>
              <a:t>Prebunking vs debunking </a:t>
            </a:r>
            <a:r>
              <a:rPr lang="pt-BR" baseline="30000" dirty="0"/>
              <a:t>[15]</a:t>
            </a:r>
          </a:p>
          <a:p>
            <a:r>
              <a:rPr lang="pt-BR" dirty="0"/>
              <a:t>Examples:</a:t>
            </a:r>
          </a:p>
          <a:p>
            <a:pPr lvl="1"/>
            <a:r>
              <a:rPr lang="pt-BR" dirty="0"/>
              <a:t>Inoculation, accuracy nudges, media literacy</a:t>
            </a:r>
          </a:p>
          <a:p>
            <a:pPr lvl="1"/>
            <a:r>
              <a:rPr lang="pt-BR" dirty="0"/>
              <a:t>Fact-checking corrections, platform labels</a:t>
            </a:r>
          </a:p>
          <a:p>
            <a:r>
              <a:rPr lang="pt-BR" dirty="0"/>
              <a:t>Classifiers are closer to debunking than prebunking</a:t>
            </a:r>
          </a:p>
          <a:p>
            <a:r>
              <a:rPr lang="pt-BR" dirty="0"/>
              <a:t>Debunking works too but:</a:t>
            </a:r>
          </a:p>
          <a:p>
            <a:pPr lvl="1"/>
            <a:r>
              <a:rPr lang="pt-BR" dirty="0"/>
              <a:t>Causal alternative &gt; retraction</a:t>
            </a:r>
          </a:p>
          <a:p>
            <a:pPr lvl="1"/>
            <a:r>
              <a:rPr lang="pt-BR" dirty="0"/>
              <a:t>Correction from high-credibility sources</a:t>
            </a:r>
          </a:p>
          <a:p>
            <a:pPr lvl="1"/>
            <a:r>
              <a:rPr lang="pt-BR" dirty="0"/>
              <a:t>Language is important</a:t>
            </a:r>
          </a:p>
          <a:p>
            <a:pPr lvl="1"/>
            <a:r>
              <a:rPr lang="pt-BR" dirty="0"/>
              <a:t>Effects do not last/generalize to group-level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pt-BR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00515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5A5C1-C125-3775-D3B3-A1F188AE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400F0E-D062-55F7-43E6-B070C576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What is this course about?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D9C42C-C750-8128-C8E1-C9CE1EEED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800" cy="4351338"/>
          </a:xfrm>
        </p:spPr>
        <p:txBody>
          <a:bodyPr>
            <a:normAutofit/>
          </a:bodyPr>
          <a:lstStyle/>
          <a:p>
            <a:r>
              <a:rPr lang="pt-BR" dirty="0"/>
              <a:t>Natural language processing...with a twist.</a:t>
            </a:r>
          </a:p>
          <a:p>
            <a:r>
              <a:rPr lang="pt-BR" dirty="0"/>
              <a:t>Why it matters?</a:t>
            </a:r>
          </a:p>
          <a:p>
            <a:r>
              <a:rPr lang="en-US" dirty="0"/>
              <a:t>We use NLP to measure “minds” through language</a:t>
            </a:r>
            <a:endParaRPr lang="pt-BR" dirty="0"/>
          </a:p>
        </p:txBody>
      </p:sp>
      <p:graphicFrame>
        <p:nvGraphicFramePr>
          <p:cNvPr id="4" name="Diagramma 3">
            <a:extLst>
              <a:ext uri="{FF2B5EF4-FFF2-40B4-BE49-F238E27FC236}">
                <a16:creationId xmlns:a16="http://schemas.microsoft.com/office/drawing/2014/main" id="{905793B0-4C20-2B2D-7669-E55E29381B47}"/>
              </a:ext>
            </a:extLst>
          </p:cNvPr>
          <p:cNvGraphicFramePr/>
          <p:nvPr/>
        </p:nvGraphicFramePr>
        <p:xfrm>
          <a:off x="5084957" y="1690688"/>
          <a:ext cx="7107044" cy="4587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AA7EFDD6-8137-5390-ACE6-089D05E28846}"/>
              </a:ext>
            </a:extLst>
          </p:cNvPr>
          <p:cNvSpPr txBox="1"/>
          <p:nvPr/>
        </p:nvSpPr>
        <p:spPr>
          <a:xfrm>
            <a:off x="7704166" y="3713357"/>
            <a:ext cx="100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CSS</a:t>
            </a:r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37E4B01-2A5D-A90A-35F6-092A606A845C}"/>
              </a:ext>
            </a:extLst>
          </p:cNvPr>
          <p:cNvSpPr txBox="1"/>
          <p:nvPr/>
        </p:nvSpPr>
        <p:spPr>
          <a:xfrm>
            <a:off x="8943146" y="3713357"/>
            <a:ext cx="100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NLP</a:t>
            </a:r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25C03C8-BD27-4692-6EDC-9F663233B620}"/>
              </a:ext>
            </a:extLst>
          </p:cNvPr>
          <p:cNvSpPr txBox="1"/>
          <p:nvPr/>
        </p:nvSpPr>
        <p:spPr>
          <a:xfrm>
            <a:off x="8440677" y="4626415"/>
            <a:ext cx="100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PL</a:t>
            </a:r>
            <a:endParaRPr lang="it-IT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B519AC05-DB8F-63B4-CE4E-5653CE6D3C1F}"/>
              </a:ext>
            </a:extLst>
          </p:cNvPr>
          <p:cNvCxnSpPr>
            <a:cxnSpLocks/>
          </p:cNvCxnSpPr>
          <p:nvPr/>
        </p:nvCxnSpPr>
        <p:spPr>
          <a:xfrm flipH="1">
            <a:off x="8638479" y="3546088"/>
            <a:ext cx="2412380" cy="710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DCEB2EE-ECD2-8163-EBD3-C9355D0D2708}"/>
              </a:ext>
            </a:extLst>
          </p:cNvPr>
          <p:cNvSpPr txBox="1"/>
          <p:nvPr/>
        </p:nvSpPr>
        <p:spPr>
          <a:xfrm>
            <a:off x="10446039" y="3127246"/>
            <a:ext cx="1588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We are here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8609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A4E59429-A783-EF50-7E12-C843BA3DE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563" y="0"/>
            <a:ext cx="5659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C2E1FA9-C6CC-E1C3-1F11-002DB9A59B90}"/>
              </a:ext>
            </a:extLst>
          </p:cNvPr>
          <p:cNvSpPr txBox="1"/>
          <p:nvPr/>
        </p:nvSpPr>
        <p:spPr>
          <a:xfrm>
            <a:off x="838200" y="1689020"/>
            <a:ext cx="32364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Aroyehun</a:t>
            </a:r>
            <a:r>
              <a:rPr lang="it-IT" dirty="0"/>
              <a:t>, S.T., Simchon, A., Carrella, F. </a:t>
            </a:r>
            <a:r>
              <a:rPr lang="it-IT" i="1" dirty="0"/>
              <a:t>et al.</a:t>
            </a:r>
            <a:r>
              <a:rPr lang="it-IT" dirty="0"/>
              <a:t> </a:t>
            </a:r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analysis</a:t>
            </a:r>
            <a:r>
              <a:rPr lang="it-IT" dirty="0"/>
              <a:t> of US </a:t>
            </a:r>
            <a:r>
              <a:rPr lang="it-IT" dirty="0" err="1"/>
              <a:t>congressional</a:t>
            </a:r>
            <a:r>
              <a:rPr lang="it-IT" dirty="0"/>
              <a:t> speeches </a:t>
            </a:r>
            <a:r>
              <a:rPr lang="it-IT" dirty="0" err="1"/>
              <a:t>reveals</a:t>
            </a:r>
            <a:r>
              <a:rPr lang="it-IT" dirty="0"/>
              <a:t> a shift from </a:t>
            </a:r>
            <a:r>
              <a:rPr lang="it-IT" dirty="0" err="1"/>
              <a:t>evidence</a:t>
            </a:r>
            <a:r>
              <a:rPr lang="it-IT" dirty="0"/>
              <a:t> to </a:t>
            </a:r>
            <a:r>
              <a:rPr lang="it-IT" dirty="0" err="1"/>
              <a:t>intuition</a:t>
            </a:r>
            <a:r>
              <a:rPr lang="it-IT" dirty="0"/>
              <a:t>. </a:t>
            </a:r>
            <a:r>
              <a:rPr lang="it-IT" i="1" dirty="0" err="1"/>
              <a:t>Nat</a:t>
            </a:r>
            <a:r>
              <a:rPr lang="it-IT" i="1" dirty="0"/>
              <a:t> </a:t>
            </a:r>
            <a:r>
              <a:rPr lang="it-IT" i="1" dirty="0" err="1"/>
              <a:t>Hum</a:t>
            </a:r>
            <a:r>
              <a:rPr lang="it-IT" i="1" dirty="0"/>
              <a:t> </a:t>
            </a:r>
            <a:r>
              <a:rPr lang="it-IT" i="1" dirty="0" err="1"/>
              <a:t>Behav</a:t>
            </a:r>
            <a:r>
              <a:rPr lang="it-IT" dirty="0"/>
              <a:t> </a:t>
            </a:r>
            <a:r>
              <a:rPr lang="it-IT" b="1" dirty="0"/>
              <a:t>9</a:t>
            </a:r>
            <a:r>
              <a:rPr lang="it-IT" dirty="0"/>
              <a:t>, 1122–1133 (2025). https://doi.org/10.1038/s41562-025-02136-2</a:t>
            </a:r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6AF8C178-BABA-8AC2-FD17-AF24D5B7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Why it matters?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75712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5DBD6-9EC1-35C5-EEDB-E930FF4E8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147FBBD3-5F79-6EBA-35B1-7D7B7C01D223}"/>
              </a:ext>
            </a:extLst>
          </p:cNvPr>
          <p:cNvSpPr txBox="1"/>
          <p:nvPr/>
        </p:nvSpPr>
        <p:spPr>
          <a:xfrm>
            <a:off x="272716" y="1517051"/>
            <a:ext cx="183281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Lasser, J., </a:t>
            </a:r>
            <a:r>
              <a:rPr lang="en-US" dirty="0" err="1"/>
              <a:t>Aroyehun</a:t>
            </a:r>
            <a:r>
              <a:rPr lang="en-US" dirty="0"/>
              <a:t>, S.T., Carrella, F. </a:t>
            </a:r>
            <a:r>
              <a:rPr lang="en-US" i="1" dirty="0"/>
              <a:t>et al.</a:t>
            </a:r>
            <a:r>
              <a:rPr lang="en-US" dirty="0"/>
              <a:t> From alternative conceptions of honesty to alternative facts in communications by US politicians. </a:t>
            </a:r>
            <a:r>
              <a:rPr lang="en-US" i="1" dirty="0"/>
              <a:t>Nat Hum </a:t>
            </a:r>
            <a:r>
              <a:rPr lang="en-US" i="1" dirty="0" err="1"/>
              <a:t>Behav</a:t>
            </a:r>
            <a:r>
              <a:rPr lang="en-US" dirty="0"/>
              <a:t> </a:t>
            </a:r>
            <a:r>
              <a:rPr lang="en-US" b="1" dirty="0"/>
              <a:t>7</a:t>
            </a:r>
            <a:r>
              <a:rPr lang="en-US" dirty="0"/>
              <a:t>, 2140–2151 (2023). https://doi.org/10.1038/s41562-023-01691-w</a:t>
            </a:r>
            <a:endParaRPr lang="it-IT" dirty="0"/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BC3555AD-C467-2474-DDE4-8FE1F5A27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Why it matters?</a:t>
            </a:r>
            <a:endParaRPr lang="it-IT" dirty="0"/>
          </a:p>
        </p:txBody>
      </p:sp>
      <p:pic>
        <p:nvPicPr>
          <p:cNvPr id="2050" name="Picture 2" descr="figure 3">
            <a:extLst>
              <a:ext uri="{FF2B5EF4-FFF2-40B4-BE49-F238E27FC236}">
                <a16:creationId xmlns:a16="http://schemas.microsoft.com/office/drawing/2014/main" id="{AFACD4A8-2AB4-B055-3FF1-34656B0CC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243" y="1251284"/>
            <a:ext cx="9414638" cy="560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437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D57BD1-BF83-C8AE-D47F-C5045EE38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Toplak, M.E., West, R.F., &amp; Stanovich, K.E. (2011). The Cognitive Reflection Test as a predictor of performance on heuristics-and-biases tasks. </a:t>
            </a:r>
            <a:r>
              <a:rPr lang="en-US" i="1" dirty="0"/>
              <a:t>Memory &amp; Cognition, 39</a:t>
            </a:r>
            <a:r>
              <a:rPr lang="en-US" dirty="0"/>
              <a:t>, 1275-1289.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Evans, J. (2008). Dual-processing accounts of reasoning, judgment, and social cognition. </a:t>
            </a:r>
            <a:r>
              <a:rPr lang="en-US" i="1" dirty="0"/>
              <a:t>Annual review of psychology, 59</a:t>
            </a:r>
            <a:r>
              <a:rPr lang="en-US" dirty="0"/>
              <a:t>, 255-78 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Pennycook, G. (2017). A perspective on the theoretical foundation of dual process models. In </a:t>
            </a:r>
            <a:r>
              <a:rPr lang="en-US" i="1" dirty="0"/>
              <a:t>Dual process theory 2.0</a:t>
            </a:r>
            <a:r>
              <a:rPr lang="en-US" dirty="0"/>
              <a:t> (pp. 5-27). Routledge.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Metzger, M. J., &amp; Flanagin, A. J. (2013). Credibility and trust of information in online environments: The use of cognitive heuristics. </a:t>
            </a:r>
            <a:r>
              <a:rPr lang="en-US" i="1" dirty="0"/>
              <a:t>Journal of pragmatics</a:t>
            </a:r>
            <a:r>
              <a:rPr lang="en-US" dirty="0"/>
              <a:t>, </a:t>
            </a:r>
            <a:r>
              <a:rPr lang="en-US" i="1" dirty="0"/>
              <a:t>59</a:t>
            </a:r>
            <a:r>
              <a:rPr lang="en-US" dirty="0"/>
              <a:t>, 210-220.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Klayman, J. (1995). Varieties of confirmation bias. </a:t>
            </a:r>
            <a:r>
              <a:rPr lang="en-US" i="1" dirty="0"/>
              <a:t>Psychology of learning and motivation</a:t>
            </a:r>
            <a:r>
              <a:rPr lang="en-US" dirty="0"/>
              <a:t>, </a:t>
            </a:r>
            <a:r>
              <a:rPr lang="en-US" i="1" dirty="0"/>
              <a:t>32</a:t>
            </a:r>
            <a:r>
              <a:rPr lang="en-US" dirty="0"/>
              <a:t>, 385-418.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Freedman, J. L., &amp; Sears, D. O. (1965). Selective exposure. In </a:t>
            </a:r>
            <a:r>
              <a:rPr lang="en-US" i="1" dirty="0"/>
              <a:t>Advances in experimental social psychology</a:t>
            </a:r>
            <a:r>
              <a:rPr lang="en-US" dirty="0"/>
              <a:t> (Vol. 2, pp. 57-97). Academic Press.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Ross, L., &amp; Ward, A. (2013). Naive realism in everyday life: Implications for social conflict and misunderstanding. In </a:t>
            </a:r>
            <a:r>
              <a:rPr lang="en-US" i="1" dirty="0"/>
              <a:t>Values and knowledge</a:t>
            </a:r>
            <a:r>
              <a:rPr lang="en-US" dirty="0"/>
              <a:t> (pp. 103-135). Psychology Press.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Prentice, D. A., &amp; Miller, D. T. (1996). Pluralistic ignorance and the perpetuation of social norms by unwitting actors. In </a:t>
            </a:r>
            <a:r>
              <a:rPr lang="en-US" i="1" dirty="0"/>
              <a:t>Advances in experimental social psychology</a:t>
            </a:r>
            <a:r>
              <a:rPr lang="en-US" dirty="0"/>
              <a:t> (Vol. 28, pp. 161-209). Academic Press.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Kahan, D. M. (2017). Misconceptions, misinformation, and the logic of identity-protective cognition.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Fazio, L. K., Brashier, N. M., Payne, B. K., &amp; Marsh, E. J. (2015). Knowledge does not protect against illusory truth. </a:t>
            </a:r>
            <a:r>
              <a:rPr lang="en-US" i="1" dirty="0"/>
              <a:t>Journal of experimental psychology: general</a:t>
            </a:r>
            <a:r>
              <a:rPr lang="en-US" dirty="0"/>
              <a:t>, </a:t>
            </a:r>
            <a:r>
              <a:rPr lang="en-US" i="1" dirty="0"/>
              <a:t>144</a:t>
            </a:r>
            <a:r>
              <a:rPr lang="en-US" dirty="0"/>
              <a:t>(5), 993.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Schmitt‐Beck, R. (2015). Bandwagon effect. </a:t>
            </a:r>
            <a:r>
              <a:rPr lang="en-US" i="1" dirty="0"/>
              <a:t>The international encyclopedia of political communication</a:t>
            </a:r>
            <a:r>
              <a:rPr lang="en-US" dirty="0"/>
              <a:t>, 1-5.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McPherson, M., Smith-Lovin, L., &amp; Cook, J. M. (2001). Birds of a feather: Homophily in social networks. </a:t>
            </a:r>
            <a:r>
              <a:rPr lang="en-US" i="1" dirty="0"/>
              <a:t>Annual review of sociology</a:t>
            </a:r>
            <a:r>
              <a:rPr lang="en-US" dirty="0"/>
              <a:t>, </a:t>
            </a:r>
            <a:r>
              <a:rPr lang="en-US" i="1" dirty="0"/>
              <a:t>27</a:t>
            </a:r>
            <a:r>
              <a:rPr lang="en-US" dirty="0"/>
              <a:t>(1), 415-444.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Capuano, N., </a:t>
            </a:r>
            <a:r>
              <a:rPr lang="en-US" dirty="0" err="1"/>
              <a:t>Fenza</a:t>
            </a:r>
            <a:r>
              <a:rPr lang="en-US" dirty="0"/>
              <a:t>, G., Loia, V., &amp; Nota, F. D. (2023). Content-based fake news detection with machine and deep learning: a systematic review. </a:t>
            </a:r>
            <a:r>
              <a:rPr lang="en-US" i="1" dirty="0"/>
              <a:t>Neurocomputing</a:t>
            </a:r>
            <a:r>
              <a:rPr lang="en-US" dirty="0"/>
              <a:t>, </a:t>
            </a:r>
            <a:r>
              <a:rPr lang="en-US" i="1" dirty="0"/>
              <a:t>530</a:t>
            </a:r>
            <a:r>
              <a:rPr lang="en-US" dirty="0"/>
              <a:t>, 91-103.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Bashaddadh</a:t>
            </a:r>
            <a:r>
              <a:rPr lang="en-US" dirty="0"/>
              <a:t>, O., Omar, N., Mohd, M., &amp; Khalid, M. N. A. (2025). Machine learning and deep learning approaches for fake news detection: A systematic review of techniques, challenges, and advancements. </a:t>
            </a:r>
            <a:r>
              <a:rPr lang="en-US" i="1" dirty="0"/>
              <a:t>IEEE Access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Ecker, U.K., Lewandowsky, S., Cook, J., Schmid, P., Fazio, L.K., </a:t>
            </a:r>
            <a:r>
              <a:rPr lang="it-IT" dirty="0" err="1"/>
              <a:t>Brashier</a:t>
            </a:r>
            <a:r>
              <a:rPr lang="it-IT" dirty="0"/>
              <a:t>, N.M., </a:t>
            </a:r>
            <a:r>
              <a:rPr lang="it-IT" dirty="0" err="1"/>
              <a:t>Kendeou</a:t>
            </a:r>
            <a:r>
              <a:rPr lang="it-IT" dirty="0"/>
              <a:t>, P., </a:t>
            </a:r>
            <a:r>
              <a:rPr lang="it-IT" dirty="0" err="1"/>
              <a:t>Vraga</a:t>
            </a:r>
            <a:r>
              <a:rPr lang="it-IT" dirty="0"/>
              <a:t>, E.K., &amp; </a:t>
            </a:r>
            <a:r>
              <a:rPr lang="it-IT" dirty="0" err="1"/>
              <a:t>Amazeen</a:t>
            </a:r>
            <a:r>
              <a:rPr lang="it-IT" dirty="0"/>
              <a:t>, M.A. (2022). The </a:t>
            </a:r>
            <a:r>
              <a:rPr lang="it-IT" dirty="0" err="1"/>
              <a:t>psychological</a:t>
            </a:r>
            <a:r>
              <a:rPr lang="it-IT" dirty="0"/>
              <a:t> drivers of </a:t>
            </a:r>
            <a:r>
              <a:rPr lang="it-IT" dirty="0" err="1"/>
              <a:t>misinformation</a:t>
            </a:r>
            <a:r>
              <a:rPr lang="it-IT" dirty="0"/>
              <a:t> </a:t>
            </a:r>
            <a:r>
              <a:rPr lang="it-IT" dirty="0" err="1"/>
              <a:t>belief</a:t>
            </a:r>
            <a:r>
              <a:rPr lang="it-IT" dirty="0"/>
              <a:t> and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resistance</a:t>
            </a:r>
            <a:r>
              <a:rPr lang="it-IT" dirty="0"/>
              <a:t> to </a:t>
            </a:r>
            <a:r>
              <a:rPr lang="it-IT" dirty="0" err="1"/>
              <a:t>correction</a:t>
            </a:r>
            <a:r>
              <a:rPr lang="it-IT" dirty="0"/>
              <a:t>. </a:t>
            </a:r>
            <a:r>
              <a:rPr lang="it-IT" i="1" dirty="0"/>
              <a:t>Nature Reviews </a:t>
            </a:r>
            <a:r>
              <a:rPr lang="it-IT" i="1" dirty="0" err="1"/>
              <a:t>Psychology</a:t>
            </a:r>
            <a:r>
              <a:rPr lang="it-IT" i="1" dirty="0"/>
              <a:t>, 1</a:t>
            </a:r>
            <a:r>
              <a:rPr lang="it-IT" dirty="0"/>
              <a:t>, 13 - 29.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Simchon, A., Edwards, M., &amp; Lewandowsky, S. (2024). The persuasive effects of political microtargeting in the age of generative artificial intelligence. </a:t>
            </a:r>
            <a:r>
              <a:rPr lang="en-US" i="1" dirty="0"/>
              <a:t>PNAS nexus</a:t>
            </a:r>
            <a:r>
              <a:rPr lang="en-US" dirty="0"/>
              <a:t>, </a:t>
            </a:r>
            <a:r>
              <a:rPr lang="en-US" i="1" dirty="0"/>
              <a:t>3</a:t>
            </a:r>
            <a:r>
              <a:rPr lang="en-US" dirty="0"/>
              <a:t>(2), pgae035.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Costello, T. H., Pennycook, G., &amp; Rand, D. G. (2024). Durably reducing conspiracy beliefs through dialogues with AI. </a:t>
            </a:r>
            <a:r>
              <a:rPr lang="en-US" i="1" dirty="0"/>
              <a:t>Science</a:t>
            </a:r>
            <a:r>
              <a:rPr lang="en-US" dirty="0"/>
              <a:t>, </a:t>
            </a:r>
            <a:r>
              <a:rPr lang="en-US" i="1" dirty="0"/>
              <a:t>385</a:t>
            </a:r>
            <a:r>
              <a:rPr lang="en-US" dirty="0"/>
              <a:t>(6714), eadq1814.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382984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3367</TotalTime>
  <Words>1519</Words>
  <Application>Microsoft Office PowerPoint</Application>
  <PresentationFormat>Widescreen</PresentationFormat>
  <Paragraphs>184</Paragraphs>
  <Slides>22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Tema di Office</vt:lpstr>
      <vt:lpstr>MO850 – Tópicos Avançados em Ciência da Computação I</vt:lpstr>
      <vt:lpstr>What is this course about?</vt:lpstr>
      <vt:lpstr>Why this course matter?</vt:lpstr>
      <vt:lpstr>Course structure</vt:lpstr>
      <vt:lpstr>Course structure</vt:lpstr>
      <vt:lpstr>What is misinformation?</vt:lpstr>
      <vt:lpstr>What is misinformation?</vt:lpstr>
      <vt:lpstr>What is misinformation?</vt:lpstr>
      <vt:lpstr>What is misinformation?</vt:lpstr>
      <vt:lpstr>Why do we fall for misinformation?</vt:lpstr>
      <vt:lpstr>From cognitive biases to linguistic signals</vt:lpstr>
      <vt:lpstr>From cognitive biases to linguistic signals</vt:lpstr>
      <vt:lpstr>From cognitive biases to linguistic signals</vt:lpstr>
      <vt:lpstr>From cognitive biases to linguistic signals</vt:lpstr>
      <vt:lpstr>From bias to classifiers</vt:lpstr>
      <vt:lpstr>The limits of detection</vt:lpstr>
      <vt:lpstr>Static vs. adaptive manipulation</vt:lpstr>
      <vt:lpstr>The limits of debunking</vt:lpstr>
      <vt:lpstr>What is this course about?</vt:lpstr>
      <vt:lpstr>Why it matters?</vt:lpstr>
      <vt:lpstr>Why it matters?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Carrella</dc:creator>
  <cp:lastModifiedBy>Fabio Carrella</cp:lastModifiedBy>
  <cp:revision>44</cp:revision>
  <dcterms:created xsi:type="dcterms:W3CDTF">2026-02-16T17:47:36Z</dcterms:created>
  <dcterms:modified xsi:type="dcterms:W3CDTF">2026-02-27T14:10:12Z</dcterms:modified>
</cp:coreProperties>
</file>