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57" r:id="rId3"/>
    <p:sldId id="277" r:id="rId4"/>
    <p:sldId id="258"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4" r:id="rId19"/>
    <p:sldId id="273" r:id="rId20"/>
    <p:sldId id="276" r:id="rId21"/>
    <p:sldId id="275" r:id="rId22"/>
    <p:sldId id="278" r:id="rId23"/>
    <p:sldId id="279" r:id="rId24"/>
    <p:sldId id="265"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774" autoAdjust="0"/>
  </p:normalViewPr>
  <p:slideViewPr>
    <p:cSldViewPr snapToGrid="0">
      <p:cViewPr varScale="1">
        <p:scale>
          <a:sx n="64" d="100"/>
          <a:sy n="64" d="100"/>
        </p:scale>
        <p:origin x="1397"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3D12A14-659F-4983-8E51-10975FDFBF4A}"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it-IT"/>
        </a:p>
      </dgm:t>
    </dgm:pt>
    <dgm:pt modelId="{55A27808-FCC3-448B-8324-6862C2CF68A0}">
      <dgm:prSet phldrT="[Testo]" phldr="0"/>
      <dgm:spPr/>
      <dgm:t>
        <a:bodyPr/>
        <a:lstStyle/>
        <a:p>
          <a:r>
            <a:rPr lang="pt-BR" dirty="0"/>
            <a:t>Computer Science</a:t>
          </a:r>
          <a:endParaRPr lang="it-IT" dirty="0"/>
        </a:p>
      </dgm:t>
    </dgm:pt>
    <dgm:pt modelId="{C551323B-D5CA-4BA2-B411-E9E96A3AEB60}" type="parTrans" cxnId="{AAD5ED50-6A7B-47E7-8FA8-C92DA45EDE92}">
      <dgm:prSet/>
      <dgm:spPr/>
      <dgm:t>
        <a:bodyPr/>
        <a:lstStyle/>
        <a:p>
          <a:endParaRPr lang="it-IT"/>
        </a:p>
      </dgm:t>
    </dgm:pt>
    <dgm:pt modelId="{54AF21F6-3073-4042-8737-16A1EA3CED06}" type="sibTrans" cxnId="{AAD5ED50-6A7B-47E7-8FA8-C92DA45EDE92}">
      <dgm:prSet/>
      <dgm:spPr/>
      <dgm:t>
        <a:bodyPr/>
        <a:lstStyle/>
        <a:p>
          <a:endParaRPr lang="it-IT"/>
        </a:p>
      </dgm:t>
    </dgm:pt>
    <dgm:pt modelId="{4CCB738B-8933-4F69-8AC7-85A4F4AF53EF}">
      <dgm:prSet phldrT="[Testo]" phldr="0"/>
      <dgm:spPr/>
      <dgm:t>
        <a:bodyPr/>
        <a:lstStyle/>
        <a:p>
          <a:r>
            <a:rPr lang="pt-BR" dirty="0"/>
            <a:t>Linguistics</a:t>
          </a:r>
          <a:endParaRPr lang="it-IT" dirty="0"/>
        </a:p>
      </dgm:t>
    </dgm:pt>
    <dgm:pt modelId="{45B0FAD6-D0D4-4699-AEA7-C30521EA10B6}" type="parTrans" cxnId="{AA97AFDA-A0F3-4BEF-96B6-349BC43BCC91}">
      <dgm:prSet/>
      <dgm:spPr/>
      <dgm:t>
        <a:bodyPr/>
        <a:lstStyle/>
        <a:p>
          <a:endParaRPr lang="it-IT"/>
        </a:p>
      </dgm:t>
    </dgm:pt>
    <dgm:pt modelId="{DAD304EE-E3DA-452E-AFBC-296D555A25CF}" type="sibTrans" cxnId="{AA97AFDA-A0F3-4BEF-96B6-349BC43BCC91}">
      <dgm:prSet/>
      <dgm:spPr/>
      <dgm:t>
        <a:bodyPr/>
        <a:lstStyle/>
        <a:p>
          <a:endParaRPr lang="it-IT"/>
        </a:p>
      </dgm:t>
    </dgm:pt>
    <dgm:pt modelId="{745E4006-4E65-49B8-AD06-1EDFA26A1197}">
      <dgm:prSet phldrT="[Testo]" phldr="0"/>
      <dgm:spPr/>
      <dgm:t>
        <a:bodyPr/>
        <a:lstStyle/>
        <a:p>
          <a:r>
            <a:rPr lang="pt-BR" dirty="0"/>
            <a:t>Psychology</a:t>
          </a:r>
          <a:endParaRPr lang="it-IT" dirty="0"/>
        </a:p>
      </dgm:t>
    </dgm:pt>
    <dgm:pt modelId="{CEF03F7C-B07E-43FC-822C-4F4A28ABDC0C}" type="parTrans" cxnId="{27F634A8-7602-4A13-A5FB-130E5D15203A}">
      <dgm:prSet/>
      <dgm:spPr/>
      <dgm:t>
        <a:bodyPr/>
        <a:lstStyle/>
        <a:p>
          <a:endParaRPr lang="it-IT"/>
        </a:p>
      </dgm:t>
    </dgm:pt>
    <dgm:pt modelId="{904BB42D-952A-4511-9C83-DB6EFF40C6BA}" type="sibTrans" cxnId="{27F634A8-7602-4A13-A5FB-130E5D15203A}">
      <dgm:prSet/>
      <dgm:spPr/>
      <dgm:t>
        <a:bodyPr/>
        <a:lstStyle/>
        <a:p>
          <a:endParaRPr lang="it-IT"/>
        </a:p>
      </dgm:t>
    </dgm:pt>
    <dgm:pt modelId="{40EDA4E5-7D66-4173-9BDA-21421D04DF27}" type="pres">
      <dgm:prSet presAssocID="{83D12A14-659F-4983-8E51-10975FDFBF4A}" presName="compositeShape" presStyleCnt="0">
        <dgm:presLayoutVars>
          <dgm:chMax val="7"/>
          <dgm:dir/>
          <dgm:resizeHandles val="exact"/>
        </dgm:presLayoutVars>
      </dgm:prSet>
      <dgm:spPr/>
    </dgm:pt>
    <dgm:pt modelId="{7DDAA9EF-D1B3-4AED-9B75-6AA0B5026CC5}" type="pres">
      <dgm:prSet presAssocID="{55A27808-FCC3-448B-8324-6862C2CF68A0}" presName="circ1" presStyleLbl="vennNode1" presStyleIdx="0" presStyleCnt="3"/>
      <dgm:spPr/>
    </dgm:pt>
    <dgm:pt modelId="{6DB5B949-8582-47DD-83A4-302679101256}" type="pres">
      <dgm:prSet presAssocID="{55A27808-FCC3-448B-8324-6862C2CF68A0}" presName="circ1Tx" presStyleLbl="revTx" presStyleIdx="0" presStyleCnt="0">
        <dgm:presLayoutVars>
          <dgm:chMax val="0"/>
          <dgm:chPref val="0"/>
          <dgm:bulletEnabled val="1"/>
        </dgm:presLayoutVars>
      </dgm:prSet>
      <dgm:spPr/>
    </dgm:pt>
    <dgm:pt modelId="{67B6294A-B24B-420E-BE8B-44C05677FCFA}" type="pres">
      <dgm:prSet presAssocID="{4CCB738B-8933-4F69-8AC7-85A4F4AF53EF}" presName="circ2" presStyleLbl="vennNode1" presStyleIdx="1" presStyleCnt="3"/>
      <dgm:spPr/>
    </dgm:pt>
    <dgm:pt modelId="{404CB104-8C69-4F50-98EE-D050177841AE}" type="pres">
      <dgm:prSet presAssocID="{4CCB738B-8933-4F69-8AC7-85A4F4AF53EF}" presName="circ2Tx" presStyleLbl="revTx" presStyleIdx="0" presStyleCnt="0">
        <dgm:presLayoutVars>
          <dgm:chMax val="0"/>
          <dgm:chPref val="0"/>
          <dgm:bulletEnabled val="1"/>
        </dgm:presLayoutVars>
      </dgm:prSet>
      <dgm:spPr/>
    </dgm:pt>
    <dgm:pt modelId="{430BF997-3136-4671-BCD6-BE4D60CA63E5}" type="pres">
      <dgm:prSet presAssocID="{745E4006-4E65-49B8-AD06-1EDFA26A1197}" presName="circ3" presStyleLbl="vennNode1" presStyleIdx="2" presStyleCnt="3"/>
      <dgm:spPr/>
    </dgm:pt>
    <dgm:pt modelId="{4ECB6DBB-05DC-4A58-955D-9CB3A45D477D}" type="pres">
      <dgm:prSet presAssocID="{745E4006-4E65-49B8-AD06-1EDFA26A1197}" presName="circ3Tx" presStyleLbl="revTx" presStyleIdx="0" presStyleCnt="0">
        <dgm:presLayoutVars>
          <dgm:chMax val="0"/>
          <dgm:chPref val="0"/>
          <dgm:bulletEnabled val="1"/>
        </dgm:presLayoutVars>
      </dgm:prSet>
      <dgm:spPr/>
    </dgm:pt>
  </dgm:ptLst>
  <dgm:cxnLst>
    <dgm:cxn modelId="{6BD4A00A-41DE-4F93-ABE8-026AF7C07FAE}" type="presOf" srcId="{745E4006-4E65-49B8-AD06-1EDFA26A1197}" destId="{4ECB6DBB-05DC-4A58-955D-9CB3A45D477D}" srcOrd="1" destOrd="0" presId="urn:microsoft.com/office/officeart/2005/8/layout/venn1"/>
    <dgm:cxn modelId="{39289569-B187-4785-ACEB-90FB95335BB6}" type="presOf" srcId="{55A27808-FCC3-448B-8324-6862C2CF68A0}" destId="{6DB5B949-8582-47DD-83A4-302679101256}" srcOrd="1" destOrd="0" presId="urn:microsoft.com/office/officeart/2005/8/layout/venn1"/>
    <dgm:cxn modelId="{AAD5ED50-6A7B-47E7-8FA8-C92DA45EDE92}" srcId="{83D12A14-659F-4983-8E51-10975FDFBF4A}" destId="{55A27808-FCC3-448B-8324-6862C2CF68A0}" srcOrd="0" destOrd="0" parTransId="{C551323B-D5CA-4BA2-B411-E9E96A3AEB60}" sibTransId="{54AF21F6-3073-4042-8737-16A1EA3CED06}"/>
    <dgm:cxn modelId="{602E9854-15C5-49DC-996A-B12EAE605118}" type="presOf" srcId="{745E4006-4E65-49B8-AD06-1EDFA26A1197}" destId="{430BF997-3136-4671-BCD6-BE4D60CA63E5}" srcOrd="0" destOrd="0" presId="urn:microsoft.com/office/officeart/2005/8/layout/venn1"/>
    <dgm:cxn modelId="{27F634A8-7602-4A13-A5FB-130E5D15203A}" srcId="{83D12A14-659F-4983-8E51-10975FDFBF4A}" destId="{745E4006-4E65-49B8-AD06-1EDFA26A1197}" srcOrd="2" destOrd="0" parTransId="{CEF03F7C-B07E-43FC-822C-4F4A28ABDC0C}" sibTransId="{904BB42D-952A-4511-9C83-DB6EFF40C6BA}"/>
    <dgm:cxn modelId="{FCCF6CC1-E448-45B1-8EC1-AE334FABF046}" type="presOf" srcId="{55A27808-FCC3-448B-8324-6862C2CF68A0}" destId="{7DDAA9EF-D1B3-4AED-9B75-6AA0B5026CC5}" srcOrd="0" destOrd="0" presId="urn:microsoft.com/office/officeart/2005/8/layout/venn1"/>
    <dgm:cxn modelId="{AA97AFDA-A0F3-4BEF-96B6-349BC43BCC91}" srcId="{83D12A14-659F-4983-8E51-10975FDFBF4A}" destId="{4CCB738B-8933-4F69-8AC7-85A4F4AF53EF}" srcOrd="1" destOrd="0" parTransId="{45B0FAD6-D0D4-4699-AEA7-C30521EA10B6}" sibTransId="{DAD304EE-E3DA-452E-AFBC-296D555A25CF}"/>
    <dgm:cxn modelId="{613AF2DF-A022-437C-A40A-F861D51A3E27}" type="presOf" srcId="{4CCB738B-8933-4F69-8AC7-85A4F4AF53EF}" destId="{67B6294A-B24B-420E-BE8B-44C05677FCFA}" srcOrd="0" destOrd="0" presId="urn:microsoft.com/office/officeart/2005/8/layout/venn1"/>
    <dgm:cxn modelId="{46F3D4E7-BD97-4AB9-87DA-A5C2312C4B3C}" type="presOf" srcId="{4CCB738B-8933-4F69-8AC7-85A4F4AF53EF}" destId="{404CB104-8C69-4F50-98EE-D050177841AE}" srcOrd="1" destOrd="0" presId="urn:microsoft.com/office/officeart/2005/8/layout/venn1"/>
    <dgm:cxn modelId="{FF9F8EFE-3304-4FE8-BA4A-234565AE26AA}" type="presOf" srcId="{83D12A14-659F-4983-8E51-10975FDFBF4A}" destId="{40EDA4E5-7D66-4173-9BDA-21421D04DF27}" srcOrd="0" destOrd="0" presId="urn:microsoft.com/office/officeart/2005/8/layout/venn1"/>
    <dgm:cxn modelId="{425DE440-B57E-4649-90F9-57DC52A722E2}" type="presParOf" srcId="{40EDA4E5-7D66-4173-9BDA-21421D04DF27}" destId="{7DDAA9EF-D1B3-4AED-9B75-6AA0B5026CC5}" srcOrd="0" destOrd="0" presId="urn:microsoft.com/office/officeart/2005/8/layout/venn1"/>
    <dgm:cxn modelId="{C7064C2B-400B-4528-A4E8-8AB357E0E88C}" type="presParOf" srcId="{40EDA4E5-7D66-4173-9BDA-21421D04DF27}" destId="{6DB5B949-8582-47DD-83A4-302679101256}" srcOrd="1" destOrd="0" presId="urn:microsoft.com/office/officeart/2005/8/layout/venn1"/>
    <dgm:cxn modelId="{1E29D179-A13A-4669-A1D1-DCC5139BD311}" type="presParOf" srcId="{40EDA4E5-7D66-4173-9BDA-21421D04DF27}" destId="{67B6294A-B24B-420E-BE8B-44C05677FCFA}" srcOrd="2" destOrd="0" presId="urn:microsoft.com/office/officeart/2005/8/layout/venn1"/>
    <dgm:cxn modelId="{8AFC0A66-F1AF-4C67-87C3-523A0B394D17}" type="presParOf" srcId="{40EDA4E5-7D66-4173-9BDA-21421D04DF27}" destId="{404CB104-8C69-4F50-98EE-D050177841AE}" srcOrd="3" destOrd="0" presId="urn:microsoft.com/office/officeart/2005/8/layout/venn1"/>
    <dgm:cxn modelId="{4B201347-F625-4BE8-9061-A4BC0E12A66C}" type="presParOf" srcId="{40EDA4E5-7D66-4173-9BDA-21421D04DF27}" destId="{430BF997-3136-4671-BCD6-BE4D60CA63E5}" srcOrd="4" destOrd="0" presId="urn:microsoft.com/office/officeart/2005/8/layout/venn1"/>
    <dgm:cxn modelId="{E2C544F3-6145-4BC3-8F23-F153956B50EB}" type="presParOf" srcId="{40EDA4E5-7D66-4173-9BDA-21421D04DF27}" destId="{4ECB6DBB-05DC-4A58-955D-9CB3A45D477D}"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3D12A14-659F-4983-8E51-10975FDFBF4A}"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it-IT"/>
        </a:p>
      </dgm:t>
    </dgm:pt>
    <dgm:pt modelId="{55A27808-FCC3-448B-8324-6862C2CF68A0}">
      <dgm:prSet phldrT="[Testo]" phldr="0"/>
      <dgm:spPr/>
      <dgm:t>
        <a:bodyPr/>
        <a:lstStyle/>
        <a:p>
          <a:r>
            <a:rPr lang="pt-BR" dirty="0"/>
            <a:t>Computer Science</a:t>
          </a:r>
          <a:endParaRPr lang="it-IT" dirty="0"/>
        </a:p>
      </dgm:t>
    </dgm:pt>
    <dgm:pt modelId="{C551323B-D5CA-4BA2-B411-E9E96A3AEB60}" type="parTrans" cxnId="{AAD5ED50-6A7B-47E7-8FA8-C92DA45EDE92}">
      <dgm:prSet/>
      <dgm:spPr/>
      <dgm:t>
        <a:bodyPr/>
        <a:lstStyle/>
        <a:p>
          <a:endParaRPr lang="it-IT"/>
        </a:p>
      </dgm:t>
    </dgm:pt>
    <dgm:pt modelId="{54AF21F6-3073-4042-8737-16A1EA3CED06}" type="sibTrans" cxnId="{AAD5ED50-6A7B-47E7-8FA8-C92DA45EDE92}">
      <dgm:prSet/>
      <dgm:spPr/>
      <dgm:t>
        <a:bodyPr/>
        <a:lstStyle/>
        <a:p>
          <a:endParaRPr lang="it-IT"/>
        </a:p>
      </dgm:t>
    </dgm:pt>
    <dgm:pt modelId="{4CCB738B-8933-4F69-8AC7-85A4F4AF53EF}">
      <dgm:prSet phldrT="[Testo]" phldr="0"/>
      <dgm:spPr/>
      <dgm:t>
        <a:bodyPr/>
        <a:lstStyle/>
        <a:p>
          <a:r>
            <a:rPr lang="pt-BR" dirty="0"/>
            <a:t>Linguistics</a:t>
          </a:r>
          <a:endParaRPr lang="it-IT" dirty="0"/>
        </a:p>
      </dgm:t>
    </dgm:pt>
    <dgm:pt modelId="{45B0FAD6-D0D4-4699-AEA7-C30521EA10B6}" type="parTrans" cxnId="{AA97AFDA-A0F3-4BEF-96B6-349BC43BCC91}">
      <dgm:prSet/>
      <dgm:spPr/>
      <dgm:t>
        <a:bodyPr/>
        <a:lstStyle/>
        <a:p>
          <a:endParaRPr lang="it-IT"/>
        </a:p>
      </dgm:t>
    </dgm:pt>
    <dgm:pt modelId="{DAD304EE-E3DA-452E-AFBC-296D555A25CF}" type="sibTrans" cxnId="{AA97AFDA-A0F3-4BEF-96B6-349BC43BCC91}">
      <dgm:prSet/>
      <dgm:spPr/>
      <dgm:t>
        <a:bodyPr/>
        <a:lstStyle/>
        <a:p>
          <a:endParaRPr lang="it-IT"/>
        </a:p>
      </dgm:t>
    </dgm:pt>
    <dgm:pt modelId="{745E4006-4E65-49B8-AD06-1EDFA26A1197}">
      <dgm:prSet phldrT="[Testo]" phldr="0"/>
      <dgm:spPr/>
      <dgm:t>
        <a:bodyPr/>
        <a:lstStyle/>
        <a:p>
          <a:r>
            <a:rPr lang="pt-BR" dirty="0"/>
            <a:t>Psychology</a:t>
          </a:r>
          <a:endParaRPr lang="it-IT" dirty="0"/>
        </a:p>
      </dgm:t>
    </dgm:pt>
    <dgm:pt modelId="{CEF03F7C-B07E-43FC-822C-4F4A28ABDC0C}" type="parTrans" cxnId="{27F634A8-7602-4A13-A5FB-130E5D15203A}">
      <dgm:prSet/>
      <dgm:spPr/>
      <dgm:t>
        <a:bodyPr/>
        <a:lstStyle/>
        <a:p>
          <a:endParaRPr lang="it-IT"/>
        </a:p>
      </dgm:t>
    </dgm:pt>
    <dgm:pt modelId="{904BB42D-952A-4511-9C83-DB6EFF40C6BA}" type="sibTrans" cxnId="{27F634A8-7602-4A13-A5FB-130E5D15203A}">
      <dgm:prSet/>
      <dgm:spPr/>
      <dgm:t>
        <a:bodyPr/>
        <a:lstStyle/>
        <a:p>
          <a:endParaRPr lang="it-IT"/>
        </a:p>
      </dgm:t>
    </dgm:pt>
    <dgm:pt modelId="{40EDA4E5-7D66-4173-9BDA-21421D04DF27}" type="pres">
      <dgm:prSet presAssocID="{83D12A14-659F-4983-8E51-10975FDFBF4A}" presName="compositeShape" presStyleCnt="0">
        <dgm:presLayoutVars>
          <dgm:chMax val="7"/>
          <dgm:dir/>
          <dgm:resizeHandles val="exact"/>
        </dgm:presLayoutVars>
      </dgm:prSet>
      <dgm:spPr/>
    </dgm:pt>
    <dgm:pt modelId="{7DDAA9EF-D1B3-4AED-9B75-6AA0B5026CC5}" type="pres">
      <dgm:prSet presAssocID="{55A27808-FCC3-448B-8324-6862C2CF68A0}" presName="circ1" presStyleLbl="vennNode1" presStyleIdx="0" presStyleCnt="3"/>
      <dgm:spPr/>
    </dgm:pt>
    <dgm:pt modelId="{6DB5B949-8582-47DD-83A4-302679101256}" type="pres">
      <dgm:prSet presAssocID="{55A27808-FCC3-448B-8324-6862C2CF68A0}" presName="circ1Tx" presStyleLbl="revTx" presStyleIdx="0" presStyleCnt="0">
        <dgm:presLayoutVars>
          <dgm:chMax val="0"/>
          <dgm:chPref val="0"/>
          <dgm:bulletEnabled val="1"/>
        </dgm:presLayoutVars>
      </dgm:prSet>
      <dgm:spPr/>
    </dgm:pt>
    <dgm:pt modelId="{67B6294A-B24B-420E-BE8B-44C05677FCFA}" type="pres">
      <dgm:prSet presAssocID="{4CCB738B-8933-4F69-8AC7-85A4F4AF53EF}" presName="circ2" presStyleLbl="vennNode1" presStyleIdx="1" presStyleCnt="3"/>
      <dgm:spPr/>
    </dgm:pt>
    <dgm:pt modelId="{404CB104-8C69-4F50-98EE-D050177841AE}" type="pres">
      <dgm:prSet presAssocID="{4CCB738B-8933-4F69-8AC7-85A4F4AF53EF}" presName="circ2Tx" presStyleLbl="revTx" presStyleIdx="0" presStyleCnt="0">
        <dgm:presLayoutVars>
          <dgm:chMax val="0"/>
          <dgm:chPref val="0"/>
          <dgm:bulletEnabled val="1"/>
        </dgm:presLayoutVars>
      </dgm:prSet>
      <dgm:spPr/>
    </dgm:pt>
    <dgm:pt modelId="{430BF997-3136-4671-BCD6-BE4D60CA63E5}" type="pres">
      <dgm:prSet presAssocID="{745E4006-4E65-49B8-AD06-1EDFA26A1197}" presName="circ3" presStyleLbl="vennNode1" presStyleIdx="2" presStyleCnt="3"/>
      <dgm:spPr/>
    </dgm:pt>
    <dgm:pt modelId="{4ECB6DBB-05DC-4A58-955D-9CB3A45D477D}" type="pres">
      <dgm:prSet presAssocID="{745E4006-4E65-49B8-AD06-1EDFA26A1197}" presName="circ3Tx" presStyleLbl="revTx" presStyleIdx="0" presStyleCnt="0">
        <dgm:presLayoutVars>
          <dgm:chMax val="0"/>
          <dgm:chPref val="0"/>
          <dgm:bulletEnabled val="1"/>
        </dgm:presLayoutVars>
      </dgm:prSet>
      <dgm:spPr/>
    </dgm:pt>
  </dgm:ptLst>
  <dgm:cxnLst>
    <dgm:cxn modelId="{6BD4A00A-41DE-4F93-ABE8-026AF7C07FAE}" type="presOf" srcId="{745E4006-4E65-49B8-AD06-1EDFA26A1197}" destId="{4ECB6DBB-05DC-4A58-955D-9CB3A45D477D}" srcOrd="1" destOrd="0" presId="urn:microsoft.com/office/officeart/2005/8/layout/venn1"/>
    <dgm:cxn modelId="{39289569-B187-4785-ACEB-90FB95335BB6}" type="presOf" srcId="{55A27808-FCC3-448B-8324-6862C2CF68A0}" destId="{6DB5B949-8582-47DD-83A4-302679101256}" srcOrd="1" destOrd="0" presId="urn:microsoft.com/office/officeart/2005/8/layout/venn1"/>
    <dgm:cxn modelId="{AAD5ED50-6A7B-47E7-8FA8-C92DA45EDE92}" srcId="{83D12A14-659F-4983-8E51-10975FDFBF4A}" destId="{55A27808-FCC3-448B-8324-6862C2CF68A0}" srcOrd="0" destOrd="0" parTransId="{C551323B-D5CA-4BA2-B411-E9E96A3AEB60}" sibTransId="{54AF21F6-3073-4042-8737-16A1EA3CED06}"/>
    <dgm:cxn modelId="{602E9854-15C5-49DC-996A-B12EAE605118}" type="presOf" srcId="{745E4006-4E65-49B8-AD06-1EDFA26A1197}" destId="{430BF997-3136-4671-BCD6-BE4D60CA63E5}" srcOrd="0" destOrd="0" presId="urn:microsoft.com/office/officeart/2005/8/layout/venn1"/>
    <dgm:cxn modelId="{27F634A8-7602-4A13-A5FB-130E5D15203A}" srcId="{83D12A14-659F-4983-8E51-10975FDFBF4A}" destId="{745E4006-4E65-49B8-AD06-1EDFA26A1197}" srcOrd="2" destOrd="0" parTransId="{CEF03F7C-B07E-43FC-822C-4F4A28ABDC0C}" sibTransId="{904BB42D-952A-4511-9C83-DB6EFF40C6BA}"/>
    <dgm:cxn modelId="{FCCF6CC1-E448-45B1-8EC1-AE334FABF046}" type="presOf" srcId="{55A27808-FCC3-448B-8324-6862C2CF68A0}" destId="{7DDAA9EF-D1B3-4AED-9B75-6AA0B5026CC5}" srcOrd="0" destOrd="0" presId="urn:microsoft.com/office/officeart/2005/8/layout/venn1"/>
    <dgm:cxn modelId="{AA97AFDA-A0F3-4BEF-96B6-349BC43BCC91}" srcId="{83D12A14-659F-4983-8E51-10975FDFBF4A}" destId="{4CCB738B-8933-4F69-8AC7-85A4F4AF53EF}" srcOrd="1" destOrd="0" parTransId="{45B0FAD6-D0D4-4699-AEA7-C30521EA10B6}" sibTransId="{DAD304EE-E3DA-452E-AFBC-296D555A25CF}"/>
    <dgm:cxn modelId="{613AF2DF-A022-437C-A40A-F861D51A3E27}" type="presOf" srcId="{4CCB738B-8933-4F69-8AC7-85A4F4AF53EF}" destId="{67B6294A-B24B-420E-BE8B-44C05677FCFA}" srcOrd="0" destOrd="0" presId="urn:microsoft.com/office/officeart/2005/8/layout/venn1"/>
    <dgm:cxn modelId="{46F3D4E7-BD97-4AB9-87DA-A5C2312C4B3C}" type="presOf" srcId="{4CCB738B-8933-4F69-8AC7-85A4F4AF53EF}" destId="{404CB104-8C69-4F50-98EE-D050177841AE}" srcOrd="1" destOrd="0" presId="urn:microsoft.com/office/officeart/2005/8/layout/venn1"/>
    <dgm:cxn modelId="{FF9F8EFE-3304-4FE8-BA4A-234565AE26AA}" type="presOf" srcId="{83D12A14-659F-4983-8E51-10975FDFBF4A}" destId="{40EDA4E5-7D66-4173-9BDA-21421D04DF27}" srcOrd="0" destOrd="0" presId="urn:microsoft.com/office/officeart/2005/8/layout/venn1"/>
    <dgm:cxn modelId="{425DE440-B57E-4649-90F9-57DC52A722E2}" type="presParOf" srcId="{40EDA4E5-7D66-4173-9BDA-21421D04DF27}" destId="{7DDAA9EF-D1B3-4AED-9B75-6AA0B5026CC5}" srcOrd="0" destOrd="0" presId="urn:microsoft.com/office/officeart/2005/8/layout/venn1"/>
    <dgm:cxn modelId="{C7064C2B-400B-4528-A4E8-8AB357E0E88C}" type="presParOf" srcId="{40EDA4E5-7D66-4173-9BDA-21421D04DF27}" destId="{6DB5B949-8582-47DD-83A4-302679101256}" srcOrd="1" destOrd="0" presId="urn:microsoft.com/office/officeart/2005/8/layout/venn1"/>
    <dgm:cxn modelId="{1E29D179-A13A-4669-A1D1-DCC5139BD311}" type="presParOf" srcId="{40EDA4E5-7D66-4173-9BDA-21421D04DF27}" destId="{67B6294A-B24B-420E-BE8B-44C05677FCFA}" srcOrd="2" destOrd="0" presId="urn:microsoft.com/office/officeart/2005/8/layout/venn1"/>
    <dgm:cxn modelId="{8AFC0A66-F1AF-4C67-87C3-523A0B394D17}" type="presParOf" srcId="{40EDA4E5-7D66-4173-9BDA-21421D04DF27}" destId="{404CB104-8C69-4F50-98EE-D050177841AE}" srcOrd="3" destOrd="0" presId="urn:microsoft.com/office/officeart/2005/8/layout/venn1"/>
    <dgm:cxn modelId="{4B201347-F625-4BE8-9061-A4BC0E12A66C}" type="presParOf" srcId="{40EDA4E5-7D66-4173-9BDA-21421D04DF27}" destId="{430BF997-3136-4671-BCD6-BE4D60CA63E5}" srcOrd="4" destOrd="0" presId="urn:microsoft.com/office/officeart/2005/8/layout/venn1"/>
    <dgm:cxn modelId="{E2C544F3-6145-4BC3-8F23-F153956B50EB}" type="presParOf" srcId="{40EDA4E5-7D66-4173-9BDA-21421D04DF27}" destId="{4ECB6DBB-05DC-4A58-955D-9CB3A45D477D}"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3D12A14-659F-4983-8E51-10975FDFBF4A}"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it-IT"/>
        </a:p>
      </dgm:t>
    </dgm:pt>
    <dgm:pt modelId="{55A27808-FCC3-448B-8324-6862C2CF68A0}">
      <dgm:prSet phldrT="[Testo]" phldr="0"/>
      <dgm:spPr/>
      <dgm:t>
        <a:bodyPr/>
        <a:lstStyle/>
        <a:p>
          <a:r>
            <a:rPr lang="pt-BR" dirty="0"/>
            <a:t>Computation</a:t>
          </a:r>
          <a:endParaRPr lang="it-IT" dirty="0"/>
        </a:p>
      </dgm:t>
    </dgm:pt>
    <dgm:pt modelId="{C551323B-D5CA-4BA2-B411-E9E96A3AEB60}" type="parTrans" cxnId="{AAD5ED50-6A7B-47E7-8FA8-C92DA45EDE92}">
      <dgm:prSet/>
      <dgm:spPr/>
      <dgm:t>
        <a:bodyPr/>
        <a:lstStyle/>
        <a:p>
          <a:endParaRPr lang="it-IT"/>
        </a:p>
      </dgm:t>
    </dgm:pt>
    <dgm:pt modelId="{54AF21F6-3073-4042-8737-16A1EA3CED06}" type="sibTrans" cxnId="{AAD5ED50-6A7B-47E7-8FA8-C92DA45EDE92}">
      <dgm:prSet/>
      <dgm:spPr/>
      <dgm:t>
        <a:bodyPr/>
        <a:lstStyle/>
        <a:p>
          <a:endParaRPr lang="it-IT"/>
        </a:p>
      </dgm:t>
    </dgm:pt>
    <dgm:pt modelId="{4CCB738B-8933-4F69-8AC7-85A4F4AF53EF}">
      <dgm:prSet phldrT="[Testo]" phldr="0"/>
      <dgm:spPr/>
      <dgm:t>
        <a:bodyPr/>
        <a:lstStyle/>
        <a:p>
          <a:r>
            <a:rPr lang="pt-BR" dirty="0"/>
            <a:t>Linguistics</a:t>
          </a:r>
          <a:endParaRPr lang="it-IT" dirty="0"/>
        </a:p>
      </dgm:t>
    </dgm:pt>
    <dgm:pt modelId="{45B0FAD6-D0D4-4699-AEA7-C30521EA10B6}" type="parTrans" cxnId="{AA97AFDA-A0F3-4BEF-96B6-349BC43BCC91}">
      <dgm:prSet/>
      <dgm:spPr/>
      <dgm:t>
        <a:bodyPr/>
        <a:lstStyle/>
        <a:p>
          <a:endParaRPr lang="it-IT"/>
        </a:p>
      </dgm:t>
    </dgm:pt>
    <dgm:pt modelId="{DAD304EE-E3DA-452E-AFBC-296D555A25CF}" type="sibTrans" cxnId="{AA97AFDA-A0F3-4BEF-96B6-349BC43BCC91}">
      <dgm:prSet/>
      <dgm:spPr/>
      <dgm:t>
        <a:bodyPr/>
        <a:lstStyle/>
        <a:p>
          <a:endParaRPr lang="it-IT"/>
        </a:p>
      </dgm:t>
    </dgm:pt>
    <dgm:pt modelId="{745E4006-4E65-49B8-AD06-1EDFA26A1197}">
      <dgm:prSet phldrT="[Testo]" phldr="0"/>
      <dgm:spPr/>
      <dgm:t>
        <a:bodyPr/>
        <a:lstStyle/>
        <a:p>
          <a:r>
            <a:rPr lang="pt-BR" dirty="0"/>
            <a:t>Psychology</a:t>
          </a:r>
          <a:endParaRPr lang="it-IT" dirty="0"/>
        </a:p>
      </dgm:t>
    </dgm:pt>
    <dgm:pt modelId="{CEF03F7C-B07E-43FC-822C-4F4A28ABDC0C}" type="parTrans" cxnId="{27F634A8-7602-4A13-A5FB-130E5D15203A}">
      <dgm:prSet/>
      <dgm:spPr/>
      <dgm:t>
        <a:bodyPr/>
        <a:lstStyle/>
        <a:p>
          <a:endParaRPr lang="it-IT"/>
        </a:p>
      </dgm:t>
    </dgm:pt>
    <dgm:pt modelId="{904BB42D-952A-4511-9C83-DB6EFF40C6BA}" type="sibTrans" cxnId="{27F634A8-7602-4A13-A5FB-130E5D15203A}">
      <dgm:prSet/>
      <dgm:spPr/>
      <dgm:t>
        <a:bodyPr/>
        <a:lstStyle/>
        <a:p>
          <a:endParaRPr lang="it-IT"/>
        </a:p>
      </dgm:t>
    </dgm:pt>
    <dgm:pt modelId="{40EDA4E5-7D66-4173-9BDA-21421D04DF27}" type="pres">
      <dgm:prSet presAssocID="{83D12A14-659F-4983-8E51-10975FDFBF4A}" presName="compositeShape" presStyleCnt="0">
        <dgm:presLayoutVars>
          <dgm:chMax val="7"/>
          <dgm:dir/>
          <dgm:resizeHandles val="exact"/>
        </dgm:presLayoutVars>
      </dgm:prSet>
      <dgm:spPr/>
    </dgm:pt>
    <dgm:pt modelId="{7DDAA9EF-D1B3-4AED-9B75-6AA0B5026CC5}" type="pres">
      <dgm:prSet presAssocID="{55A27808-FCC3-448B-8324-6862C2CF68A0}" presName="circ1" presStyleLbl="vennNode1" presStyleIdx="0" presStyleCnt="3"/>
      <dgm:spPr/>
    </dgm:pt>
    <dgm:pt modelId="{6DB5B949-8582-47DD-83A4-302679101256}" type="pres">
      <dgm:prSet presAssocID="{55A27808-FCC3-448B-8324-6862C2CF68A0}" presName="circ1Tx" presStyleLbl="revTx" presStyleIdx="0" presStyleCnt="0">
        <dgm:presLayoutVars>
          <dgm:chMax val="0"/>
          <dgm:chPref val="0"/>
          <dgm:bulletEnabled val="1"/>
        </dgm:presLayoutVars>
      </dgm:prSet>
      <dgm:spPr/>
    </dgm:pt>
    <dgm:pt modelId="{67B6294A-B24B-420E-BE8B-44C05677FCFA}" type="pres">
      <dgm:prSet presAssocID="{4CCB738B-8933-4F69-8AC7-85A4F4AF53EF}" presName="circ2" presStyleLbl="vennNode1" presStyleIdx="1" presStyleCnt="3"/>
      <dgm:spPr/>
    </dgm:pt>
    <dgm:pt modelId="{404CB104-8C69-4F50-98EE-D050177841AE}" type="pres">
      <dgm:prSet presAssocID="{4CCB738B-8933-4F69-8AC7-85A4F4AF53EF}" presName="circ2Tx" presStyleLbl="revTx" presStyleIdx="0" presStyleCnt="0">
        <dgm:presLayoutVars>
          <dgm:chMax val="0"/>
          <dgm:chPref val="0"/>
          <dgm:bulletEnabled val="1"/>
        </dgm:presLayoutVars>
      </dgm:prSet>
      <dgm:spPr/>
    </dgm:pt>
    <dgm:pt modelId="{430BF997-3136-4671-BCD6-BE4D60CA63E5}" type="pres">
      <dgm:prSet presAssocID="{745E4006-4E65-49B8-AD06-1EDFA26A1197}" presName="circ3" presStyleLbl="vennNode1" presStyleIdx="2" presStyleCnt="3"/>
      <dgm:spPr/>
    </dgm:pt>
    <dgm:pt modelId="{4ECB6DBB-05DC-4A58-955D-9CB3A45D477D}" type="pres">
      <dgm:prSet presAssocID="{745E4006-4E65-49B8-AD06-1EDFA26A1197}" presName="circ3Tx" presStyleLbl="revTx" presStyleIdx="0" presStyleCnt="0">
        <dgm:presLayoutVars>
          <dgm:chMax val="0"/>
          <dgm:chPref val="0"/>
          <dgm:bulletEnabled val="1"/>
        </dgm:presLayoutVars>
      </dgm:prSet>
      <dgm:spPr/>
    </dgm:pt>
  </dgm:ptLst>
  <dgm:cxnLst>
    <dgm:cxn modelId="{6BD4A00A-41DE-4F93-ABE8-026AF7C07FAE}" type="presOf" srcId="{745E4006-4E65-49B8-AD06-1EDFA26A1197}" destId="{4ECB6DBB-05DC-4A58-955D-9CB3A45D477D}" srcOrd="1" destOrd="0" presId="urn:microsoft.com/office/officeart/2005/8/layout/venn1"/>
    <dgm:cxn modelId="{39289569-B187-4785-ACEB-90FB95335BB6}" type="presOf" srcId="{55A27808-FCC3-448B-8324-6862C2CF68A0}" destId="{6DB5B949-8582-47DD-83A4-302679101256}" srcOrd="1" destOrd="0" presId="urn:microsoft.com/office/officeart/2005/8/layout/venn1"/>
    <dgm:cxn modelId="{AAD5ED50-6A7B-47E7-8FA8-C92DA45EDE92}" srcId="{83D12A14-659F-4983-8E51-10975FDFBF4A}" destId="{55A27808-FCC3-448B-8324-6862C2CF68A0}" srcOrd="0" destOrd="0" parTransId="{C551323B-D5CA-4BA2-B411-E9E96A3AEB60}" sibTransId="{54AF21F6-3073-4042-8737-16A1EA3CED06}"/>
    <dgm:cxn modelId="{602E9854-15C5-49DC-996A-B12EAE605118}" type="presOf" srcId="{745E4006-4E65-49B8-AD06-1EDFA26A1197}" destId="{430BF997-3136-4671-BCD6-BE4D60CA63E5}" srcOrd="0" destOrd="0" presId="urn:microsoft.com/office/officeart/2005/8/layout/venn1"/>
    <dgm:cxn modelId="{27F634A8-7602-4A13-A5FB-130E5D15203A}" srcId="{83D12A14-659F-4983-8E51-10975FDFBF4A}" destId="{745E4006-4E65-49B8-AD06-1EDFA26A1197}" srcOrd="2" destOrd="0" parTransId="{CEF03F7C-B07E-43FC-822C-4F4A28ABDC0C}" sibTransId="{904BB42D-952A-4511-9C83-DB6EFF40C6BA}"/>
    <dgm:cxn modelId="{FCCF6CC1-E448-45B1-8EC1-AE334FABF046}" type="presOf" srcId="{55A27808-FCC3-448B-8324-6862C2CF68A0}" destId="{7DDAA9EF-D1B3-4AED-9B75-6AA0B5026CC5}" srcOrd="0" destOrd="0" presId="urn:microsoft.com/office/officeart/2005/8/layout/venn1"/>
    <dgm:cxn modelId="{AA97AFDA-A0F3-4BEF-96B6-349BC43BCC91}" srcId="{83D12A14-659F-4983-8E51-10975FDFBF4A}" destId="{4CCB738B-8933-4F69-8AC7-85A4F4AF53EF}" srcOrd="1" destOrd="0" parTransId="{45B0FAD6-D0D4-4699-AEA7-C30521EA10B6}" sibTransId="{DAD304EE-E3DA-452E-AFBC-296D555A25CF}"/>
    <dgm:cxn modelId="{613AF2DF-A022-437C-A40A-F861D51A3E27}" type="presOf" srcId="{4CCB738B-8933-4F69-8AC7-85A4F4AF53EF}" destId="{67B6294A-B24B-420E-BE8B-44C05677FCFA}" srcOrd="0" destOrd="0" presId="urn:microsoft.com/office/officeart/2005/8/layout/venn1"/>
    <dgm:cxn modelId="{46F3D4E7-BD97-4AB9-87DA-A5C2312C4B3C}" type="presOf" srcId="{4CCB738B-8933-4F69-8AC7-85A4F4AF53EF}" destId="{404CB104-8C69-4F50-98EE-D050177841AE}" srcOrd="1" destOrd="0" presId="urn:microsoft.com/office/officeart/2005/8/layout/venn1"/>
    <dgm:cxn modelId="{FF9F8EFE-3304-4FE8-BA4A-234565AE26AA}" type="presOf" srcId="{83D12A14-659F-4983-8E51-10975FDFBF4A}" destId="{40EDA4E5-7D66-4173-9BDA-21421D04DF27}" srcOrd="0" destOrd="0" presId="urn:microsoft.com/office/officeart/2005/8/layout/venn1"/>
    <dgm:cxn modelId="{425DE440-B57E-4649-90F9-57DC52A722E2}" type="presParOf" srcId="{40EDA4E5-7D66-4173-9BDA-21421D04DF27}" destId="{7DDAA9EF-D1B3-4AED-9B75-6AA0B5026CC5}" srcOrd="0" destOrd="0" presId="urn:microsoft.com/office/officeart/2005/8/layout/venn1"/>
    <dgm:cxn modelId="{C7064C2B-400B-4528-A4E8-8AB357E0E88C}" type="presParOf" srcId="{40EDA4E5-7D66-4173-9BDA-21421D04DF27}" destId="{6DB5B949-8582-47DD-83A4-302679101256}" srcOrd="1" destOrd="0" presId="urn:microsoft.com/office/officeart/2005/8/layout/venn1"/>
    <dgm:cxn modelId="{1E29D179-A13A-4669-A1D1-DCC5139BD311}" type="presParOf" srcId="{40EDA4E5-7D66-4173-9BDA-21421D04DF27}" destId="{67B6294A-B24B-420E-BE8B-44C05677FCFA}" srcOrd="2" destOrd="0" presId="urn:microsoft.com/office/officeart/2005/8/layout/venn1"/>
    <dgm:cxn modelId="{8AFC0A66-F1AF-4C67-87C3-523A0B394D17}" type="presParOf" srcId="{40EDA4E5-7D66-4173-9BDA-21421D04DF27}" destId="{404CB104-8C69-4F50-98EE-D050177841AE}" srcOrd="3" destOrd="0" presId="urn:microsoft.com/office/officeart/2005/8/layout/venn1"/>
    <dgm:cxn modelId="{4B201347-F625-4BE8-9061-A4BC0E12A66C}" type="presParOf" srcId="{40EDA4E5-7D66-4173-9BDA-21421D04DF27}" destId="{430BF997-3136-4671-BCD6-BE4D60CA63E5}" srcOrd="4" destOrd="0" presId="urn:microsoft.com/office/officeart/2005/8/layout/venn1"/>
    <dgm:cxn modelId="{E2C544F3-6145-4BC3-8F23-F153956B50EB}" type="presParOf" srcId="{40EDA4E5-7D66-4173-9BDA-21421D04DF27}" destId="{4ECB6DBB-05DC-4A58-955D-9CB3A45D477D}"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DAA9EF-D1B3-4AED-9B75-6AA0B5026CC5}">
      <dsp:nvSpPr>
        <dsp:cNvPr id="0" name=""/>
        <dsp:cNvSpPr/>
      </dsp:nvSpPr>
      <dsp:spPr>
        <a:xfrm>
          <a:off x="2177287" y="57343"/>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Computer Science</a:t>
          </a:r>
          <a:endParaRPr lang="it-IT" sz="2600" kern="1200" dirty="0"/>
        </a:p>
      </dsp:txBody>
      <dsp:txXfrm>
        <a:off x="2544283" y="539025"/>
        <a:ext cx="2018477" cy="1238611"/>
      </dsp:txXfrm>
    </dsp:sp>
    <dsp:sp modelId="{67B6294A-B24B-420E-BE8B-44C05677FCFA}">
      <dsp:nvSpPr>
        <dsp:cNvPr id="0" name=""/>
        <dsp:cNvSpPr/>
      </dsp:nvSpPr>
      <dsp:spPr>
        <a:xfrm>
          <a:off x="3170470"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Linguistics</a:t>
          </a:r>
          <a:endParaRPr lang="it-IT" sz="2600" kern="1200" dirty="0"/>
        </a:p>
      </dsp:txBody>
      <dsp:txXfrm>
        <a:off x="4012266" y="2488691"/>
        <a:ext cx="1651481" cy="1513858"/>
      </dsp:txXfrm>
    </dsp:sp>
    <dsp:sp modelId="{430BF997-3136-4671-BCD6-BE4D60CA63E5}">
      <dsp:nvSpPr>
        <dsp:cNvPr id="0" name=""/>
        <dsp:cNvSpPr/>
      </dsp:nvSpPr>
      <dsp:spPr>
        <a:xfrm>
          <a:off x="1184104"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Psychology</a:t>
          </a:r>
          <a:endParaRPr lang="it-IT" sz="2600" kern="1200" dirty="0"/>
        </a:p>
      </dsp:txBody>
      <dsp:txXfrm>
        <a:off x="1443295" y="2488691"/>
        <a:ext cx="1651481" cy="151385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DAA9EF-D1B3-4AED-9B75-6AA0B5026CC5}">
      <dsp:nvSpPr>
        <dsp:cNvPr id="0" name=""/>
        <dsp:cNvSpPr/>
      </dsp:nvSpPr>
      <dsp:spPr>
        <a:xfrm>
          <a:off x="2177287" y="57343"/>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Computer Science</a:t>
          </a:r>
          <a:endParaRPr lang="it-IT" sz="2600" kern="1200" dirty="0"/>
        </a:p>
      </dsp:txBody>
      <dsp:txXfrm>
        <a:off x="2544283" y="539025"/>
        <a:ext cx="2018477" cy="1238611"/>
      </dsp:txXfrm>
    </dsp:sp>
    <dsp:sp modelId="{67B6294A-B24B-420E-BE8B-44C05677FCFA}">
      <dsp:nvSpPr>
        <dsp:cNvPr id="0" name=""/>
        <dsp:cNvSpPr/>
      </dsp:nvSpPr>
      <dsp:spPr>
        <a:xfrm>
          <a:off x="3170470"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Linguistics</a:t>
          </a:r>
          <a:endParaRPr lang="it-IT" sz="2600" kern="1200" dirty="0"/>
        </a:p>
      </dsp:txBody>
      <dsp:txXfrm>
        <a:off x="4012266" y="2488691"/>
        <a:ext cx="1651481" cy="1513858"/>
      </dsp:txXfrm>
    </dsp:sp>
    <dsp:sp modelId="{430BF997-3136-4671-BCD6-BE4D60CA63E5}">
      <dsp:nvSpPr>
        <dsp:cNvPr id="0" name=""/>
        <dsp:cNvSpPr/>
      </dsp:nvSpPr>
      <dsp:spPr>
        <a:xfrm>
          <a:off x="1184104"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Psychology</a:t>
          </a:r>
          <a:endParaRPr lang="it-IT" sz="2600" kern="1200" dirty="0"/>
        </a:p>
      </dsp:txBody>
      <dsp:txXfrm>
        <a:off x="1443295" y="2488691"/>
        <a:ext cx="1651481" cy="151385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DAA9EF-D1B3-4AED-9B75-6AA0B5026CC5}">
      <dsp:nvSpPr>
        <dsp:cNvPr id="0" name=""/>
        <dsp:cNvSpPr/>
      </dsp:nvSpPr>
      <dsp:spPr>
        <a:xfrm>
          <a:off x="2177287" y="57343"/>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Computation</a:t>
          </a:r>
          <a:endParaRPr lang="it-IT" sz="2600" kern="1200" dirty="0"/>
        </a:p>
      </dsp:txBody>
      <dsp:txXfrm>
        <a:off x="2544283" y="539025"/>
        <a:ext cx="2018477" cy="1238611"/>
      </dsp:txXfrm>
    </dsp:sp>
    <dsp:sp modelId="{67B6294A-B24B-420E-BE8B-44C05677FCFA}">
      <dsp:nvSpPr>
        <dsp:cNvPr id="0" name=""/>
        <dsp:cNvSpPr/>
      </dsp:nvSpPr>
      <dsp:spPr>
        <a:xfrm>
          <a:off x="3170470"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Linguistics</a:t>
          </a:r>
          <a:endParaRPr lang="it-IT" sz="2600" kern="1200" dirty="0"/>
        </a:p>
      </dsp:txBody>
      <dsp:txXfrm>
        <a:off x="4012266" y="2488691"/>
        <a:ext cx="1651481" cy="1513858"/>
      </dsp:txXfrm>
    </dsp:sp>
    <dsp:sp modelId="{430BF997-3136-4671-BCD6-BE4D60CA63E5}">
      <dsp:nvSpPr>
        <dsp:cNvPr id="0" name=""/>
        <dsp:cNvSpPr/>
      </dsp:nvSpPr>
      <dsp:spPr>
        <a:xfrm>
          <a:off x="1184104" y="1777636"/>
          <a:ext cx="2752469" cy="2752469"/>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155700">
            <a:lnSpc>
              <a:spcPct val="90000"/>
            </a:lnSpc>
            <a:spcBef>
              <a:spcPct val="0"/>
            </a:spcBef>
            <a:spcAft>
              <a:spcPct val="35000"/>
            </a:spcAft>
            <a:buNone/>
          </a:pPr>
          <a:r>
            <a:rPr lang="pt-BR" sz="2600" kern="1200" dirty="0"/>
            <a:t>Psychology</a:t>
          </a:r>
          <a:endParaRPr lang="it-IT" sz="2600" kern="1200" dirty="0"/>
        </a:p>
      </dsp:txBody>
      <dsp:txXfrm>
        <a:off x="1443295" y="2488691"/>
        <a:ext cx="1651481" cy="1513858"/>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A16F2C-4F22-4D6C-9759-7E77A28DB452}" type="datetimeFigureOut">
              <a:rPr lang="it-IT" smtClean="0"/>
              <a:t>23/02/2026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DB328D-763F-4F02-A81E-9F12D2471F2D}" type="slidenum">
              <a:rPr lang="it-IT" smtClean="0"/>
              <a:t>‹N›</a:t>
            </a:fld>
            <a:endParaRPr lang="it-IT"/>
          </a:p>
        </p:txBody>
      </p:sp>
    </p:spTree>
    <p:extLst>
      <p:ext uri="{BB962C8B-B14F-4D97-AF65-F5344CB8AC3E}">
        <p14:creationId xmlns:p14="http://schemas.microsoft.com/office/powerpoint/2010/main" val="2276937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Tahnk and Welcome to this first lesson of...my name is..but i will introduce myself in a moment</a:t>
            </a:r>
          </a:p>
          <a:p>
            <a:r>
              <a:rPr lang="pt-BR" dirty="0"/>
              <a:t>Introductory lesson</a:t>
            </a:r>
          </a:p>
          <a:p>
            <a:r>
              <a:rPr lang="pt-BR" dirty="0"/>
              <a:t>I will make a case as to why you should be interested and why this course can be different to other subjects</a:t>
            </a:r>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1</a:t>
            </a:fld>
            <a:endParaRPr lang="it-IT"/>
          </a:p>
        </p:txBody>
      </p:sp>
    </p:spTree>
    <p:extLst>
      <p:ext uri="{BB962C8B-B14F-4D97-AF65-F5344CB8AC3E}">
        <p14:creationId xmlns:p14="http://schemas.microsoft.com/office/powerpoint/2010/main" val="3929405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With a twist because we will focus the scope of NLP to specific uses</a:t>
            </a:r>
          </a:p>
          <a:p>
            <a:r>
              <a:rPr lang="pt-BR" dirty="0"/>
              <a:t>How many of you have studied NLP?</a:t>
            </a:r>
          </a:p>
          <a:p>
            <a:r>
              <a:rPr lang="pt-BR" dirty="0"/>
              <a:t>Show Venn</a:t>
            </a:r>
          </a:p>
        </p:txBody>
      </p:sp>
      <p:sp>
        <p:nvSpPr>
          <p:cNvPr id="4" name="Segnaposto numero diapositiva 3"/>
          <p:cNvSpPr>
            <a:spLocks noGrp="1"/>
          </p:cNvSpPr>
          <p:nvPr>
            <p:ph type="sldNum" sz="quarter" idx="5"/>
          </p:nvPr>
        </p:nvSpPr>
        <p:spPr/>
        <p:txBody>
          <a:bodyPr/>
          <a:lstStyle/>
          <a:p>
            <a:fld id="{99DB328D-763F-4F02-A81E-9F12D2471F2D}" type="slidenum">
              <a:rPr lang="it-IT" smtClean="0"/>
              <a:t>2</a:t>
            </a:fld>
            <a:endParaRPr lang="it-IT"/>
          </a:p>
        </p:txBody>
      </p:sp>
    </p:spTree>
    <p:extLst>
      <p:ext uri="{BB962C8B-B14F-4D97-AF65-F5344CB8AC3E}">
        <p14:creationId xmlns:p14="http://schemas.microsoft.com/office/powerpoint/2010/main" val="791985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27F78-0FF7-9319-3D6D-46B491EECBA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6F1F84D-72DB-8455-FF77-90CBA7BE5366}"/>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F51DBB5-6E81-C469-D91A-22C161847117}"/>
              </a:ext>
            </a:extLst>
          </p:cNvPr>
          <p:cNvSpPr>
            <a:spLocks noGrp="1"/>
          </p:cNvSpPr>
          <p:nvPr>
            <p:ph type="body" idx="1"/>
          </p:nvPr>
        </p:nvSpPr>
        <p:spPr/>
        <p:txBody>
          <a:bodyPr/>
          <a:lstStyle/>
          <a:p>
            <a:r>
              <a:rPr lang="pt-BR" dirty="0"/>
              <a:t>Why did you enroll in ths course?</a:t>
            </a:r>
          </a:p>
          <a:p>
            <a:r>
              <a:rPr lang="pt-BR" dirty="0"/>
              <a:t>When i designed I wanted to have a context in mind: misinformation</a:t>
            </a:r>
          </a:p>
          <a:p>
            <a:r>
              <a:rPr lang="pt-BR" dirty="0"/>
              <a:t>First, does it matter? The answer to the end of this lesson, but there is one problem that touches all three aspects: misinformation. We won’t talk about it directly, but it will permeate this entire course</a:t>
            </a:r>
          </a:p>
          <a:p>
            <a:r>
              <a:rPr lang="it-IT" dirty="0" err="1"/>
              <a:t>Often</a:t>
            </a:r>
            <a:r>
              <a:rPr lang="it-IT" dirty="0"/>
              <a:t> times, </a:t>
            </a:r>
            <a:r>
              <a:rPr lang="it-IT" dirty="0" err="1"/>
              <a:t>especially</a:t>
            </a:r>
            <a:r>
              <a:rPr lang="it-IT" dirty="0"/>
              <a:t> in NLP, </a:t>
            </a:r>
            <a:r>
              <a:rPr lang="it-IT" dirty="0" err="1"/>
              <a:t>misinformation</a:t>
            </a:r>
            <a:r>
              <a:rPr lang="it-IT" dirty="0"/>
              <a:t> </a:t>
            </a:r>
            <a:r>
              <a:rPr lang="it-IT" dirty="0" err="1"/>
              <a:t>is</a:t>
            </a:r>
            <a:r>
              <a:rPr lang="it-IT" dirty="0"/>
              <a:t> </a:t>
            </a:r>
            <a:r>
              <a:rPr lang="it-IT" dirty="0" err="1"/>
              <a:t>approached</a:t>
            </a:r>
            <a:r>
              <a:rPr lang="it-IT" dirty="0"/>
              <a:t> from a </a:t>
            </a:r>
            <a:r>
              <a:rPr lang="it-IT" dirty="0" err="1"/>
              <a:t>detection</a:t>
            </a:r>
            <a:r>
              <a:rPr lang="it-IT" dirty="0"/>
              <a:t> </a:t>
            </a:r>
            <a:r>
              <a:rPr lang="it-IT" dirty="0" err="1"/>
              <a:t>standpoint</a:t>
            </a:r>
            <a:r>
              <a:rPr lang="it-IT" dirty="0"/>
              <a:t>, </a:t>
            </a:r>
            <a:r>
              <a:rPr lang="it-IT" dirty="0" err="1"/>
              <a:t>here</a:t>
            </a:r>
            <a:r>
              <a:rPr lang="it-IT" dirty="0"/>
              <a:t> </a:t>
            </a:r>
            <a:r>
              <a:rPr lang="it-IT" dirty="0" err="1"/>
              <a:t>we</a:t>
            </a:r>
            <a:r>
              <a:rPr lang="it-IT" dirty="0"/>
              <a:t> are </a:t>
            </a:r>
            <a:r>
              <a:rPr lang="it-IT" dirty="0" err="1"/>
              <a:t>going</a:t>
            </a:r>
            <a:r>
              <a:rPr lang="it-IT" dirty="0"/>
              <a:t> to shift the focus a bit (more on </a:t>
            </a:r>
            <a:r>
              <a:rPr lang="it-IT" dirty="0" err="1"/>
              <a:t>that</a:t>
            </a:r>
            <a:r>
              <a:rPr lang="it-IT" dirty="0"/>
              <a:t> </a:t>
            </a:r>
            <a:r>
              <a:rPr lang="it-IT" dirty="0" err="1"/>
              <a:t>later</a:t>
            </a:r>
            <a:r>
              <a:rPr lang="it-IT" dirty="0"/>
              <a:t>)</a:t>
            </a:r>
          </a:p>
          <a:p>
            <a:endParaRPr lang="en-US" dirty="0"/>
          </a:p>
          <a:p>
            <a:r>
              <a:rPr lang="en-US" dirty="0"/>
              <a:t>why am I the one teaching this</a:t>
            </a:r>
            <a:endParaRPr lang="it-IT" dirty="0"/>
          </a:p>
        </p:txBody>
      </p:sp>
      <p:sp>
        <p:nvSpPr>
          <p:cNvPr id="4" name="Segnaposto numero diapositiva 3">
            <a:extLst>
              <a:ext uri="{FF2B5EF4-FFF2-40B4-BE49-F238E27FC236}">
                <a16:creationId xmlns:a16="http://schemas.microsoft.com/office/drawing/2014/main" id="{A59705B0-E6D9-97FC-5368-238F2842CCE9}"/>
              </a:ext>
            </a:extLst>
          </p:cNvPr>
          <p:cNvSpPr>
            <a:spLocks noGrp="1"/>
          </p:cNvSpPr>
          <p:nvPr>
            <p:ph type="sldNum" sz="quarter" idx="5"/>
          </p:nvPr>
        </p:nvSpPr>
        <p:spPr/>
        <p:txBody>
          <a:bodyPr/>
          <a:lstStyle/>
          <a:p>
            <a:fld id="{99DB328D-763F-4F02-A81E-9F12D2471F2D}" type="slidenum">
              <a:rPr lang="it-IT" smtClean="0"/>
              <a:t>3</a:t>
            </a:fld>
            <a:endParaRPr lang="it-IT"/>
          </a:p>
        </p:txBody>
      </p:sp>
    </p:spTree>
    <p:extLst>
      <p:ext uri="{BB962C8B-B14F-4D97-AF65-F5344CB8AC3E}">
        <p14:creationId xmlns:p14="http://schemas.microsoft.com/office/powerpoint/2010/main" val="8593908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b="1" dirty="0">
                <a:effectLst/>
              </a:rPr>
              <a:t>Session 1 – </a:t>
            </a:r>
            <a:r>
              <a:rPr lang="it-IT" b="1" dirty="0" err="1">
                <a:effectLst/>
              </a:rPr>
              <a:t>Introduction</a:t>
            </a:r>
            <a:r>
              <a:rPr lang="it-IT" b="1" dirty="0">
                <a:effectLst/>
              </a:rPr>
              <a:t> &amp; </a:t>
            </a:r>
            <a:r>
              <a:rPr lang="it-IT" b="1" dirty="0" err="1">
                <a:effectLst/>
              </a:rPr>
              <a:t>Motivation</a:t>
            </a:r>
            <a:endParaRPr lang="it-IT" b="1" dirty="0">
              <a:effectLst/>
            </a:endParaRPr>
          </a:p>
          <a:p>
            <a:r>
              <a:rPr lang="it-IT" b="1" dirty="0">
                <a:effectLst/>
              </a:rPr>
              <a:t>Session 2 – Data Collection &amp; Corpus </a:t>
            </a:r>
            <a:r>
              <a:rPr lang="it-IT" b="1" dirty="0" err="1">
                <a:effectLst/>
              </a:rPr>
              <a:t>Creation</a:t>
            </a:r>
            <a:endParaRPr lang="it-IT" b="1" dirty="0">
              <a:effectLst/>
            </a:endParaRPr>
          </a:p>
          <a:p>
            <a:r>
              <a:rPr lang="en-US" b="1" dirty="0">
                <a:effectLst/>
              </a:rPr>
              <a:t>Session 3 – Data Exploration &amp; Basic Topic Modeling</a:t>
            </a:r>
          </a:p>
          <a:p>
            <a:r>
              <a:rPr lang="en-US" b="1" dirty="0">
                <a:effectLst/>
              </a:rPr>
              <a:t>Then more advanced textual techniques</a:t>
            </a:r>
            <a:br>
              <a:rPr lang="en-US" b="1" dirty="0">
                <a:effectLst/>
              </a:rPr>
            </a:br>
            <a:r>
              <a:rPr lang="it-IT" b="1" dirty="0">
                <a:effectLst/>
              </a:rPr>
              <a:t>Session 4 – Lexicon-</a:t>
            </a:r>
            <a:r>
              <a:rPr lang="it-IT" b="1" dirty="0" err="1">
                <a:effectLst/>
              </a:rPr>
              <a:t>Based</a:t>
            </a:r>
            <a:r>
              <a:rPr lang="it-IT" b="1" dirty="0">
                <a:effectLst/>
              </a:rPr>
              <a:t> </a:t>
            </a:r>
            <a:r>
              <a:rPr lang="it-IT" b="1" dirty="0" err="1">
                <a:effectLst/>
              </a:rPr>
              <a:t>Measurement</a:t>
            </a:r>
            <a:endParaRPr lang="it-IT" b="1" dirty="0">
              <a:effectLst/>
            </a:endParaRPr>
          </a:p>
          <a:p>
            <a:r>
              <a:rPr lang="en-US" b="1" dirty="0">
                <a:effectLst/>
              </a:rPr>
              <a:t>Session 5 - Vector Spaces &amp; Embeddings + </a:t>
            </a:r>
            <a:r>
              <a:rPr lang="en-US" b="1" dirty="0" err="1">
                <a:effectLst/>
              </a:rPr>
              <a:t>DDr</a:t>
            </a:r>
            <a:r>
              <a:rPr lang="en-US" b="1" dirty="0">
                <a:effectLst/>
              </a:rPr>
              <a:t> + CCR + Anchored + </a:t>
            </a:r>
            <a:r>
              <a:rPr lang="en-US" b="1" dirty="0" err="1">
                <a:effectLst/>
              </a:rPr>
              <a:t>Bertopic</a:t>
            </a:r>
            <a:endParaRPr lang="en-US" b="1" dirty="0">
              <a:effectLst/>
            </a:endParaRPr>
          </a:p>
          <a:p>
            <a:r>
              <a:rPr lang="en-US" b="1" dirty="0">
                <a:effectLst/>
              </a:rPr>
              <a:t>Session 10 – Comparing Groups with Text-Derived Measures</a:t>
            </a:r>
          </a:p>
          <a:p>
            <a:r>
              <a:rPr lang="en-US" b="1" dirty="0">
                <a:effectLst/>
              </a:rPr>
              <a:t>Session 11 – Modeling Dependencies &amp; Counts</a:t>
            </a:r>
          </a:p>
          <a:p>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4</a:t>
            </a:fld>
            <a:endParaRPr lang="it-IT"/>
          </a:p>
        </p:txBody>
      </p:sp>
    </p:spTree>
    <p:extLst>
      <p:ext uri="{BB962C8B-B14F-4D97-AF65-F5344CB8AC3E}">
        <p14:creationId xmlns:p14="http://schemas.microsoft.com/office/powerpoint/2010/main" val="1521210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This is where I do have questions for you</a:t>
            </a:r>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5</a:t>
            </a:fld>
            <a:endParaRPr lang="it-IT"/>
          </a:p>
        </p:txBody>
      </p:sp>
    </p:spTree>
    <p:extLst>
      <p:ext uri="{BB962C8B-B14F-4D97-AF65-F5344CB8AC3E}">
        <p14:creationId xmlns:p14="http://schemas.microsoft.com/office/powerpoint/2010/main" val="10584755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First of all, what is misinformation?</a:t>
            </a:r>
            <a:r>
              <a:rPr lang="it-IT" dirty="0"/>
              <a:t> = false,” “inaccurate,” or “</a:t>
            </a:r>
            <a:r>
              <a:rPr lang="it-IT" dirty="0" err="1"/>
              <a:t>incorrect”information</a:t>
            </a:r>
            <a:endParaRPr lang="it-IT" dirty="0"/>
          </a:p>
          <a:p>
            <a:r>
              <a:rPr lang="it-IT" dirty="0" err="1"/>
              <a:t>Disinformation</a:t>
            </a:r>
            <a:r>
              <a:rPr lang="it-IT" dirty="0"/>
              <a:t> = </a:t>
            </a:r>
            <a:r>
              <a:rPr lang="en-US" dirty="0"/>
              <a:t>false information that is also described as being intentionally shared</a:t>
            </a:r>
          </a:p>
          <a:p>
            <a:r>
              <a:rPr lang="en-US" dirty="0"/>
              <a:t>Jayson Blair</a:t>
            </a:r>
          </a:p>
          <a:p>
            <a:r>
              <a:rPr lang="pt-BR" dirty="0"/>
              <a:t>Malinformation = </a:t>
            </a:r>
            <a:r>
              <a:rPr lang="en-US" dirty="0"/>
              <a:t> Information shared for malicious ends (not necessarily false, i.e., doxing)</a:t>
            </a:r>
          </a:p>
          <a:p>
            <a:r>
              <a:rPr lang="en-US" dirty="0"/>
              <a:t>Fake news = similar to disinformation, news that is intentional and verifiably false</a:t>
            </a:r>
          </a:p>
          <a:p>
            <a:r>
              <a:rPr lang="en-US" dirty="0"/>
              <a:t>Rumor = unverified and instrumentally relevant information state-</a:t>
            </a:r>
            <a:r>
              <a:rPr lang="en-US" dirty="0" err="1"/>
              <a:t>ments</a:t>
            </a:r>
            <a:r>
              <a:rPr lang="en-US" dirty="0"/>
              <a:t> in circulation</a:t>
            </a:r>
            <a:endParaRPr lang="pt-BR"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6</a:t>
            </a:fld>
            <a:endParaRPr lang="it-IT"/>
          </a:p>
        </p:txBody>
      </p:sp>
    </p:spTree>
    <p:extLst>
      <p:ext uri="{BB962C8B-B14F-4D97-AF65-F5344CB8AC3E}">
        <p14:creationId xmlns:p14="http://schemas.microsoft.com/office/powerpoint/2010/main" val="10645598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8D857-49AF-D9B9-877B-1331E742353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4C7162E-5752-54F7-048C-E96780EB5C99}"/>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10B4A6ED-3BAA-7776-38E9-99BC34142101}"/>
              </a:ext>
            </a:extLst>
          </p:cNvPr>
          <p:cNvSpPr>
            <a:spLocks noGrp="1"/>
          </p:cNvSpPr>
          <p:nvPr>
            <p:ph type="body" idx="1"/>
          </p:nvPr>
        </p:nvSpPr>
        <p:spPr/>
        <p:txBody>
          <a:bodyPr/>
          <a:lstStyle/>
          <a:p>
            <a:endParaRPr lang="pt-BR" dirty="0"/>
          </a:p>
        </p:txBody>
      </p:sp>
      <p:sp>
        <p:nvSpPr>
          <p:cNvPr id="4" name="Segnaposto numero diapositiva 3">
            <a:extLst>
              <a:ext uri="{FF2B5EF4-FFF2-40B4-BE49-F238E27FC236}">
                <a16:creationId xmlns:a16="http://schemas.microsoft.com/office/drawing/2014/main" id="{B05D4961-313A-033E-D538-A21B858AB027}"/>
              </a:ext>
            </a:extLst>
          </p:cNvPr>
          <p:cNvSpPr>
            <a:spLocks noGrp="1"/>
          </p:cNvSpPr>
          <p:nvPr>
            <p:ph type="sldNum" sz="quarter" idx="5"/>
          </p:nvPr>
        </p:nvSpPr>
        <p:spPr/>
        <p:txBody>
          <a:bodyPr/>
          <a:lstStyle/>
          <a:p>
            <a:fld id="{99DB328D-763F-4F02-A81E-9F12D2471F2D}" type="slidenum">
              <a:rPr lang="it-IT" smtClean="0"/>
              <a:t>7</a:t>
            </a:fld>
            <a:endParaRPr lang="it-IT"/>
          </a:p>
        </p:txBody>
      </p:sp>
    </p:spTree>
    <p:extLst>
      <p:ext uri="{BB962C8B-B14F-4D97-AF65-F5344CB8AC3E}">
        <p14:creationId xmlns:p14="http://schemas.microsoft.com/office/powerpoint/2010/main" val="30923563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D5CC1-7E80-01D1-0C51-49E9BF1899B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AED8AF4-FB7B-AE5A-E6F1-3124B26802C2}"/>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1364178-B9D5-17D5-E77B-1511AE3BD31C}"/>
              </a:ext>
            </a:extLst>
          </p:cNvPr>
          <p:cNvSpPr>
            <a:spLocks noGrp="1"/>
          </p:cNvSpPr>
          <p:nvPr>
            <p:ph type="body" idx="1"/>
          </p:nvPr>
        </p:nvSpPr>
        <p:spPr/>
        <p:txBody>
          <a:bodyPr/>
          <a:lstStyle/>
          <a:p>
            <a:r>
              <a:rPr lang="en-US" dirty="0"/>
              <a:t>Information disorder refers to the ecosystem of false, misleading, or harmful information</a:t>
            </a:r>
            <a:r>
              <a:rPr lang="pt-BR" dirty="0"/>
              <a:t> (includes framed content or selective omission)</a:t>
            </a:r>
            <a:endParaRPr lang="en-US" dirty="0"/>
          </a:p>
        </p:txBody>
      </p:sp>
      <p:sp>
        <p:nvSpPr>
          <p:cNvPr id="4" name="Segnaposto numero diapositiva 3">
            <a:extLst>
              <a:ext uri="{FF2B5EF4-FFF2-40B4-BE49-F238E27FC236}">
                <a16:creationId xmlns:a16="http://schemas.microsoft.com/office/drawing/2014/main" id="{99B8B18B-72C8-E030-D5E1-E0DC6DD8026A}"/>
              </a:ext>
            </a:extLst>
          </p:cNvPr>
          <p:cNvSpPr>
            <a:spLocks noGrp="1"/>
          </p:cNvSpPr>
          <p:nvPr>
            <p:ph type="sldNum" sz="quarter" idx="5"/>
          </p:nvPr>
        </p:nvSpPr>
        <p:spPr/>
        <p:txBody>
          <a:bodyPr/>
          <a:lstStyle/>
          <a:p>
            <a:fld id="{99DB328D-763F-4F02-A81E-9F12D2471F2D}" type="slidenum">
              <a:rPr lang="it-IT" smtClean="0"/>
              <a:t>8</a:t>
            </a:fld>
            <a:endParaRPr lang="it-IT"/>
          </a:p>
        </p:txBody>
      </p:sp>
    </p:spTree>
    <p:extLst>
      <p:ext uri="{BB962C8B-B14F-4D97-AF65-F5344CB8AC3E}">
        <p14:creationId xmlns:p14="http://schemas.microsoft.com/office/powerpoint/2010/main" val="32866106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FE1D7-0D93-2023-A4EA-1714DBD6E03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E3FA2BF-DF4B-1247-D771-87ED6CCE62A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290F34BB-ADAD-5A4A-7DC6-16CB5A074FD1}"/>
              </a:ext>
            </a:extLst>
          </p:cNvPr>
          <p:cNvSpPr>
            <a:spLocks noGrp="1"/>
          </p:cNvSpPr>
          <p:nvPr>
            <p:ph type="body" idx="1"/>
          </p:nvPr>
        </p:nvSpPr>
        <p:spPr/>
        <p:txBody>
          <a:bodyPr/>
          <a:lstStyle/>
          <a:p>
            <a:r>
              <a:rPr lang="en-US" dirty="0"/>
              <a:t>the point isn't to teach misinformation studies, it's to establish that the phenomenon is slippery and contested, which motivates needing better tools than intuition.</a:t>
            </a:r>
            <a:endParaRPr lang="pt-BR" dirty="0"/>
          </a:p>
        </p:txBody>
      </p:sp>
      <p:sp>
        <p:nvSpPr>
          <p:cNvPr id="4" name="Segnaposto numero diapositiva 3">
            <a:extLst>
              <a:ext uri="{FF2B5EF4-FFF2-40B4-BE49-F238E27FC236}">
                <a16:creationId xmlns:a16="http://schemas.microsoft.com/office/drawing/2014/main" id="{95E79DCE-D374-06FE-00FD-62A72036423C}"/>
              </a:ext>
            </a:extLst>
          </p:cNvPr>
          <p:cNvSpPr>
            <a:spLocks noGrp="1"/>
          </p:cNvSpPr>
          <p:nvPr>
            <p:ph type="sldNum" sz="quarter" idx="5"/>
          </p:nvPr>
        </p:nvSpPr>
        <p:spPr/>
        <p:txBody>
          <a:bodyPr/>
          <a:lstStyle/>
          <a:p>
            <a:fld id="{99DB328D-763F-4F02-A81E-9F12D2471F2D}" type="slidenum">
              <a:rPr lang="it-IT" smtClean="0"/>
              <a:t>9</a:t>
            </a:fld>
            <a:endParaRPr lang="it-IT"/>
          </a:p>
        </p:txBody>
      </p:sp>
    </p:spTree>
    <p:extLst>
      <p:ext uri="{BB962C8B-B14F-4D97-AF65-F5344CB8AC3E}">
        <p14:creationId xmlns:p14="http://schemas.microsoft.com/office/powerpoint/2010/main" val="187513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Cognitive efficiency | Motivated reasoning | Social dynamics | Emotional Mechanisms | Information Environment Effect</a:t>
            </a:r>
          </a:p>
          <a:p>
            <a:r>
              <a:rPr lang="pt-BR" dirty="0"/>
              <a:t>Miserliness = general tendency of people to look for quick solutions (mental shortcuts)</a:t>
            </a:r>
          </a:p>
          <a:p>
            <a:r>
              <a:rPr lang="pt-BR" dirty="0"/>
              <a:t>Daniel Kahnemann Thinking Fast and Slow: system 1 works automatically and quickly, system 2 is an agency choice of effort</a:t>
            </a:r>
          </a:p>
          <a:p>
            <a:r>
              <a:rPr lang="pt-BR" dirty="0"/>
              <a:t>Heuristics = indicators we use to make quick judgement (often wrongly) primitives -&gt; nowadays -&gt; information attention war (Frusciante)</a:t>
            </a:r>
          </a:p>
          <a:p>
            <a:r>
              <a:rPr lang="pt-BR" dirty="0"/>
              <a:t>Confirmation bias = believe information that confirms pre-existing beliefs and reject contrarian information</a:t>
            </a:r>
          </a:p>
          <a:p>
            <a:r>
              <a:rPr lang="pt-BR" dirty="0"/>
              <a:t>Selective exposure = </a:t>
            </a:r>
            <a:r>
              <a:rPr lang="en-US" dirty="0"/>
              <a:t>tendency to seek out and prefer information that aligns with existing attitudes or beliefs</a:t>
            </a:r>
          </a:p>
          <a:p>
            <a:r>
              <a:rPr lang="en-US" dirty="0"/>
              <a:t>Identity-protection cognition = preference information that connects with what people think they are (their group and community) -&gt; accuracy doesn’t matter, sharing != believing</a:t>
            </a:r>
          </a:p>
          <a:p>
            <a:r>
              <a:rPr lang="en-US" dirty="0"/>
              <a:t>Naïve realism = what we see and perceive is real and corresponds to truth (and others are wrong)</a:t>
            </a:r>
            <a:endParaRPr lang="pt-BR" dirty="0"/>
          </a:p>
          <a:p>
            <a:r>
              <a:rPr lang="en-US" sz="1200" b="0" i="0" kern="1200" dirty="0">
                <a:solidFill>
                  <a:schemeClr val="tx1"/>
                </a:solidFill>
                <a:effectLst/>
                <a:latin typeface="+mn-lt"/>
                <a:ea typeface="+mn-ea"/>
                <a:cs typeface="+mn-cs"/>
              </a:rPr>
              <a:t>Pluralistic ignorance is a lack of understanding about what others in society think and believe.</a:t>
            </a:r>
          </a:p>
          <a:p>
            <a:r>
              <a:rPr lang="en-US" sz="1200" b="0" i="0" kern="1200" dirty="0">
                <a:solidFill>
                  <a:schemeClr val="tx1"/>
                </a:solidFill>
                <a:effectLst/>
                <a:latin typeface="+mn-lt"/>
                <a:ea typeface="+mn-ea"/>
                <a:cs typeface="+mn-cs"/>
              </a:rPr>
              <a:t>Illusory Truth Effect = Repeated statements receive higher truth ratings than new statements (Knowledge does not protect against it)</a:t>
            </a:r>
          </a:p>
          <a:p>
            <a:r>
              <a:rPr lang="en-US" sz="1200" b="0" i="0" kern="1200" dirty="0">
                <a:solidFill>
                  <a:schemeClr val="tx1"/>
                </a:solidFill>
                <a:effectLst/>
                <a:latin typeface="+mn-lt"/>
                <a:ea typeface="+mn-ea"/>
                <a:cs typeface="+mn-cs"/>
              </a:rPr>
              <a:t>Bandwagon effect = join what they perceive to be existing or expected majorities or dominant positions in society.</a:t>
            </a:r>
            <a:endParaRPr lang="pt-BR" dirty="0"/>
          </a:p>
          <a:p>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10</a:t>
            </a:fld>
            <a:endParaRPr lang="it-IT"/>
          </a:p>
        </p:txBody>
      </p:sp>
    </p:spTree>
    <p:extLst>
      <p:ext uri="{BB962C8B-B14F-4D97-AF65-F5344CB8AC3E}">
        <p14:creationId xmlns:p14="http://schemas.microsoft.com/office/powerpoint/2010/main" val="32357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7CE46-A9AA-3242-2636-C61D324161F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E1CD87B-4FDA-1720-A5F0-D2D09566832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B90F62F-40BD-C434-5393-37D8F6453374}"/>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D0774A11-DB07-F9AB-D121-FC67E3BA97AE}"/>
              </a:ext>
            </a:extLst>
          </p:cNvPr>
          <p:cNvSpPr>
            <a:spLocks noGrp="1"/>
          </p:cNvSpPr>
          <p:nvPr>
            <p:ph type="sldNum" sz="quarter" idx="5"/>
          </p:nvPr>
        </p:nvSpPr>
        <p:spPr/>
        <p:txBody>
          <a:bodyPr/>
          <a:lstStyle/>
          <a:p>
            <a:fld id="{99DB328D-763F-4F02-A81E-9F12D2471F2D}" type="slidenum">
              <a:rPr lang="it-IT" smtClean="0"/>
              <a:t>11</a:t>
            </a:fld>
            <a:endParaRPr lang="it-IT"/>
          </a:p>
        </p:txBody>
      </p:sp>
    </p:spTree>
    <p:extLst>
      <p:ext uri="{BB962C8B-B14F-4D97-AF65-F5344CB8AC3E}">
        <p14:creationId xmlns:p14="http://schemas.microsoft.com/office/powerpoint/2010/main" val="4027726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Continued-influence effect</a:t>
            </a:r>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13</a:t>
            </a:fld>
            <a:endParaRPr lang="it-IT"/>
          </a:p>
        </p:txBody>
      </p:sp>
    </p:spTree>
    <p:extLst>
      <p:ext uri="{BB962C8B-B14F-4D97-AF65-F5344CB8AC3E}">
        <p14:creationId xmlns:p14="http://schemas.microsoft.com/office/powerpoint/2010/main" val="980671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Yoel Roth (Twitter Integrity Team) 2020 Donald Trump mail ballot</a:t>
            </a:r>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17</a:t>
            </a:fld>
            <a:endParaRPr lang="it-IT"/>
          </a:p>
        </p:txBody>
      </p:sp>
    </p:spTree>
    <p:extLst>
      <p:ext uri="{BB962C8B-B14F-4D97-AF65-F5344CB8AC3E}">
        <p14:creationId xmlns:p14="http://schemas.microsoft.com/office/powerpoint/2010/main" val="723117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pt-BR" dirty="0"/>
              <a:t>Cambridge analytica</a:t>
            </a:r>
          </a:p>
          <a:p>
            <a:r>
              <a:rPr lang="pt-BR" dirty="0"/>
              <a:t>Salvi et al.</a:t>
            </a:r>
            <a:endParaRPr lang="it-IT" dirty="0"/>
          </a:p>
        </p:txBody>
      </p:sp>
      <p:sp>
        <p:nvSpPr>
          <p:cNvPr id="4" name="Segnaposto numero diapositiva 3"/>
          <p:cNvSpPr>
            <a:spLocks noGrp="1"/>
          </p:cNvSpPr>
          <p:nvPr>
            <p:ph type="sldNum" sz="quarter" idx="5"/>
          </p:nvPr>
        </p:nvSpPr>
        <p:spPr/>
        <p:txBody>
          <a:bodyPr/>
          <a:lstStyle/>
          <a:p>
            <a:fld id="{99DB328D-763F-4F02-A81E-9F12D2471F2D}" type="slidenum">
              <a:rPr lang="it-IT" smtClean="0"/>
              <a:t>18</a:t>
            </a:fld>
            <a:endParaRPr lang="it-IT"/>
          </a:p>
        </p:txBody>
      </p:sp>
    </p:spTree>
    <p:extLst>
      <p:ext uri="{BB962C8B-B14F-4D97-AF65-F5344CB8AC3E}">
        <p14:creationId xmlns:p14="http://schemas.microsoft.com/office/powerpoint/2010/main" val="7886805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sz="1200" b="0" i="0" kern="1200" dirty="0" err="1">
                <a:solidFill>
                  <a:schemeClr val="tx1"/>
                </a:solidFill>
                <a:effectLst/>
                <a:latin typeface="+mn-lt"/>
                <a:ea typeface="+mn-ea"/>
                <a:cs typeface="+mn-cs"/>
              </a:rPr>
              <a:t>Prebunking</a:t>
            </a:r>
            <a:r>
              <a:rPr lang="en-US" sz="1200" b="0" i="0" kern="1200" dirty="0">
                <a:solidFill>
                  <a:schemeClr val="tx1"/>
                </a:solidFill>
                <a:effectLst/>
                <a:latin typeface="+mn-lt"/>
                <a:ea typeface="+mn-ea"/>
                <a:cs typeface="+mn-cs"/>
              </a:rPr>
              <a:t> seeks to help people recognize and resist subsequently encountered misinformation, even if it is novel. </a:t>
            </a:r>
          </a:p>
          <a:p>
            <a:r>
              <a:rPr lang="en-US" sz="1200" b="0" i="0" kern="1200" dirty="0">
                <a:solidFill>
                  <a:schemeClr val="tx1"/>
                </a:solidFill>
                <a:effectLst/>
                <a:latin typeface="+mn-lt"/>
                <a:ea typeface="+mn-ea"/>
                <a:cs typeface="+mn-cs"/>
              </a:rPr>
              <a:t>Debunking emphasizes responding to specific misinformation after exposure to demonstrate why it is false.</a:t>
            </a:r>
          </a:p>
          <a:p>
            <a:r>
              <a:rPr lang="pt-BR" dirty="0"/>
              <a:t>Classifiers are closer to debunking than prebunking since they are reactive, it activates after fake news is created, but they can be part of prebunking interventions if coadiuvated with e.g., warnings, friction, education interventions after detection</a:t>
            </a:r>
          </a:p>
          <a:p>
            <a:r>
              <a:rPr lang="pt-BR" dirty="0"/>
              <a:t>Why prebunking (i.e., inoculation) is usually preferred: more generalizable, post-inoculation talk but it’s slower, more expensive</a:t>
            </a:r>
          </a:p>
        </p:txBody>
      </p:sp>
      <p:sp>
        <p:nvSpPr>
          <p:cNvPr id="4" name="Segnaposto numero diapositiva 3"/>
          <p:cNvSpPr>
            <a:spLocks noGrp="1"/>
          </p:cNvSpPr>
          <p:nvPr>
            <p:ph type="sldNum" sz="quarter" idx="5"/>
          </p:nvPr>
        </p:nvSpPr>
        <p:spPr/>
        <p:txBody>
          <a:bodyPr/>
          <a:lstStyle/>
          <a:p>
            <a:fld id="{99DB328D-763F-4F02-A81E-9F12D2471F2D}" type="slidenum">
              <a:rPr lang="it-IT" smtClean="0"/>
              <a:t>19</a:t>
            </a:fld>
            <a:endParaRPr lang="it-IT"/>
          </a:p>
        </p:txBody>
      </p:sp>
    </p:spTree>
    <p:extLst>
      <p:ext uri="{BB962C8B-B14F-4D97-AF65-F5344CB8AC3E}">
        <p14:creationId xmlns:p14="http://schemas.microsoft.com/office/powerpoint/2010/main" val="16425741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A3C0E-CF3C-A2CA-38DD-A401F60A255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ED5C83F-486B-C1A3-BF87-319673307951}"/>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A17F70E-E3BE-60C8-1789-D655F32AD41D}"/>
              </a:ext>
            </a:extLst>
          </p:cNvPr>
          <p:cNvSpPr>
            <a:spLocks noGrp="1"/>
          </p:cNvSpPr>
          <p:nvPr>
            <p:ph type="body" idx="1"/>
          </p:nvPr>
        </p:nvSpPr>
        <p:spPr/>
        <p:txBody>
          <a:bodyPr/>
          <a:lstStyle/>
          <a:p>
            <a:r>
              <a:rPr lang="en-US" sz="1200" b="0" i="0" kern="1200" dirty="0" err="1">
                <a:solidFill>
                  <a:schemeClr val="tx1"/>
                </a:solidFill>
                <a:effectLst/>
                <a:latin typeface="+mn-lt"/>
                <a:ea typeface="+mn-ea"/>
                <a:cs typeface="+mn-cs"/>
              </a:rPr>
              <a:t>Prebunking</a:t>
            </a:r>
            <a:r>
              <a:rPr lang="en-US" sz="1200" b="0" i="0" kern="1200" dirty="0">
                <a:solidFill>
                  <a:schemeClr val="tx1"/>
                </a:solidFill>
                <a:effectLst/>
                <a:latin typeface="+mn-lt"/>
                <a:ea typeface="+mn-ea"/>
                <a:cs typeface="+mn-cs"/>
              </a:rPr>
              <a:t> seeks to help people recognize and resist subsequently encountered misinformation, even if it is novel. </a:t>
            </a:r>
          </a:p>
          <a:p>
            <a:r>
              <a:rPr lang="en-US" sz="1200" b="0" i="0" kern="1200" dirty="0">
                <a:solidFill>
                  <a:schemeClr val="tx1"/>
                </a:solidFill>
                <a:effectLst/>
                <a:latin typeface="+mn-lt"/>
                <a:ea typeface="+mn-ea"/>
                <a:cs typeface="+mn-cs"/>
              </a:rPr>
              <a:t>Debunking emphasizes responding to specific misinformation after exposure to demonstrate why it is false.</a:t>
            </a:r>
          </a:p>
          <a:p>
            <a:r>
              <a:rPr lang="pt-BR" dirty="0"/>
              <a:t>Classifiers are closer to debunking than prebunking since they are reactive, it activates after fake news is created</a:t>
            </a:r>
          </a:p>
          <a:p>
            <a:r>
              <a:rPr lang="pt-BR" dirty="0"/>
              <a:t>Why prebunking (i.e., inoculation) is usually preferred: more generalizable, post-inoculation talk but it’s slower, more expensive</a:t>
            </a:r>
          </a:p>
          <a:p>
            <a:r>
              <a:rPr lang="en-US" i="1" dirty="0"/>
              <a:t>debunking alone doesn't work</a:t>
            </a:r>
            <a:r>
              <a:rPr lang="en-US" dirty="0"/>
              <a:t>, and effective interventions need to target the psychological mechanisms underneath.</a:t>
            </a:r>
            <a:endParaRPr lang="pt-BR" dirty="0"/>
          </a:p>
        </p:txBody>
      </p:sp>
      <p:sp>
        <p:nvSpPr>
          <p:cNvPr id="4" name="Segnaposto numero diapositiva 3">
            <a:extLst>
              <a:ext uri="{FF2B5EF4-FFF2-40B4-BE49-F238E27FC236}">
                <a16:creationId xmlns:a16="http://schemas.microsoft.com/office/drawing/2014/main" id="{44C99F86-C7A6-CFFC-5CE4-A632A69071D5}"/>
              </a:ext>
            </a:extLst>
          </p:cNvPr>
          <p:cNvSpPr>
            <a:spLocks noGrp="1"/>
          </p:cNvSpPr>
          <p:nvPr>
            <p:ph type="sldNum" sz="quarter" idx="5"/>
          </p:nvPr>
        </p:nvSpPr>
        <p:spPr/>
        <p:txBody>
          <a:bodyPr/>
          <a:lstStyle/>
          <a:p>
            <a:fld id="{99DB328D-763F-4F02-A81E-9F12D2471F2D}" type="slidenum">
              <a:rPr lang="it-IT" smtClean="0"/>
              <a:t>20</a:t>
            </a:fld>
            <a:endParaRPr lang="it-IT"/>
          </a:p>
        </p:txBody>
      </p:sp>
    </p:spTree>
    <p:extLst>
      <p:ext uri="{BB962C8B-B14F-4D97-AF65-F5344CB8AC3E}">
        <p14:creationId xmlns:p14="http://schemas.microsoft.com/office/powerpoint/2010/main" val="2643986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CD206-1BE9-DC3B-589A-35701AE1826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0A3BFEB-6583-22F4-10B2-7D6AF4BBE6E4}"/>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4AAAC605-00A7-F28E-7E97-7205B4BEC505}"/>
              </a:ext>
            </a:extLst>
          </p:cNvPr>
          <p:cNvSpPr>
            <a:spLocks noGrp="1"/>
          </p:cNvSpPr>
          <p:nvPr>
            <p:ph type="body" idx="1"/>
          </p:nvPr>
        </p:nvSpPr>
        <p:spPr/>
        <p:txBody>
          <a:bodyPr/>
          <a:lstStyle/>
          <a:p>
            <a:r>
              <a:rPr lang="pt-BR" dirty="0"/>
              <a:t>Mind as in </a:t>
            </a:r>
            <a:r>
              <a:rPr lang="it-IT" dirty="0" err="1"/>
              <a:t>psychological</a:t>
            </a:r>
            <a:r>
              <a:rPr lang="it-IT" dirty="0"/>
              <a:t> and cognitive </a:t>
            </a:r>
            <a:r>
              <a:rPr lang="it-IT" dirty="0" err="1"/>
              <a:t>construct</a:t>
            </a:r>
            <a:r>
              <a:rPr lang="it-IT" dirty="0"/>
              <a:t> </a:t>
            </a:r>
            <a:r>
              <a:rPr lang="it-IT" dirty="0" err="1"/>
              <a:t>representation</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idea is to leverage computation (how?) to </a:t>
            </a:r>
            <a:r>
              <a:rPr lang="en-US" dirty="0" err="1"/>
              <a:t>analyse</a:t>
            </a:r>
            <a:r>
              <a:rPr lang="en-US" dirty="0"/>
              <a:t> how psychology manifests in language (go through Venn)</a:t>
            </a:r>
            <a:endParaRPr lang="it-IT" dirty="0"/>
          </a:p>
          <a:p>
            <a:r>
              <a:rPr lang="en-US" dirty="0"/>
              <a:t>Language reveals: Identity Emotions Moral values Beliefs Cognitive style</a:t>
            </a:r>
          </a:p>
          <a:p>
            <a:r>
              <a:rPr lang="en-US" dirty="0"/>
              <a:t>Text becomes: A behavioral trace of mental processes.</a:t>
            </a:r>
          </a:p>
          <a:p>
            <a:endParaRPr lang="it-IT" dirty="0"/>
          </a:p>
        </p:txBody>
      </p:sp>
      <p:sp>
        <p:nvSpPr>
          <p:cNvPr id="4" name="Segnaposto numero diapositiva 3">
            <a:extLst>
              <a:ext uri="{FF2B5EF4-FFF2-40B4-BE49-F238E27FC236}">
                <a16:creationId xmlns:a16="http://schemas.microsoft.com/office/drawing/2014/main" id="{FD753427-2DDC-24F0-7075-B79EE6753DC8}"/>
              </a:ext>
            </a:extLst>
          </p:cNvPr>
          <p:cNvSpPr>
            <a:spLocks noGrp="1"/>
          </p:cNvSpPr>
          <p:nvPr>
            <p:ph type="sldNum" sz="quarter" idx="5"/>
          </p:nvPr>
        </p:nvSpPr>
        <p:spPr/>
        <p:txBody>
          <a:bodyPr/>
          <a:lstStyle/>
          <a:p>
            <a:fld id="{99DB328D-763F-4F02-A81E-9F12D2471F2D}" type="slidenum">
              <a:rPr lang="it-IT" smtClean="0"/>
              <a:t>21</a:t>
            </a:fld>
            <a:endParaRPr lang="it-IT"/>
          </a:p>
        </p:txBody>
      </p:sp>
    </p:spTree>
    <p:extLst>
      <p:ext uri="{BB962C8B-B14F-4D97-AF65-F5344CB8AC3E}">
        <p14:creationId xmlns:p14="http://schemas.microsoft.com/office/powerpoint/2010/main" val="13983732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https://yourmist.streamlit.app/</a:t>
            </a:r>
          </a:p>
        </p:txBody>
      </p:sp>
      <p:sp>
        <p:nvSpPr>
          <p:cNvPr id="4" name="Segnaposto numero diapositiva 3"/>
          <p:cNvSpPr>
            <a:spLocks noGrp="1"/>
          </p:cNvSpPr>
          <p:nvPr>
            <p:ph type="sldNum" sz="quarter" idx="5"/>
          </p:nvPr>
        </p:nvSpPr>
        <p:spPr/>
        <p:txBody>
          <a:bodyPr/>
          <a:lstStyle/>
          <a:p>
            <a:fld id="{99DB328D-763F-4F02-A81E-9F12D2471F2D}" type="slidenum">
              <a:rPr lang="it-IT" smtClean="0"/>
              <a:t>24</a:t>
            </a:fld>
            <a:endParaRPr lang="it-IT"/>
          </a:p>
        </p:txBody>
      </p:sp>
    </p:spTree>
    <p:extLst>
      <p:ext uri="{BB962C8B-B14F-4D97-AF65-F5344CB8AC3E}">
        <p14:creationId xmlns:p14="http://schemas.microsoft.com/office/powerpoint/2010/main" val="28571034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0F42592-981A-8883-C21B-ACBFA0B64966}"/>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066EE105-225A-CB65-87B3-0581880C9C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CEEA1120-40C9-90C0-463D-900B69AA40D7}"/>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3D09A871-A2C2-65C2-DC4C-2AF0BEF5D81E}"/>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3C5C10FA-FBB2-625E-668F-420D412A7DD2}"/>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16817286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78E24BD-D4B9-E47E-A8D4-5EBA192184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BB862FD5-BF51-A81D-38F4-E8E4CFEB018C}"/>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163746F4-9496-75E2-0F78-759F537F45A6}"/>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B572AFD3-EFEA-BFE2-29CC-350B7F5EB150}"/>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7CBAAB5-44AA-B631-CFB8-8034B7C68680}"/>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7088695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EC68055-6BE7-BD51-1158-4EDA95CE69E2}"/>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DC32D4D4-30D6-BA12-E302-323BAD4E19F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02994019-B0B5-813C-B2BE-5DD932567D8B}"/>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3176E7FC-CCB6-1C7A-7B01-DD8DDA985ECB}"/>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09C9E6A-7EEE-4E56-B0A4-A70F62028FE0}"/>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135124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C04A92-976D-F20E-91B3-67509EC124B2}"/>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C20F46FD-6F73-CAAF-9100-DAAE000472A2}"/>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31636B7-B5CD-F6D1-E071-F5E755BCEB92}"/>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C242A72C-AB93-4EB2-A2DF-DBDE69777BE1}"/>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6" name="Segnaposto piè di pagina 5">
            <a:extLst>
              <a:ext uri="{FF2B5EF4-FFF2-40B4-BE49-F238E27FC236}">
                <a16:creationId xmlns:a16="http://schemas.microsoft.com/office/drawing/2014/main" id="{FE097500-BB29-DEF4-8A3E-0F56FF33C52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08B5106-38EF-5E3B-9B03-280E15F71402}"/>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597286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BB35550-B0A0-4BF7-CAC8-B07D95B85638}"/>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89A1E310-A216-9161-CB62-B85C87C01C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2038338C-4D26-71F3-EA14-4C4B2397BE2E}"/>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DB4FB537-C5DC-7C5A-2A2A-DBD64CB7C3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5AB1FDF2-FB6D-53B2-4E47-B7CCDDFED362}"/>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CD4E8DFC-887A-B589-05DC-16D51E760B2F}"/>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8" name="Segnaposto piè di pagina 7">
            <a:extLst>
              <a:ext uri="{FF2B5EF4-FFF2-40B4-BE49-F238E27FC236}">
                <a16:creationId xmlns:a16="http://schemas.microsoft.com/office/drawing/2014/main" id="{36AB4E29-9723-98C1-7F2D-7B0FB578C232}"/>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09F63636-5981-6ECA-6583-1ABD80F1C531}"/>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258406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40DB9-FBEA-8854-91BD-632A3E46D3BD}"/>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D3E1BA83-8628-578C-1224-F6150EBA7BAB}"/>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4" name="Segnaposto piè di pagina 3">
            <a:extLst>
              <a:ext uri="{FF2B5EF4-FFF2-40B4-BE49-F238E27FC236}">
                <a16:creationId xmlns:a16="http://schemas.microsoft.com/office/drawing/2014/main" id="{65CE72DB-8675-8F0C-CED0-23395A214135}"/>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28B3DF73-AC00-7322-D2FD-BCAE0D0A8A56}"/>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3600150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09C19DA7-A7B7-C477-B886-049F44FDC2EE}"/>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3" name="Segnaposto piè di pagina 2">
            <a:extLst>
              <a:ext uri="{FF2B5EF4-FFF2-40B4-BE49-F238E27FC236}">
                <a16:creationId xmlns:a16="http://schemas.microsoft.com/office/drawing/2014/main" id="{6A533F73-66A9-F3EB-0B67-E06C724D90E1}"/>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658EF943-EE4A-3C83-A35C-67CA692B848B}"/>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1919966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20EF991-F95C-91BD-DB18-1220C2DC73AE}"/>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94BF03-A86A-4AF0-A177-662D527720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7974044A-DD50-7092-DBBC-E5AE0B091E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0FE1ED14-8531-0F4E-2258-BA9FB1B00730}"/>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6" name="Segnaposto piè di pagina 5">
            <a:extLst>
              <a:ext uri="{FF2B5EF4-FFF2-40B4-BE49-F238E27FC236}">
                <a16:creationId xmlns:a16="http://schemas.microsoft.com/office/drawing/2014/main" id="{A99EB072-0467-8ACA-E089-365EF463EB6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A301EFF-75E0-025D-C3C8-B1766A522FAA}"/>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206989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FAC1234-B99B-42AC-F476-DD05CD33BED4}"/>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49A46033-439B-3F5F-4E39-F4DB82F08E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CAED3079-0E10-CECA-D37F-819AD3DC65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22CB452-B8A6-0B9F-46A4-E7984011A8ED}"/>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6" name="Segnaposto piè di pagina 5">
            <a:extLst>
              <a:ext uri="{FF2B5EF4-FFF2-40B4-BE49-F238E27FC236}">
                <a16:creationId xmlns:a16="http://schemas.microsoft.com/office/drawing/2014/main" id="{05ECA21D-0023-2241-56B2-C514B84B4182}"/>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A0D7EE04-BAFF-DC7E-8729-0E06CD9EBFBE}"/>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2481697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9981A68-259C-59DB-2B8C-BDD8BC7966E9}"/>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B7BCD853-A469-79B8-1FBD-97C4D7DC9F8B}"/>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13FF21A1-4962-3CF6-38C1-389A49887CEF}"/>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6FA90329-13F8-72A8-8405-FBD41753CDD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84A51AA-15B0-5EF1-7F98-15C3F5483435}"/>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31869754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EE4DB5DD-3630-D05D-6354-892B6B360F7B}"/>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F469CA68-0084-D3FB-F0BE-EFD627411303}"/>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6A7B141-5412-C09A-545B-4B1414649A53}"/>
              </a:ext>
            </a:extLst>
          </p:cNvPr>
          <p:cNvSpPr>
            <a:spLocks noGrp="1"/>
          </p:cNvSpPr>
          <p:nvPr>
            <p:ph type="dt" sz="half" idx="10"/>
          </p:nvPr>
        </p:nvSpPr>
        <p:spPr/>
        <p:txBody>
          <a:body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A04FD9DF-14B6-16E6-640D-4C2CC89767B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613D9E5-3D89-5DD3-E617-37E7A5D84FF2}"/>
              </a:ext>
            </a:extLst>
          </p:cNvPr>
          <p:cNvSpPr>
            <a:spLocks noGrp="1"/>
          </p:cNvSpPr>
          <p:nvPr>
            <p:ph type="sldNum" sz="quarter" idx="12"/>
          </p:nvPr>
        </p:nvSpPr>
        <p:spPr/>
        <p:txBody>
          <a:bodyPr/>
          <a:lstStyle/>
          <a:p>
            <a:fld id="{8543B9F2-5F80-43E0-A349-C5F67875A628}" type="slidenum">
              <a:rPr lang="it-IT" smtClean="0"/>
              <a:t>‹N›</a:t>
            </a:fld>
            <a:endParaRPr lang="it-IT"/>
          </a:p>
        </p:txBody>
      </p:sp>
    </p:spTree>
    <p:extLst>
      <p:ext uri="{BB962C8B-B14F-4D97-AF65-F5344CB8AC3E}">
        <p14:creationId xmlns:p14="http://schemas.microsoft.com/office/powerpoint/2010/main" val="1985963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D9655094-A813-3B9E-BCBF-F6C9DF5316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D6D8E7A6-FC08-55F7-6B8F-3098F3B3A91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1E5DB6ED-EED6-FBF6-E824-A60F665BA0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9B77B62-B9B7-42A1-9B35-726B8340D31A}" type="datetimeFigureOut">
              <a:rPr lang="it-IT" smtClean="0"/>
              <a:t>23/02/2026</a:t>
            </a:fld>
            <a:endParaRPr lang="it-IT"/>
          </a:p>
        </p:txBody>
      </p:sp>
      <p:sp>
        <p:nvSpPr>
          <p:cNvPr id="5" name="Segnaposto piè di pagina 4">
            <a:extLst>
              <a:ext uri="{FF2B5EF4-FFF2-40B4-BE49-F238E27FC236}">
                <a16:creationId xmlns:a16="http://schemas.microsoft.com/office/drawing/2014/main" id="{D7F76F9B-7E0B-85F3-3F20-34A0450B81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BDE54157-7CC9-67CA-34F0-3277EF9B34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543B9F2-5F80-43E0-A349-C5F67875A628}" type="slidenum">
              <a:rPr lang="it-IT" smtClean="0"/>
              <a:t>‹N›</a:t>
            </a:fld>
            <a:endParaRPr lang="it-IT"/>
          </a:p>
        </p:txBody>
      </p:sp>
    </p:spTree>
    <p:extLst>
      <p:ext uri="{BB962C8B-B14F-4D97-AF65-F5344CB8AC3E}">
        <p14:creationId xmlns:p14="http://schemas.microsoft.com/office/powerpoint/2010/main" val="11829621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68D442E-89C7-EC0F-CD08-6EC76AB5B81F}"/>
              </a:ext>
            </a:extLst>
          </p:cNvPr>
          <p:cNvSpPr>
            <a:spLocks noGrp="1"/>
          </p:cNvSpPr>
          <p:nvPr>
            <p:ph type="ctrTitle"/>
          </p:nvPr>
        </p:nvSpPr>
        <p:spPr/>
        <p:txBody>
          <a:bodyPr>
            <a:normAutofit fontScale="90000"/>
          </a:bodyPr>
          <a:lstStyle/>
          <a:p>
            <a:r>
              <a:rPr lang="pt-BR" dirty="0"/>
              <a:t>MO850 – Tópicos Avançados em Ciência da</a:t>
            </a:r>
            <a:br>
              <a:rPr lang="pt-BR" dirty="0"/>
            </a:br>
            <a:r>
              <a:rPr lang="pt-BR" dirty="0"/>
              <a:t>Computação I</a:t>
            </a:r>
            <a:endParaRPr lang="it-IT" dirty="0"/>
          </a:p>
        </p:txBody>
      </p:sp>
      <p:sp>
        <p:nvSpPr>
          <p:cNvPr id="3" name="Sottotitolo 2">
            <a:extLst>
              <a:ext uri="{FF2B5EF4-FFF2-40B4-BE49-F238E27FC236}">
                <a16:creationId xmlns:a16="http://schemas.microsoft.com/office/drawing/2014/main" id="{F6342D76-F852-3FA9-B58B-DC655336448D}"/>
              </a:ext>
            </a:extLst>
          </p:cNvPr>
          <p:cNvSpPr>
            <a:spLocks noGrp="1"/>
          </p:cNvSpPr>
          <p:nvPr>
            <p:ph type="subTitle" idx="1"/>
          </p:nvPr>
        </p:nvSpPr>
        <p:spPr/>
        <p:txBody>
          <a:bodyPr/>
          <a:lstStyle/>
          <a:p>
            <a:r>
              <a:rPr lang="pt-BR" dirty="0"/>
              <a:t>Dr. Fabio Carrella</a:t>
            </a:r>
            <a:endParaRPr lang="it-IT" dirty="0"/>
          </a:p>
        </p:txBody>
      </p:sp>
    </p:spTree>
    <p:extLst>
      <p:ext uri="{BB962C8B-B14F-4D97-AF65-F5344CB8AC3E}">
        <p14:creationId xmlns:p14="http://schemas.microsoft.com/office/powerpoint/2010/main" val="33375625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AE64F4-E439-3CF6-991A-5B1723033A82}"/>
              </a:ext>
            </a:extLst>
          </p:cNvPr>
          <p:cNvSpPr>
            <a:spLocks noGrp="1"/>
          </p:cNvSpPr>
          <p:nvPr>
            <p:ph type="title"/>
          </p:nvPr>
        </p:nvSpPr>
        <p:spPr/>
        <p:txBody>
          <a:bodyPr/>
          <a:lstStyle/>
          <a:p>
            <a:r>
              <a:rPr lang="pt-BR" dirty="0"/>
              <a:t>What is this course about?</a:t>
            </a:r>
            <a:endParaRPr lang="it-IT" dirty="0"/>
          </a:p>
        </p:txBody>
      </p:sp>
      <p:sp>
        <p:nvSpPr>
          <p:cNvPr id="3" name="Segnaposto contenuto 2">
            <a:extLst>
              <a:ext uri="{FF2B5EF4-FFF2-40B4-BE49-F238E27FC236}">
                <a16:creationId xmlns:a16="http://schemas.microsoft.com/office/drawing/2014/main" id="{9F7E3C7E-ED33-BB6E-A497-4FD98281931C}"/>
              </a:ext>
            </a:extLst>
          </p:cNvPr>
          <p:cNvSpPr>
            <a:spLocks noGrp="1"/>
          </p:cNvSpPr>
          <p:nvPr>
            <p:ph idx="1"/>
          </p:nvPr>
        </p:nvSpPr>
        <p:spPr>
          <a:xfrm>
            <a:off x="838201" y="1825625"/>
            <a:ext cx="5257800" cy="4351338"/>
          </a:xfrm>
        </p:spPr>
        <p:txBody>
          <a:bodyPr>
            <a:normAutofit/>
          </a:bodyPr>
          <a:lstStyle/>
          <a:p>
            <a:r>
              <a:rPr lang="pt-BR" dirty="0"/>
              <a:t>Natural language processing...with a twist.</a:t>
            </a:r>
          </a:p>
        </p:txBody>
      </p:sp>
      <p:graphicFrame>
        <p:nvGraphicFramePr>
          <p:cNvPr id="4" name="Diagramma 3">
            <a:extLst>
              <a:ext uri="{FF2B5EF4-FFF2-40B4-BE49-F238E27FC236}">
                <a16:creationId xmlns:a16="http://schemas.microsoft.com/office/drawing/2014/main" id="{688E9A27-F006-715F-D471-A307F8D4EBD3}"/>
              </a:ext>
            </a:extLst>
          </p:cNvPr>
          <p:cNvGraphicFramePr/>
          <p:nvPr>
            <p:extLst>
              <p:ext uri="{D42A27DB-BD31-4B8C-83A1-F6EECF244321}">
                <p14:modId xmlns:p14="http://schemas.microsoft.com/office/powerpoint/2010/main" val="695976813"/>
              </p:ext>
            </p:extLst>
          </p:nvPr>
        </p:nvGraphicFramePr>
        <p:xfrm>
          <a:off x="5084957" y="1690688"/>
          <a:ext cx="7107044" cy="45874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asellaDiTesto 4">
            <a:extLst>
              <a:ext uri="{FF2B5EF4-FFF2-40B4-BE49-F238E27FC236}">
                <a16:creationId xmlns:a16="http://schemas.microsoft.com/office/drawing/2014/main" id="{B54087F6-EC79-CBD0-EB6C-42A6237A85BE}"/>
              </a:ext>
            </a:extLst>
          </p:cNvPr>
          <p:cNvSpPr txBox="1"/>
          <p:nvPr/>
        </p:nvSpPr>
        <p:spPr>
          <a:xfrm>
            <a:off x="7704166" y="3713357"/>
            <a:ext cx="1004937" cy="369332"/>
          </a:xfrm>
          <a:prstGeom prst="rect">
            <a:avLst/>
          </a:prstGeom>
          <a:noFill/>
        </p:spPr>
        <p:txBody>
          <a:bodyPr wrap="square" rtlCol="0">
            <a:spAutoFit/>
          </a:bodyPr>
          <a:lstStyle/>
          <a:p>
            <a:r>
              <a:rPr lang="pt-BR" dirty="0"/>
              <a:t>CSS</a:t>
            </a:r>
            <a:endParaRPr lang="it-IT" dirty="0"/>
          </a:p>
        </p:txBody>
      </p:sp>
      <p:sp>
        <p:nvSpPr>
          <p:cNvPr id="6" name="CasellaDiTesto 5">
            <a:extLst>
              <a:ext uri="{FF2B5EF4-FFF2-40B4-BE49-F238E27FC236}">
                <a16:creationId xmlns:a16="http://schemas.microsoft.com/office/drawing/2014/main" id="{D81BC7AE-D5A2-43CE-E376-9FE4D801CA82}"/>
              </a:ext>
            </a:extLst>
          </p:cNvPr>
          <p:cNvSpPr txBox="1"/>
          <p:nvPr/>
        </p:nvSpPr>
        <p:spPr>
          <a:xfrm>
            <a:off x="8943146" y="3713357"/>
            <a:ext cx="1004937" cy="369332"/>
          </a:xfrm>
          <a:prstGeom prst="rect">
            <a:avLst/>
          </a:prstGeom>
          <a:noFill/>
        </p:spPr>
        <p:txBody>
          <a:bodyPr wrap="square" rtlCol="0">
            <a:spAutoFit/>
          </a:bodyPr>
          <a:lstStyle/>
          <a:p>
            <a:r>
              <a:rPr lang="pt-BR" dirty="0"/>
              <a:t>NLP</a:t>
            </a:r>
            <a:endParaRPr lang="it-IT" dirty="0"/>
          </a:p>
        </p:txBody>
      </p:sp>
      <p:sp>
        <p:nvSpPr>
          <p:cNvPr id="7" name="CasellaDiTesto 6">
            <a:extLst>
              <a:ext uri="{FF2B5EF4-FFF2-40B4-BE49-F238E27FC236}">
                <a16:creationId xmlns:a16="http://schemas.microsoft.com/office/drawing/2014/main" id="{6BD1A03E-6371-5EB9-EED3-EC6539A57B95}"/>
              </a:ext>
            </a:extLst>
          </p:cNvPr>
          <p:cNvSpPr txBox="1"/>
          <p:nvPr/>
        </p:nvSpPr>
        <p:spPr>
          <a:xfrm>
            <a:off x="8440677" y="4626415"/>
            <a:ext cx="1004937" cy="369332"/>
          </a:xfrm>
          <a:prstGeom prst="rect">
            <a:avLst/>
          </a:prstGeom>
          <a:noFill/>
        </p:spPr>
        <p:txBody>
          <a:bodyPr wrap="square" rtlCol="0">
            <a:spAutoFit/>
          </a:bodyPr>
          <a:lstStyle/>
          <a:p>
            <a:r>
              <a:rPr lang="pt-BR" dirty="0"/>
              <a:t>PL</a:t>
            </a:r>
            <a:endParaRPr lang="it-IT" dirty="0"/>
          </a:p>
        </p:txBody>
      </p:sp>
      <p:cxnSp>
        <p:nvCxnSpPr>
          <p:cNvPr id="9" name="Connettore 2 8">
            <a:extLst>
              <a:ext uri="{FF2B5EF4-FFF2-40B4-BE49-F238E27FC236}">
                <a16:creationId xmlns:a16="http://schemas.microsoft.com/office/drawing/2014/main" id="{35C3DAFA-05E9-5612-062B-0A3942A13BD1}"/>
              </a:ext>
            </a:extLst>
          </p:cNvPr>
          <p:cNvCxnSpPr>
            <a:cxnSpLocks/>
          </p:cNvCxnSpPr>
          <p:nvPr/>
        </p:nvCxnSpPr>
        <p:spPr>
          <a:xfrm flipH="1">
            <a:off x="8638479" y="3546088"/>
            <a:ext cx="2412380" cy="7102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CasellaDiTesto 9">
            <a:extLst>
              <a:ext uri="{FF2B5EF4-FFF2-40B4-BE49-F238E27FC236}">
                <a16:creationId xmlns:a16="http://schemas.microsoft.com/office/drawing/2014/main" id="{1D4C44BE-71E2-5360-2EE2-DB54EFF94F04}"/>
              </a:ext>
            </a:extLst>
          </p:cNvPr>
          <p:cNvSpPr txBox="1"/>
          <p:nvPr/>
        </p:nvSpPr>
        <p:spPr>
          <a:xfrm>
            <a:off x="10446039" y="3127246"/>
            <a:ext cx="1588782" cy="369332"/>
          </a:xfrm>
          <a:prstGeom prst="rect">
            <a:avLst/>
          </a:prstGeom>
          <a:noFill/>
        </p:spPr>
        <p:txBody>
          <a:bodyPr wrap="square" rtlCol="0">
            <a:spAutoFit/>
          </a:bodyPr>
          <a:lstStyle/>
          <a:p>
            <a:r>
              <a:rPr lang="pt-BR" dirty="0"/>
              <a:t>We are here</a:t>
            </a:r>
            <a:endParaRPr lang="it-IT" dirty="0"/>
          </a:p>
        </p:txBody>
      </p:sp>
    </p:spTree>
    <p:extLst>
      <p:ext uri="{BB962C8B-B14F-4D97-AF65-F5344CB8AC3E}">
        <p14:creationId xmlns:p14="http://schemas.microsoft.com/office/powerpoint/2010/main" val="2915382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4" grpId="0">
        <p:bldAsOne/>
      </p:bldGraphic>
      <p:bldP spid="5" grpId="0"/>
      <p:bldP spid="6" grpId="0"/>
      <p:bldP spid="7"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762CF-7581-7859-E510-CBE9B7BD65F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2DCADC1-4FDF-6379-0DD0-17744FB0FBD0}"/>
              </a:ext>
            </a:extLst>
          </p:cNvPr>
          <p:cNvSpPr>
            <a:spLocks noGrp="1"/>
          </p:cNvSpPr>
          <p:nvPr>
            <p:ph type="title"/>
          </p:nvPr>
        </p:nvSpPr>
        <p:spPr/>
        <p:txBody>
          <a:bodyPr/>
          <a:lstStyle/>
          <a:p>
            <a:r>
              <a:rPr lang="pt-BR" dirty="0"/>
              <a:t>Why this course matter?</a:t>
            </a:r>
            <a:endParaRPr lang="it-IT" dirty="0"/>
          </a:p>
        </p:txBody>
      </p:sp>
      <p:sp>
        <p:nvSpPr>
          <p:cNvPr id="3" name="Segnaposto contenuto 2">
            <a:extLst>
              <a:ext uri="{FF2B5EF4-FFF2-40B4-BE49-F238E27FC236}">
                <a16:creationId xmlns:a16="http://schemas.microsoft.com/office/drawing/2014/main" id="{A7E4372C-BE70-491D-7DFA-70F6D36A3030}"/>
              </a:ext>
            </a:extLst>
          </p:cNvPr>
          <p:cNvSpPr>
            <a:spLocks noGrp="1"/>
          </p:cNvSpPr>
          <p:nvPr>
            <p:ph idx="1"/>
          </p:nvPr>
        </p:nvSpPr>
        <p:spPr>
          <a:xfrm>
            <a:off x="838201" y="1825625"/>
            <a:ext cx="5257800" cy="4351338"/>
          </a:xfrm>
        </p:spPr>
        <p:txBody>
          <a:bodyPr>
            <a:normAutofit/>
          </a:bodyPr>
          <a:lstStyle/>
          <a:p>
            <a:r>
              <a:rPr lang="en-US" dirty="0"/>
              <a:t>According to the latest report by the World Economic Forum, misinformation stands out as the most significant short-term global risk, capable of disrupting elections and exacerbating societal polarization.</a:t>
            </a:r>
            <a:endParaRPr lang="it-IT" dirty="0"/>
          </a:p>
        </p:txBody>
      </p:sp>
      <p:graphicFrame>
        <p:nvGraphicFramePr>
          <p:cNvPr id="4" name="Diagramma 3">
            <a:extLst>
              <a:ext uri="{FF2B5EF4-FFF2-40B4-BE49-F238E27FC236}">
                <a16:creationId xmlns:a16="http://schemas.microsoft.com/office/drawing/2014/main" id="{52739137-977E-4F18-A1F7-7BF207FBC1BC}"/>
              </a:ext>
            </a:extLst>
          </p:cNvPr>
          <p:cNvGraphicFramePr/>
          <p:nvPr>
            <p:extLst>
              <p:ext uri="{D42A27DB-BD31-4B8C-83A1-F6EECF244321}">
                <p14:modId xmlns:p14="http://schemas.microsoft.com/office/powerpoint/2010/main" val="1056019288"/>
              </p:ext>
            </p:extLst>
          </p:nvPr>
        </p:nvGraphicFramePr>
        <p:xfrm>
          <a:off x="5084957" y="1690688"/>
          <a:ext cx="7107044" cy="45874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asellaDiTesto 4">
            <a:extLst>
              <a:ext uri="{FF2B5EF4-FFF2-40B4-BE49-F238E27FC236}">
                <a16:creationId xmlns:a16="http://schemas.microsoft.com/office/drawing/2014/main" id="{977049B2-6420-8A09-62AE-66DBA5F00D56}"/>
              </a:ext>
            </a:extLst>
          </p:cNvPr>
          <p:cNvSpPr txBox="1"/>
          <p:nvPr/>
        </p:nvSpPr>
        <p:spPr>
          <a:xfrm>
            <a:off x="7704166" y="3713357"/>
            <a:ext cx="1004937" cy="369332"/>
          </a:xfrm>
          <a:prstGeom prst="rect">
            <a:avLst/>
          </a:prstGeom>
          <a:noFill/>
        </p:spPr>
        <p:txBody>
          <a:bodyPr wrap="square" rtlCol="0">
            <a:spAutoFit/>
          </a:bodyPr>
          <a:lstStyle/>
          <a:p>
            <a:r>
              <a:rPr lang="pt-BR" dirty="0"/>
              <a:t>CSS</a:t>
            </a:r>
            <a:endParaRPr lang="it-IT" dirty="0"/>
          </a:p>
        </p:txBody>
      </p:sp>
      <p:sp>
        <p:nvSpPr>
          <p:cNvPr id="6" name="CasellaDiTesto 5">
            <a:extLst>
              <a:ext uri="{FF2B5EF4-FFF2-40B4-BE49-F238E27FC236}">
                <a16:creationId xmlns:a16="http://schemas.microsoft.com/office/drawing/2014/main" id="{36084DBF-43E7-2706-74E7-A7C13E1F56C8}"/>
              </a:ext>
            </a:extLst>
          </p:cNvPr>
          <p:cNvSpPr txBox="1"/>
          <p:nvPr/>
        </p:nvSpPr>
        <p:spPr>
          <a:xfrm>
            <a:off x="8943146" y="3713357"/>
            <a:ext cx="1004937" cy="369332"/>
          </a:xfrm>
          <a:prstGeom prst="rect">
            <a:avLst/>
          </a:prstGeom>
          <a:noFill/>
        </p:spPr>
        <p:txBody>
          <a:bodyPr wrap="square" rtlCol="0">
            <a:spAutoFit/>
          </a:bodyPr>
          <a:lstStyle/>
          <a:p>
            <a:r>
              <a:rPr lang="pt-BR" dirty="0"/>
              <a:t>NLP</a:t>
            </a:r>
            <a:endParaRPr lang="it-IT" dirty="0"/>
          </a:p>
        </p:txBody>
      </p:sp>
      <p:sp>
        <p:nvSpPr>
          <p:cNvPr id="7" name="CasellaDiTesto 6">
            <a:extLst>
              <a:ext uri="{FF2B5EF4-FFF2-40B4-BE49-F238E27FC236}">
                <a16:creationId xmlns:a16="http://schemas.microsoft.com/office/drawing/2014/main" id="{31A8FE71-C900-FA02-9F9A-BCAA9F281A5C}"/>
              </a:ext>
            </a:extLst>
          </p:cNvPr>
          <p:cNvSpPr txBox="1"/>
          <p:nvPr/>
        </p:nvSpPr>
        <p:spPr>
          <a:xfrm>
            <a:off x="8440677" y="4626415"/>
            <a:ext cx="1004937" cy="369332"/>
          </a:xfrm>
          <a:prstGeom prst="rect">
            <a:avLst/>
          </a:prstGeom>
          <a:noFill/>
        </p:spPr>
        <p:txBody>
          <a:bodyPr wrap="square" rtlCol="0">
            <a:spAutoFit/>
          </a:bodyPr>
          <a:lstStyle/>
          <a:p>
            <a:r>
              <a:rPr lang="pt-BR" dirty="0"/>
              <a:t>PL</a:t>
            </a:r>
            <a:endParaRPr lang="it-IT" dirty="0"/>
          </a:p>
        </p:txBody>
      </p:sp>
      <p:cxnSp>
        <p:nvCxnSpPr>
          <p:cNvPr id="9" name="Connettore 2 8">
            <a:extLst>
              <a:ext uri="{FF2B5EF4-FFF2-40B4-BE49-F238E27FC236}">
                <a16:creationId xmlns:a16="http://schemas.microsoft.com/office/drawing/2014/main" id="{1B7C50EB-BCB7-1E29-CB4E-D2366A650CC2}"/>
              </a:ext>
            </a:extLst>
          </p:cNvPr>
          <p:cNvCxnSpPr>
            <a:cxnSpLocks/>
          </p:cNvCxnSpPr>
          <p:nvPr/>
        </p:nvCxnSpPr>
        <p:spPr>
          <a:xfrm flipH="1">
            <a:off x="8638479" y="3546088"/>
            <a:ext cx="2412380" cy="7102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CasellaDiTesto 9">
            <a:extLst>
              <a:ext uri="{FF2B5EF4-FFF2-40B4-BE49-F238E27FC236}">
                <a16:creationId xmlns:a16="http://schemas.microsoft.com/office/drawing/2014/main" id="{7F5D416A-1A7B-DE9D-06CC-211F76591EAD}"/>
              </a:ext>
            </a:extLst>
          </p:cNvPr>
          <p:cNvSpPr txBox="1"/>
          <p:nvPr/>
        </p:nvSpPr>
        <p:spPr>
          <a:xfrm>
            <a:off x="10446039" y="3127246"/>
            <a:ext cx="1588782" cy="369332"/>
          </a:xfrm>
          <a:prstGeom prst="rect">
            <a:avLst/>
          </a:prstGeom>
          <a:noFill/>
        </p:spPr>
        <p:txBody>
          <a:bodyPr wrap="square" rtlCol="0">
            <a:spAutoFit/>
          </a:bodyPr>
          <a:lstStyle/>
          <a:p>
            <a:r>
              <a:rPr lang="pt-BR" dirty="0"/>
              <a:t>We are here</a:t>
            </a:r>
            <a:endParaRPr lang="it-IT" dirty="0"/>
          </a:p>
        </p:txBody>
      </p:sp>
    </p:spTree>
    <p:extLst>
      <p:ext uri="{BB962C8B-B14F-4D97-AF65-F5344CB8AC3E}">
        <p14:creationId xmlns:p14="http://schemas.microsoft.com/office/powerpoint/2010/main" val="192724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4" grpId="0">
        <p:bldAsOne/>
      </p:bldGraphic>
      <p:bldP spid="5" grpId="0"/>
      <p:bldP spid="6" grpId="0"/>
      <p:bldP spid="7"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B723237-3767-3896-878C-AACC5FBEB090}"/>
              </a:ext>
            </a:extLst>
          </p:cNvPr>
          <p:cNvSpPr>
            <a:spLocks noGrp="1"/>
          </p:cNvSpPr>
          <p:nvPr>
            <p:ph type="title"/>
          </p:nvPr>
        </p:nvSpPr>
        <p:spPr/>
        <p:txBody>
          <a:bodyPr/>
          <a:lstStyle/>
          <a:p>
            <a:r>
              <a:rPr lang="pt-BR" dirty="0"/>
              <a:t>Course structure</a:t>
            </a:r>
            <a:endParaRPr lang="it-IT" dirty="0"/>
          </a:p>
        </p:txBody>
      </p:sp>
      <p:sp>
        <p:nvSpPr>
          <p:cNvPr id="3" name="Segnaposto contenuto 2">
            <a:extLst>
              <a:ext uri="{FF2B5EF4-FFF2-40B4-BE49-F238E27FC236}">
                <a16:creationId xmlns:a16="http://schemas.microsoft.com/office/drawing/2014/main" id="{50C14349-5704-EA40-21F0-E1F729F2A754}"/>
              </a:ext>
            </a:extLst>
          </p:cNvPr>
          <p:cNvSpPr>
            <a:spLocks noGrp="1"/>
          </p:cNvSpPr>
          <p:nvPr>
            <p:ph idx="1"/>
          </p:nvPr>
        </p:nvSpPr>
        <p:spPr/>
        <p:txBody>
          <a:bodyPr/>
          <a:lstStyle/>
          <a:p>
            <a:r>
              <a:rPr lang="it-IT" b="1" dirty="0">
                <a:effectLst/>
              </a:rPr>
              <a:t>Part 1: </a:t>
            </a:r>
            <a:r>
              <a:rPr lang="it-IT" b="1" dirty="0" err="1">
                <a:effectLst/>
              </a:rPr>
              <a:t>Foundations</a:t>
            </a:r>
            <a:r>
              <a:rPr lang="it-IT" b="1" dirty="0">
                <a:effectLst/>
              </a:rPr>
              <a:t> &amp; Data</a:t>
            </a:r>
          </a:p>
          <a:p>
            <a:pPr lvl="1"/>
            <a:r>
              <a:rPr lang="it-IT" dirty="0">
                <a:effectLst/>
              </a:rPr>
              <a:t>Data </a:t>
            </a:r>
            <a:r>
              <a:rPr lang="it-IT" dirty="0" err="1">
                <a:effectLst/>
              </a:rPr>
              <a:t>collection</a:t>
            </a:r>
            <a:r>
              <a:rPr lang="it-IT" dirty="0">
                <a:effectLst/>
              </a:rPr>
              <a:t> (</a:t>
            </a:r>
            <a:r>
              <a:rPr lang="it-IT" dirty="0" err="1">
                <a:effectLst/>
              </a:rPr>
              <a:t>problems</a:t>
            </a:r>
            <a:r>
              <a:rPr lang="it-IT" dirty="0">
                <a:effectLst/>
              </a:rPr>
              <a:t>) and </a:t>
            </a:r>
            <a:r>
              <a:rPr lang="it-IT" dirty="0" err="1">
                <a:effectLst/>
              </a:rPr>
              <a:t>exploration</a:t>
            </a:r>
            <a:endParaRPr lang="it-IT" dirty="0">
              <a:effectLst/>
            </a:endParaRPr>
          </a:p>
          <a:p>
            <a:r>
              <a:rPr lang="it-IT" b="1" dirty="0"/>
              <a:t>Part 2: </a:t>
            </a:r>
            <a:r>
              <a:rPr lang="it-IT" b="1" dirty="0" err="1"/>
              <a:t>Representation</a:t>
            </a:r>
            <a:r>
              <a:rPr lang="it-IT" b="1" dirty="0"/>
              <a:t> </a:t>
            </a:r>
            <a:r>
              <a:rPr lang="it-IT" b="1" dirty="0" err="1"/>
              <a:t>Meaning</a:t>
            </a:r>
            <a:endParaRPr lang="it-IT" b="1" dirty="0"/>
          </a:p>
          <a:p>
            <a:pPr lvl="1"/>
            <a:r>
              <a:rPr lang="it-IT" dirty="0"/>
              <a:t>Lexicon- and </a:t>
            </a:r>
            <a:r>
              <a:rPr lang="it-IT" dirty="0" err="1"/>
              <a:t>vector-based</a:t>
            </a:r>
            <a:r>
              <a:rPr lang="it-IT" dirty="0"/>
              <a:t> </a:t>
            </a:r>
            <a:r>
              <a:rPr lang="it-IT" dirty="0" err="1"/>
              <a:t>approaches</a:t>
            </a:r>
            <a:endParaRPr lang="it-IT" dirty="0"/>
          </a:p>
          <a:p>
            <a:r>
              <a:rPr lang="en-US" b="1" dirty="0">
                <a:effectLst/>
              </a:rPr>
              <a:t>Part 3: Applied Statistics for Text-Derived Measures</a:t>
            </a:r>
          </a:p>
          <a:p>
            <a:pPr lvl="1"/>
            <a:r>
              <a:rPr lang="en-US" dirty="0"/>
              <a:t>Wrangling text-derived measures</a:t>
            </a:r>
            <a:endParaRPr lang="en-US" dirty="0">
              <a:effectLst/>
            </a:endParaRPr>
          </a:p>
          <a:p>
            <a:r>
              <a:rPr lang="en-US" b="1" dirty="0">
                <a:effectLst/>
              </a:rPr>
              <a:t>Part 4: Case Study – Synthetic Realities</a:t>
            </a:r>
          </a:p>
          <a:p>
            <a:pPr lvl="1"/>
            <a:r>
              <a:rPr lang="en-US" dirty="0"/>
              <a:t>LLMs, persuasion, social agents</a:t>
            </a:r>
            <a:endParaRPr lang="it-IT" dirty="0"/>
          </a:p>
        </p:txBody>
      </p:sp>
    </p:spTree>
    <p:extLst>
      <p:ext uri="{BB962C8B-B14F-4D97-AF65-F5344CB8AC3E}">
        <p14:creationId xmlns:p14="http://schemas.microsoft.com/office/powerpoint/2010/main" val="283191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C1462E3-234F-37ED-AD1F-F4711997254A}"/>
              </a:ext>
            </a:extLst>
          </p:cNvPr>
          <p:cNvSpPr>
            <a:spLocks noGrp="1"/>
          </p:cNvSpPr>
          <p:nvPr>
            <p:ph type="title"/>
          </p:nvPr>
        </p:nvSpPr>
        <p:spPr/>
        <p:txBody>
          <a:bodyPr/>
          <a:lstStyle/>
          <a:p>
            <a:r>
              <a:rPr lang="pt-BR" dirty="0"/>
              <a:t>Course structure</a:t>
            </a:r>
            <a:endParaRPr lang="it-IT" dirty="0"/>
          </a:p>
        </p:txBody>
      </p:sp>
      <p:sp>
        <p:nvSpPr>
          <p:cNvPr id="3" name="Segnaposto contenuto 2">
            <a:extLst>
              <a:ext uri="{FF2B5EF4-FFF2-40B4-BE49-F238E27FC236}">
                <a16:creationId xmlns:a16="http://schemas.microsoft.com/office/drawing/2014/main" id="{98CCF660-ADFB-987E-6486-4DAA2542D612}"/>
              </a:ext>
            </a:extLst>
          </p:cNvPr>
          <p:cNvSpPr>
            <a:spLocks noGrp="1"/>
          </p:cNvSpPr>
          <p:nvPr>
            <p:ph idx="1"/>
          </p:nvPr>
        </p:nvSpPr>
        <p:spPr/>
        <p:txBody>
          <a:bodyPr/>
          <a:lstStyle/>
          <a:p>
            <a:r>
              <a:rPr lang="pt-BR" dirty="0"/>
              <a:t>Assessment</a:t>
            </a:r>
          </a:p>
          <a:p>
            <a:r>
              <a:rPr lang="pt-BR" dirty="0"/>
              <a:t>Readings</a:t>
            </a:r>
          </a:p>
          <a:p>
            <a:r>
              <a:rPr lang="pt-BR" dirty="0"/>
              <a:t>Materials &amp; Softwares</a:t>
            </a:r>
            <a:endParaRPr lang="it-IT" dirty="0"/>
          </a:p>
        </p:txBody>
      </p:sp>
    </p:spTree>
    <p:extLst>
      <p:ext uri="{BB962C8B-B14F-4D97-AF65-F5344CB8AC3E}">
        <p14:creationId xmlns:p14="http://schemas.microsoft.com/office/powerpoint/2010/main" val="1137889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0B1F86-03AA-8587-A725-975E40767542}"/>
              </a:ext>
            </a:extLst>
          </p:cNvPr>
          <p:cNvSpPr>
            <a:spLocks noGrp="1"/>
          </p:cNvSpPr>
          <p:nvPr>
            <p:ph type="title"/>
          </p:nvPr>
        </p:nvSpPr>
        <p:spPr/>
        <p:txBody>
          <a:bodyPr/>
          <a:lstStyle/>
          <a:p>
            <a:r>
              <a:rPr lang="pt-BR" dirty="0"/>
              <a:t>What is misinformation?</a:t>
            </a:r>
            <a:endParaRPr lang="it-IT" dirty="0"/>
          </a:p>
        </p:txBody>
      </p:sp>
      <p:sp>
        <p:nvSpPr>
          <p:cNvPr id="3" name="Segnaposto contenuto 2">
            <a:extLst>
              <a:ext uri="{FF2B5EF4-FFF2-40B4-BE49-F238E27FC236}">
                <a16:creationId xmlns:a16="http://schemas.microsoft.com/office/drawing/2014/main" id="{52DF84EB-258B-930B-63A9-6D63B7F50633}"/>
              </a:ext>
            </a:extLst>
          </p:cNvPr>
          <p:cNvSpPr>
            <a:spLocks noGrp="1"/>
          </p:cNvSpPr>
          <p:nvPr>
            <p:ph idx="1"/>
          </p:nvPr>
        </p:nvSpPr>
        <p:spPr>
          <a:xfrm>
            <a:off x="838200" y="1825625"/>
            <a:ext cx="10515600" cy="4667250"/>
          </a:xfrm>
        </p:spPr>
        <p:txBody>
          <a:bodyPr/>
          <a:lstStyle/>
          <a:p>
            <a:r>
              <a:rPr lang="pt-BR" dirty="0"/>
              <a:t>Misinformation = </a:t>
            </a:r>
            <a:r>
              <a:rPr lang="it-IT" dirty="0"/>
              <a:t>false,” “inaccurate,” or “</a:t>
            </a:r>
            <a:r>
              <a:rPr lang="it-IT" dirty="0" err="1"/>
              <a:t>incorrect”information</a:t>
            </a:r>
            <a:endParaRPr lang="pt-BR" dirty="0"/>
          </a:p>
          <a:p>
            <a:r>
              <a:rPr lang="pt-BR" dirty="0"/>
              <a:t>Misinformation = disinformation?</a:t>
            </a:r>
          </a:p>
          <a:p>
            <a:r>
              <a:rPr lang="it-IT" dirty="0" err="1"/>
              <a:t>Disinformation</a:t>
            </a:r>
            <a:r>
              <a:rPr lang="it-IT" dirty="0"/>
              <a:t> = </a:t>
            </a:r>
            <a:r>
              <a:rPr lang="en-US" dirty="0"/>
              <a:t>false information that is described as being intentionally shared</a:t>
            </a:r>
          </a:p>
          <a:p>
            <a:r>
              <a:rPr lang="en-US" dirty="0"/>
              <a:t>Disinformation = </a:t>
            </a:r>
            <a:r>
              <a:rPr lang="en-US" dirty="0" err="1"/>
              <a:t>malinformation</a:t>
            </a:r>
            <a:r>
              <a:rPr lang="en-US" dirty="0"/>
              <a:t>?</a:t>
            </a:r>
          </a:p>
          <a:p>
            <a:r>
              <a:rPr lang="pt-BR" dirty="0"/>
              <a:t>Malinformation = </a:t>
            </a:r>
            <a:r>
              <a:rPr lang="en-US" dirty="0"/>
              <a:t> Information shared for malicious ends</a:t>
            </a:r>
          </a:p>
          <a:p>
            <a:r>
              <a:rPr lang="en-US" dirty="0"/>
              <a:t>Fake news = similar to disinformation, news that is intentional and verifiably false</a:t>
            </a:r>
          </a:p>
          <a:p>
            <a:endParaRPr lang="en-US" dirty="0"/>
          </a:p>
          <a:p>
            <a:endParaRPr lang="it-IT" dirty="0"/>
          </a:p>
        </p:txBody>
      </p:sp>
    </p:spTree>
    <p:extLst>
      <p:ext uri="{BB962C8B-B14F-4D97-AF65-F5344CB8AC3E}">
        <p14:creationId xmlns:p14="http://schemas.microsoft.com/office/powerpoint/2010/main" val="3944017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79D0-5B94-427F-F289-81F96A25DAA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85E1373-0E6B-50B7-B5EF-F3B3BAA2990B}"/>
              </a:ext>
            </a:extLst>
          </p:cNvPr>
          <p:cNvSpPr>
            <a:spLocks noGrp="1"/>
          </p:cNvSpPr>
          <p:nvPr>
            <p:ph type="title"/>
          </p:nvPr>
        </p:nvSpPr>
        <p:spPr/>
        <p:txBody>
          <a:bodyPr/>
          <a:lstStyle/>
          <a:p>
            <a:r>
              <a:rPr lang="pt-BR" dirty="0"/>
              <a:t>What is misinformation?</a:t>
            </a:r>
            <a:endParaRPr lang="it-IT" dirty="0"/>
          </a:p>
        </p:txBody>
      </p:sp>
      <p:cxnSp>
        <p:nvCxnSpPr>
          <p:cNvPr id="7" name="Connettore 2 6">
            <a:extLst>
              <a:ext uri="{FF2B5EF4-FFF2-40B4-BE49-F238E27FC236}">
                <a16:creationId xmlns:a16="http://schemas.microsoft.com/office/drawing/2014/main" id="{FC30B365-31E3-6E90-F673-FA540975CDB5}"/>
              </a:ext>
            </a:extLst>
          </p:cNvPr>
          <p:cNvCxnSpPr>
            <a:cxnSpLocks/>
          </p:cNvCxnSpPr>
          <p:nvPr/>
        </p:nvCxnSpPr>
        <p:spPr>
          <a:xfrm flipV="1">
            <a:off x="1545771" y="1690688"/>
            <a:ext cx="0" cy="41440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Connettore 2 9">
            <a:extLst>
              <a:ext uri="{FF2B5EF4-FFF2-40B4-BE49-F238E27FC236}">
                <a16:creationId xmlns:a16="http://schemas.microsoft.com/office/drawing/2014/main" id="{7E4006A3-FF9F-B433-2682-F05B08BAF39F}"/>
              </a:ext>
            </a:extLst>
          </p:cNvPr>
          <p:cNvCxnSpPr/>
          <p:nvPr/>
        </p:nvCxnSpPr>
        <p:spPr>
          <a:xfrm>
            <a:off x="1774371" y="5878286"/>
            <a:ext cx="870857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CasellaDiTesto 10">
            <a:extLst>
              <a:ext uri="{FF2B5EF4-FFF2-40B4-BE49-F238E27FC236}">
                <a16:creationId xmlns:a16="http://schemas.microsoft.com/office/drawing/2014/main" id="{704C80B3-61C3-7940-1196-6A7112E10395}"/>
              </a:ext>
            </a:extLst>
          </p:cNvPr>
          <p:cNvSpPr txBox="1"/>
          <p:nvPr/>
        </p:nvSpPr>
        <p:spPr>
          <a:xfrm>
            <a:off x="1774372" y="6106886"/>
            <a:ext cx="1872078" cy="369332"/>
          </a:xfrm>
          <a:prstGeom prst="rect">
            <a:avLst/>
          </a:prstGeom>
          <a:noFill/>
        </p:spPr>
        <p:txBody>
          <a:bodyPr wrap="square" rtlCol="0">
            <a:spAutoFit/>
          </a:bodyPr>
          <a:lstStyle/>
          <a:p>
            <a:r>
              <a:rPr lang="pt-BR" dirty="0"/>
              <a:t>Malicious Intent</a:t>
            </a:r>
            <a:endParaRPr lang="it-IT" dirty="0"/>
          </a:p>
        </p:txBody>
      </p:sp>
      <p:sp>
        <p:nvSpPr>
          <p:cNvPr id="12" name="CasellaDiTesto 11">
            <a:extLst>
              <a:ext uri="{FF2B5EF4-FFF2-40B4-BE49-F238E27FC236}">
                <a16:creationId xmlns:a16="http://schemas.microsoft.com/office/drawing/2014/main" id="{D9E63BCE-9A12-7D23-45B5-9D78CBF3FF04}"/>
              </a:ext>
            </a:extLst>
          </p:cNvPr>
          <p:cNvSpPr txBox="1"/>
          <p:nvPr/>
        </p:nvSpPr>
        <p:spPr>
          <a:xfrm>
            <a:off x="8610865" y="6123543"/>
            <a:ext cx="1872078" cy="369332"/>
          </a:xfrm>
          <a:prstGeom prst="rect">
            <a:avLst/>
          </a:prstGeom>
          <a:noFill/>
        </p:spPr>
        <p:txBody>
          <a:bodyPr wrap="square" rtlCol="0">
            <a:spAutoFit/>
          </a:bodyPr>
          <a:lstStyle/>
          <a:p>
            <a:r>
              <a:rPr lang="pt-BR" dirty="0"/>
              <a:t>Good Intent</a:t>
            </a:r>
            <a:endParaRPr lang="it-IT" dirty="0"/>
          </a:p>
        </p:txBody>
      </p:sp>
      <p:sp>
        <p:nvSpPr>
          <p:cNvPr id="13" name="CasellaDiTesto 12">
            <a:extLst>
              <a:ext uri="{FF2B5EF4-FFF2-40B4-BE49-F238E27FC236}">
                <a16:creationId xmlns:a16="http://schemas.microsoft.com/office/drawing/2014/main" id="{BE9081B5-265A-AB5E-872C-35D258E4173F}"/>
              </a:ext>
            </a:extLst>
          </p:cNvPr>
          <p:cNvSpPr txBox="1"/>
          <p:nvPr/>
        </p:nvSpPr>
        <p:spPr>
          <a:xfrm>
            <a:off x="961153" y="1291319"/>
            <a:ext cx="461665" cy="1738312"/>
          </a:xfrm>
          <a:prstGeom prst="rect">
            <a:avLst/>
          </a:prstGeom>
          <a:noFill/>
        </p:spPr>
        <p:txBody>
          <a:bodyPr vert="vert270" wrap="square" rtlCol="0">
            <a:spAutoFit/>
          </a:bodyPr>
          <a:lstStyle/>
          <a:p>
            <a:r>
              <a:rPr lang="pt-BR" dirty="0"/>
              <a:t>High veracity</a:t>
            </a:r>
            <a:endParaRPr lang="it-IT" dirty="0"/>
          </a:p>
        </p:txBody>
      </p:sp>
      <p:sp>
        <p:nvSpPr>
          <p:cNvPr id="14" name="CasellaDiTesto 13">
            <a:extLst>
              <a:ext uri="{FF2B5EF4-FFF2-40B4-BE49-F238E27FC236}">
                <a16:creationId xmlns:a16="http://schemas.microsoft.com/office/drawing/2014/main" id="{9FC0968C-6DF3-6ABE-84C1-D681E1AB482C}"/>
              </a:ext>
            </a:extLst>
          </p:cNvPr>
          <p:cNvSpPr txBox="1"/>
          <p:nvPr/>
        </p:nvSpPr>
        <p:spPr>
          <a:xfrm>
            <a:off x="961152" y="4096431"/>
            <a:ext cx="461665" cy="1738312"/>
          </a:xfrm>
          <a:prstGeom prst="rect">
            <a:avLst/>
          </a:prstGeom>
          <a:noFill/>
        </p:spPr>
        <p:txBody>
          <a:bodyPr vert="vert270" wrap="square" rtlCol="0">
            <a:spAutoFit/>
          </a:bodyPr>
          <a:lstStyle/>
          <a:p>
            <a:r>
              <a:rPr lang="pt-BR" dirty="0"/>
              <a:t>Low veracity</a:t>
            </a:r>
            <a:endParaRPr lang="it-IT" dirty="0"/>
          </a:p>
        </p:txBody>
      </p:sp>
      <p:sp>
        <p:nvSpPr>
          <p:cNvPr id="15" name="CasellaDiTesto 14">
            <a:extLst>
              <a:ext uri="{FF2B5EF4-FFF2-40B4-BE49-F238E27FC236}">
                <a16:creationId xmlns:a16="http://schemas.microsoft.com/office/drawing/2014/main" id="{D2A1598C-B101-BFCF-8B8F-86CCD13074C7}"/>
              </a:ext>
            </a:extLst>
          </p:cNvPr>
          <p:cNvSpPr txBox="1"/>
          <p:nvPr/>
        </p:nvSpPr>
        <p:spPr>
          <a:xfrm>
            <a:off x="9946066" y="2234055"/>
            <a:ext cx="1756317" cy="369332"/>
          </a:xfrm>
          <a:prstGeom prst="rect">
            <a:avLst/>
          </a:prstGeom>
          <a:noFill/>
        </p:spPr>
        <p:txBody>
          <a:bodyPr wrap="square" rtlCol="0">
            <a:spAutoFit/>
          </a:bodyPr>
          <a:lstStyle/>
          <a:p>
            <a:r>
              <a:rPr lang="pt-BR" dirty="0"/>
              <a:t>Misinformation</a:t>
            </a:r>
            <a:endParaRPr lang="it-IT" dirty="0"/>
          </a:p>
        </p:txBody>
      </p:sp>
      <p:sp>
        <p:nvSpPr>
          <p:cNvPr id="16" name="CasellaDiTesto 15">
            <a:extLst>
              <a:ext uri="{FF2B5EF4-FFF2-40B4-BE49-F238E27FC236}">
                <a16:creationId xmlns:a16="http://schemas.microsoft.com/office/drawing/2014/main" id="{486DDF3D-3EBC-4538-DB6D-D77FC66876A1}"/>
              </a:ext>
            </a:extLst>
          </p:cNvPr>
          <p:cNvSpPr txBox="1"/>
          <p:nvPr/>
        </p:nvSpPr>
        <p:spPr>
          <a:xfrm>
            <a:off x="9946061" y="2541349"/>
            <a:ext cx="1756317" cy="369332"/>
          </a:xfrm>
          <a:prstGeom prst="rect">
            <a:avLst/>
          </a:prstGeom>
          <a:noFill/>
        </p:spPr>
        <p:txBody>
          <a:bodyPr wrap="square" rtlCol="0">
            <a:spAutoFit/>
          </a:bodyPr>
          <a:lstStyle/>
          <a:p>
            <a:r>
              <a:rPr lang="pt-BR" dirty="0"/>
              <a:t>Disinformation</a:t>
            </a:r>
            <a:endParaRPr lang="it-IT" dirty="0"/>
          </a:p>
        </p:txBody>
      </p:sp>
      <p:sp>
        <p:nvSpPr>
          <p:cNvPr id="17" name="CasellaDiTesto 16">
            <a:extLst>
              <a:ext uri="{FF2B5EF4-FFF2-40B4-BE49-F238E27FC236}">
                <a16:creationId xmlns:a16="http://schemas.microsoft.com/office/drawing/2014/main" id="{3CE0E73D-8CD9-495D-6200-1793F1C72F29}"/>
              </a:ext>
            </a:extLst>
          </p:cNvPr>
          <p:cNvSpPr txBox="1"/>
          <p:nvPr/>
        </p:nvSpPr>
        <p:spPr>
          <a:xfrm>
            <a:off x="9946062" y="2893590"/>
            <a:ext cx="1756317" cy="369332"/>
          </a:xfrm>
          <a:prstGeom prst="rect">
            <a:avLst/>
          </a:prstGeom>
          <a:noFill/>
        </p:spPr>
        <p:txBody>
          <a:bodyPr wrap="square" rtlCol="0">
            <a:spAutoFit/>
          </a:bodyPr>
          <a:lstStyle/>
          <a:p>
            <a:r>
              <a:rPr lang="pt-BR" dirty="0"/>
              <a:t>Fake News</a:t>
            </a:r>
            <a:endParaRPr lang="it-IT" dirty="0"/>
          </a:p>
        </p:txBody>
      </p:sp>
      <p:sp>
        <p:nvSpPr>
          <p:cNvPr id="18" name="CasellaDiTesto 17">
            <a:extLst>
              <a:ext uri="{FF2B5EF4-FFF2-40B4-BE49-F238E27FC236}">
                <a16:creationId xmlns:a16="http://schemas.microsoft.com/office/drawing/2014/main" id="{DBB15102-A68B-5B4B-108C-CC1621B9FC73}"/>
              </a:ext>
            </a:extLst>
          </p:cNvPr>
          <p:cNvSpPr txBox="1"/>
          <p:nvPr/>
        </p:nvSpPr>
        <p:spPr>
          <a:xfrm>
            <a:off x="9946063" y="3878471"/>
            <a:ext cx="1756317" cy="369332"/>
          </a:xfrm>
          <a:prstGeom prst="rect">
            <a:avLst/>
          </a:prstGeom>
          <a:noFill/>
        </p:spPr>
        <p:txBody>
          <a:bodyPr wrap="square" rtlCol="0">
            <a:spAutoFit/>
          </a:bodyPr>
          <a:lstStyle/>
          <a:p>
            <a:r>
              <a:rPr lang="pt-BR" dirty="0"/>
              <a:t>News Parody</a:t>
            </a:r>
            <a:endParaRPr lang="it-IT" dirty="0"/>
          </a:p>
        </p:txBody>
      </p:sp>
      <p:sp>
        <p:nvSpPr>
          <p:cNvPr id="19" name="CasellaDiTesto 18">
            <a:extLst>
              <a:ext uri="{FF2B5EF4-FFF2-40B4-BE49-F238E27FC236}">
                <a16:creationId xmlns:a16="http://schemas.microsoft.com/office/drawing/2014/main" id="{339E57DA-E06C-D9C4-DAA4-E732486BBE07}"/>
              </a:ext>
            </a:extLst>
          </p:cNvPr>
          <p:cNvSpPr txBox="1"/>
          <p:nvPr/>
        </p:nvSpPr>
        <p:spPr>
          <a:xfrm>
            <a:off x="9946064" y="4237684"/>
            <a:ext cx="1756317" cy="369332"/>
          </a:xfrm>
          <a:prstGeom prst="rect">
            <a:avLst/>
          </a:prstGeom>
          <a:noFill/>
        </p:spPr>
        <p:txBody>
          <a:bodyPr wrap="square" rtlCol="0">
            <a:spAutoFit/>
          </a:bodyPr>
          <a:lstStyle/>
          <a:p>
            <a:r>
              <a:rPr lang="pt-BR" dirty="0"/>
              <a:t>News Satire</a:t>
            </a:r>
            <a:endParaRPr lang="it-IT" dirty="0"/>
          </a:p>
        </p:txBody>
      </p:sp>
      <p:sp>
        <p:nvSpPr>
          <p:cNvPr id="20" name="CasellaDiTesto 19">
            <a:extLst>
              <a:ext uri="{FF2B5EF4-FFF2-40B4-BE49-F238E27FC236}">
                <a16:creationId xmlns:a16="http://schemas.microsoft.com/office/drawing/2014/main" id="{A129958C-46F2-992C-A57B-5CF8B8361DEA}"/>
              </a:ext>
            </a:extLst>
          </p:cNvPr>
          <p:cNvSpPr txBox="1"/>
          <p:nvPr/>
        </p:nvSpPr>
        <p:spPr>
          <a:xfrm>
            <a:off x="9989234" y="3200884"/>
            <a:ext cx="1977486" cy="369332"/>
          </a:xfrm>
          <a:prstGeom prst="rect">
            <a:avLst/>
          </a:prstGeom>
          <a:noFill/>
        </p:spPr>
        <p:txBody>
          <a:bodyPr wrap="square" rtlCol="0">
            <a:spAutoFit/>
          </a:bodyPr>
          <a:lstStyle/>
          <a:p>
            <a:r>
              <a:rPr lang="pt-BR" dirty="0"/>
              <a:t>Rumors</a:t>
            </a:r>
            <a:endParaRPr lang="it-IT" dirty="0"/>
          </a:p>
        </p:txBody>
      </p:sp>
      <p:sp>
        <p:nvSpPr>
          <p:cNvPr id="22" name="CasellaDiTesto 21">
            <a:extLst>
              <a:ext uri="{FF2B5EF4-FFF2-40B4-BE49-F238E27FC236}">
                <a16:creationId xmlns:a16="http://schemas.microsoft.com/office/drawing/2014/main" id="{2FA526F4-383A-7020-0F54-BFD508B2ED02}"/>
              </a:ext>
            </a:extLst>
          </p:cNvPr>
          <p:cNvSpPr txBox="1"/>
          <p:nvPr/>
        </p:nvSpPr>
        <p:spPr>
          <a:xfrm>
            <a:off x="9946065" y="3571689"/>
            <a:ext cx="1977486" cy="369332"/>
          </a:xfrm>
          <a:prstGeom prst="rect">
            <a:avLst/>
          </a:prstGeom>
          <a:noFill/>
        </p:spPr>
        <p:txBody>
          <a:bodyPr wrap="square" rtlCol="0">
            <a:spAutoFit/>
          </a:bodyPr>
          <a:lstStyle/>
          <a:p>
            <a:r>
              <a:rPr lang="pt-BR" dirty="0"/>
              <a:t>Conspiracies</a:t>
            </a:r>
            <a:endParaRPr lang="it-IT" dirty="0"/>
          </a:p>
        </p:txBody>
      </p:sp>
    </p:spTree>
    <p:extLst>
      <p:ext uri="{BB962C8B-B14F-4D97-AF65-F5344CB8AC3E}">
        <p14:creationId xmlns:p14="http://schemas.microsoft.com/office/powerpoint/2010/main" val="4114466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06C1-50A3-54A4-E0E8-454455DB7A8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F746DCA-3A53-3B4D-3ED2-20ED72C819E5}"/>
              </a:ext>
            </a:extLst>
          </p:cNvPr>
          <p:cNvSpPr>
            <a:spLocks noGrp="1"/>
          </p:cNvSpPr>
          <p:nvPr>
            <p:ph type="title"/>
          </p:nvPr>
        </p:nvSpPr>
        <p:spPr/>
        <p:txBody>
          <a:bodyPr/>
          <a:lstStyle/>
          <a:p>
            <a:r>
              <a:rPr lang="pt-BR" dirty="0"/>
              <a:t>What is misinformation?</a:t>
            </a:r>
            <a:endParaRPr lang="it-IT" dirty="0"/>
          </a:p>
        </p:txBody>
      </p:sp>
      <p:pic>
        <p:nvPicPr>
          <p:cNvPr id="1026" name="Picture 2" descr="figure 2">
            <a:extLst>
              <a:ext uri="{FF2B5EF4-FFF2-40B4-BE49-F238E27FC236}">
                <a16:creationId xmlns:a16="http://schemas.microsoft.com/office/drawing/2014/main" id="{24E43004-FE3C-417F-5A22-BED9BF6060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7945" y="1210334"/>
            <a:ext cx="7954055" cy="5538809"/>
          </a:xfrm>
          <a:prstGeom prst="rect">
            <a:avLst/>
          </a:prstGeom>
          <a:noFill/>
          <a:extLst>
            <a:ext uri="{909E8E84-426E-40DD-AFC4-6F175D3DCCD1}">
              <a14:hiddenFill xmlns:a14="http://schemas.microsoft.com/office/drawing/2010/main">
                <a:solidFill>
                  <a:srgbClr val="FFFFFF"/>
                </a:solidFill>
              </a14:hiddenFill>
            </a:ext>
          </a:extLst>
        </p:spPr>
      </p:pic>
      <p:sp>
        <p:nvSpPr>
          <p:cNvPr id="6" name="CasellaDiTesto 5">
            <a:extLst>
              <a:ext uri="{FF2B5EF4-FFF2-40B4-BE49-F238E27FC236}">
                <a16:creationId xmlns:a16="http://schemas.microsoft.com/office/drawing/2014/main" id="{08BEAFE2-6AD4-AD5B-2E72-C6A2826DCAB4}"/>
              </a:ext>
            </a:extLst>
          </p:cNvPr>
          <p:cNvSpPr txBox="1"/>
          <p:nvPr/>
        </p:nvSpPr>
        <p:spPr>
          <a:xfrm>
            <a:off x="693234" y="2964075"/>
            <a:ext cx="3109332" cy="2031325"/>
          </a:xfrm>
          <a:prstGeom prst="rect">
            <a:avLst/>
          </a:prstGeom>
          <a:noFill/>
        </p:spPr>
        <p:txBody>
          <a:bodyPr wrap="square" rtlCol="0">
            <a:spAutoFit/>
          </a:bodyPr>
          <a:lstStyle/>
          <a:p>
            <a:r>
              <a:rPr lang="en-US" dirty="0" err="1"/>
              <a:t>Aïmeur</a:t>
            </a:r>
            <a:r>
              <a:rPr lang="en-US" dirty="0"/>
              <a:t>, E., Amri, S., &amp; Brassard, G. (2023). Fake news, disinformation and misinformation in social media: a review. </a:t>
            </a:r>
            <a:r>
              <a:rPr lang="en-US" i="1" dirty="0"/>
              <a:t>Social Network Analysis and Mining</a:t>
            </a:r>
            <a:r>
              <a:rPr lang="en-US" dirty="0"/>
              <a:t>, </a:t>
            </a:r>
            <a:r>
              <a:rPr lang="en-US" i="1" dirty="0"/>
              <a:t>13</a:t>
            </a:r>
            <a:r>
              <a:rPr lang="en-US" dirty="0"/>
              <a:t>(1), 30.</a:t>
            </a:r>
            <a:endParaRPr lang="it-IT" dirty="0"/>
          </a:p>
        </p:txBody>
      </p:sp>
    </p:spTree>
    <p:extLst>
      <p:ext uri="{BB962C8B-B14F-4D97-AF65-F5344CB8AC3E}">
        <p14:creationId xmlns:p14="http://schemas.microsoft.com/office/powerpoint/2010/main" val="35529183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C79D8-813B-03F2-B578-3AC0997209E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3B1A27-3AE7-4B4E-0EBA-F55AABB11766}"/>
              </a:ext>
            </a:extLst>
          </p:cNvPr>
          <p:cNvSpPr>
            <a:spLocks noGrp="1"/>
          </p:cNvSpPr>
          <p:nvPr>
            <p:ph type="title"/>
          </p:nvPr>
        </p:nvSpPr>
        <p:spPr/>
        <p:txBody>
          <a:bodyPr/>
          <a:lstStyle/>
          <a:p>
            <a:r>
              <a:rPr lang="pt-BR" dirty="0"/>
              <a:t>What is misinformation?</a:t>
            </a:r>
            <a:endParaRPr lang="it-IT" dirty="0"/>
          </a:p>
        </p:txBody>
      </p:sp>
      <p:pic>
        <p:nvPicPr>
          <p:cNvPr id="4" name="Immagine 3" descr="Immagine che contiene testo, schermata, biglietto da visita&#10;&#10;Il contenuto generato dall'IA potrebbe non essere corretto.">
            <a:extLst>
              <a:ext uri="{FF2B5EF4-FFF2-40B4-BE49-F238E27FC236}">
                <a16:creationId xmlns:a16="http://schemas.microsoft.com/office/drawing/2014/main" id="{9DB9431E-BDF7-D763-ADC1-BB65684D8C50}"/>
              </a:ext>
            </a:extLst>
          </p:cNvPr>
          <p:cNvPicPr>
            <a:picLocks noChangeAspect="1"/>
          </p:cNvPicPr>
          <p:nvPr/>
        </p:nvPicPr>
        <p:blipFill>
          <a:blip r:embed="rId3"/>
          <a:stretch>
            <a:fillRect/>
          </a:stretch>
        </p:blipFill>
        <p:spPr>
          <a:xfrm rot="5400000">
            <a:off x="1686919" y="2053174"/>
            <a:ext cx="5334463" cy="4275190"/>
          </a:xfrm>
          <a:prstGeom prst="rect">
            <a:avLst/>
          </a:prstGeom>
        </p:spPr>
      </p:pic>
      <p:pic>
        <p:nvPicPr>
          <p:cNvPr id="7" name="Immagine 6" descr="Immagine che contiene testo, schermata, diagramma, design&#10;&#10;Il contenuto generato dall'IA potrebbe non essere corretto.">
            <a:extLst>
              <a:ext uri="{FF2B5EF4-FFF2-40B4-BE49-F238E27FC236}">
                <a16:creationId xmlns:a16="http://schemas.microsoft.com/office/drawing/2014/main" id="{2A0D0E20-F79A-CD87-E97B-AAEF141AA4A2}"/>
              </a:ext>
            </a:extLst>
          </p:cNvPr>
          <p:cNvPicPr>
            <a:picLocks noChangeAspect="1"/>
          </p:cNvPicPr>
          <p:nvPr/>
        </p:nvPicPr>
        <p:blipFill>
          <a:blip r:embed="rId4"/>
          <a:stretch>
            <a:fillRect/>
          </a:stretch>
        </p:blipFill>
        <p:spPr>
          <a:xfrm rot="5400000">
            <a:off x="6674642" y="1340642"/>
            <a:ext cx="5334462" cy="5700254"/>
          </a:xfrm>
          <a:prstGeom prst="rect">
            <a:avLst/>
          </a:prstGeom>
        </p:spPr>
      </p:pic>
      <p:sp>
        <p:nvSpPr>
          <p:cNvPr id="8" name="CasellaDiTesto 7">
            <a:extLst>
              <a:ext uri="{FF2B5EF4-FFF2-40B4-BE49-F238E27FC236}">
                <a16:creationId xmlns:a16="http://schemas.microsoft.com/office/drawing/2014/main" id="{72461268-1177-7706-55CE-7C0C053436AD}"/>
              </a:ext>
            </a:extLst>
          </p:cNvPr>
          <p:cNvSpPr txBox="1"/>
          <p:nvPr/>
        </p:nvSpPr>
        <p:spPr>
          <a:xfrm>
            <a:off x="313752" y="1927012"/>
            <a:ext cx="1902803" cy="3139321"/>
          </a:xfrm>
          <a:prstGeom prst="rect">
            <a:avLst/>
          </a:prstGeom>
          <a:noFill/>
        </p:spPr>
        <p:txBody>
          <a:bodyPr wrap="square" rtlCol="0">
            <a:spAutoFit/>
          </a:bodyPr>
          <a:lstStyle/>
          <a:p>
            <a:r>
              <a:rPr lang="en-US" dirty="0"/>
              <a:t>Adams, Z., Osman, M., </a:t>
            </a:r>
            <a:r>
              <a:rPr lang="en-US" dirty="0" err="1"/>
              <a:t>Bechlivanidis</a:t>
            </a:r>
            <a:r>
              <a:rPr lang="en-US" dirty="0"/>
              <a:t>, C., &amp; Meder, B. (2023). (Why) is misinformation a problem?. </a:t>
            </a:r>
            <a:r>
              <a:rPr lang="en-US" i="1" dirty="0"/>
              <a:t>Perspectives on Psychological Science</a:t>
            </a:r>
            <a:r>
              <a:rPr lang="en-US" dirty="0"/>
              <a:t>, </a:t>
            </a:r>
            <a:r>
              <a:rPr lang="en-US" i="1" dirty="0"/>
              <a:t>18</a:t>
            </a:r>
            <a:r>
              <a:rPr lang="en-US" dirty="0"/>
              <a:t>(6), 1436-1463.</a:t>
            </a:r>
            <a:endParaRPr lang="it-IT" dirty="0"/>
          </a:p>
        </p:txBody>
      </p:sp>
    </p:spTree>
    <p:extLst>
      <p:ext uri="{BB962C8B-B14F-4D97-AF65-F5344CB8AC3E}">
        <p14:creationId xmlns:p14="http://schemas.microsoft.com/office/powerpoint/2010/main" val="4034230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7C16F0E-C8CC-BB24-B25C-01BEFFCE1B2C}"/>
              </a:ext>
            </a:extLst>
          </p:cNvPr>
          <p:cNvSpPr>
            <a:spLocks noGrp="1"/>
          </p:cNvSpPr>
          <p:nvPr>
            <p:ph type="title"/>
          </p:nvPr>
        </p:nvSpPr>
        <p:spPr/>
        <p:txBody>
          <a:bodyPr/>
          <a:lstStyle/>
          <a:p>
            <a:r>
              <a:rPr lang="pt-BR" dirty="0"/>
              <a:t>Why do we fall for misinformation?</a:t>
            </a:r>
            <a:endParaRPr lang="it-IT" dirty="0"/>
          </a:p>
        </p:txBody>
      </p:sp>
      <p:sp>
        <p:nvSpPr>
          <p:cNvPr id="3" name="Segnaposto contenuto 2">
            <a:extLst>
              <a:ext uri="{FF2B5EF4-FFF2-40B4-BE49-F238E27FC236}">
                <a16:creationId xmlns:a16="http://schemas.microsoft.com/office/drawing/2014/main" id="{10764DE3-47CC-0054-E12B-A9952CDEE64D}"/>
              </a:ext>
            </a:extLst>
          </p:cNvPr>
          <p:cNvSpPr>
            <a:spLocks noGrp="1"/>
          </p:cNvSpPr>
          <p:nvPr>
            <p:ph idx="1"/>
          </p:nvPr>
        </p:nvSpPr>
        <p:spPr/>
        <p:txBody>
          <a:bodyPr/>
          <a:lstStyle/>
          <a:p>
            <a:r>
              <a:rPr lang="pt-BR" dirty="0"/>
              <a:t>Cognitive miserliness</a:t>
            </a:r>
            <a:r>
              <a:rPr lang="pt-BR" baseline="30000" dirty="0"/>
              <a:t>[1]</a:t>
            </a:r>
            <a:r>
              <a:rPr lang="pt-BR" dirty="0"/>
              <a:t> / Dual process theory</a:t>
            </a:r>
            <a:r>
              <a:rPr lang="pt-BR" baseline="30000" dirty="0"/>
              <a:t>[2,3]</a:t>
            </a:r>
          </a:p>
          <a:p>
            <a:r>
              <a:rPr lang="pt-BR" dirty="0"/>
              <a:t>Heuristics</a:t>
            </a:r>
            <a:r>
              <a:rPr lang="pt-BR" baseline="30000" dirty="0"/>
              <a:t>[4]</a:t>
            </a:r>
          </a:p>
          <a:p>
            <a:r>
              <a:rPr lang="pt-BR" dirty="0"/>
              <a:t>Confirmation bias</a:t>
            </a:r>
            <a:r>
              <a:rPr lang="pt-BR" baseline="30000" dirty="0"/>
              <a:t>[5] </a:t>
            </a:r>
            <a:r>
              <a:rPr lang="pt-BR" dirty="0"/>
              <a:t>/ Selective exposure </a:t>
            </a:r>
            <a:r>
              <a:rPr lang="pt-BR" baseline="30000" dirty="0"/>
              <a:t>[6]</a:t>
            </a:r>
          </a:p>
          <a:p>
            <a:r>
              <a:rPr lang="pt-BR" dirty="0"/>
              <a:t>Identity-Protective Cognition</a:t>
            </a:r>
            <a:r>
              <a:rPr lang="pt-BR" baseline="30000" dirty="0"/>
              <a:t>[7]</a:t>
            </a:r>
          </a:p>
          <a:p>
            <a:r>
              <a:rPr lang="pt-BR" dirty="0"/>
              <a:t>Naive Realism</a:t>
            </a:r>
            <a:r>
              <a:rPr lang="pt-BR" baseline="30000" dirty="0"/>
              <a:t>[8] / </a:t>
            </a:r>
            <a:r>
              <a:rPr lang="pt-BR" dirty="0"/>
              <a:t>Pluralistic ignorance </a:t>
            </a:r>
            <a:r>
              <a:rPr lang="pt-BR" baseline="30000" dirty="0"/>
              <a:t>[9]</a:t>
            </a:r>
          </a:p>
          <a:p>
            <a:r>
              <a:rPr lang="pt-BR" dirty="0"/>
              <a:t>Illusory Truth Effect </a:t>
            </a:r>
            <a:r>
              <a:rPr lang="pt-BR" baseline="30000" dirty="0"/>
              <a:t>[10]</a:t>
            </a:r>
            <a:r>
              <a:rPr lang="pt-BR" dirty="0"/>
              <a:t> / Bandwagon effect </a:t>
            </a:r>
            <a:r>
              <a:rPr lang="pt-BR" baseline="30000" dirty="0"/>
              <a:t>[11]</a:t>
            </a:r>
          </a:p>
          <a:p>
            <a:r>
              <a:rPr lang="pt-BR" dirty="0"/>
              <a:t>Algorithmic Amplification / Homophily </a:t>
            </a:r>
            <a:r>
              <a:rPr lang="pt-BR" baseline="30000" dirty="0"/>
              <a:t>[12]</a:t>
            </a:r>
          </a:p>
          <a:p>
            <a:endParaRPr lang="it-IT" dirty="0"/>
          </a:p>
        </p:txBody>
      </p:sp>
    </p:spTree>
    <p:extLst>
      <p:ext uri="{BB962C8B-B14F-4D97-AF65-F5344CB8AC3E}">
        <p14:creationId xmlns:p14="http://schemas.microsoft.com/office/powerpoint/2010/main" val="2805718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9C7047E-358D-5DDE-A402-B187628544E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7806174-7905-472A-B3A2-5C4FEC8711AC}"/>
              </a:ext>
            </a:extLst>
          </p:cNvPr>
          <p:cNvSpPr>
            <a:spLocks noGrp="1"/>
          </p:cNvSpPr>
          <p:nvPr>
            <p:ph type="title"/>
          </p:nvPr>
        </p:nvSpPr>
        <p:spPr/>
        <p:txBody>
          <a:bodyPr/>
          <a:lstStyle/>
          <a:p>
            <a:r>
              <a:rPr lang="pt-BR" dirty="0"/>
              <a:t>How does this relate to text?</a:t>
            </a:r>
            <a:endParaRPr lang="it-IT" dirty="0"/>
          </a:p>
        </p:txBody>
      </p:sp>
      <p:sp>
        <p:nvSpPr>
          <p:cNvPr id="3" name="Segnaposto contenuto 2">
            <a:extLst>
              <a:ext uri="{FF2B5EF4-FFF2-40B4-BE49-F238E27FC236}">
                <a16:creationId xmlns:a16="http://schemas.microsoft.com/office/drawing/2014/main" id="{C4189781-646E-BECA-896E-6DE019AFFDCE}"/>
              </a:ext>
            </a:extLst>
          </p:cNvPr>
          <p:cNvSpPr>
            <a:spLocks noGrp="1"/>
          </p:cNvSpPr>
          <p:nvPr>
            <p:ph idx="1"/>
          </p:nvPr>
        </p:nvSpPr>
        <p:spPr>
          <a:xfrm>
            <a:off x="838200" y="1482811"/>
            <a:ext cx="10515600" cy="5202194"/>
          </a:xfrm>
        </p:spPr>
        <p:txBody>
          <a:bodyPr>
            <a:normAutofit fontScale="85000" lnSpcReduction="20000"/>
          </a:bodyPr>
          <a:lstStyle/>
          <a:p>
            <a:r>
              <a:rPr lang="pt-BR" dirty="0"/>
              <a:t>Rethorical features can trigger and exploit cognitive biases</a:t>
            </a:r>
            <a:endParaRPr lang="it-IT" dirty="0"/>
          </a:p>
          <a:p>
            <a:r>
              <a:rPr lang="it-IT" dirty="0"/>
              <a:t>Some </a:t>
            </a:r>
            <a:r>
              <a:rPr lang="it-IT" dirty="0" err="1"/>
              <a:t>examples</a:t>
            </a:r>
            <a:r>
              <a:rPr lang="it-IT" dirty="0"/>
              <a:t>:</a:t>
            </a:r>
          </a:p>
          <a:p>
            <a:pPr lvl="1"/>
            <a:r>
              <a:rPr lang="it-IT" dirty="0" err="1"/>
              <a:t>Ambiguity</a:t>
            </a:r>
            <a:r>
              <a:rPr lang="it-IT" dirty="0"/>
              <a:t> («Reports </a:t>
            </a:r>
            <a:r>
              <a:rPr lang="it-IT" dirty="0" err="1"/>
              <a:t>suggest</a:t>
            </a:r>
            <a:r>
              <a:rPr lang="it-IT" dirty="0"/>
              <a:t>…»)</a:t>
            </a:r>
          </a:p>
          <a:p>
            <a:pPr lvl="1"/>
            <a:r>
              <a:rPr lang="it-IT" dirty="0" err="1"/>
              <a:t>Repetition</a:t>
            </a:r>
            <a:endParaRPr lang="it-IT" dirty="0"/>
          </a:p>
          <a:p>
            <a:pPr lvl="1"/>
            <a:r>
              <a:rPr lang="it-IT" dirty="0" err="1"/>
              <a:t>Emotional</a:t>
            </a:r>
            <a:r>
              <a:rPr lang="it-IT" dirty="0"/>
              <a:t> </a:t>
            </a:r>
            <a:r>
              <a:rPr lang="it-IT" dirty="0" err="1"/>
              <a:t>valence</a:t>
            </a:r>
            <a:r>
              <a:rPr lang="it-IT" dirty="0"/>
              <a:t> («</a:t>
            </a:r>
            <a:r>
              <a:rPr lang="it-IT" dirty="0" err="1"/>
              <a:t>Catastrophic</a:t>
            </a:r>
            <a:r>
              <a:rPr lang="it-IT" dirty="0"/>
              <a:t> </a:t>
            </a:r>
            <a:r>
              <a:rPr lang="it-IT" dirty="0" err="1"/>
              <a:t>threat</a:t>
            </a:r>
            <a:r>
              <a:rPr lang="it-IT" dirty="0"/>
              <a:t>…»)</a:t>
            </a:r>
          </a:p>
          <a:p>
            <a:pPr lvl="1"/>
            <a:r>
              <a:rPr lang="it-IT" dirty="0" err="1"/>
              <a:t>Dehumanization</a:t>
            </a:r>
            <a:r>
              <a:rPr lang="it-IT" dirty="0"/>
              <a:t> («</a:t>
            </a:r>
            <a:r>
              <a:rPr lang="it-IT" dirty="0" err="1"/>
              <a:t>Illegal</a:t>
            </a:r>
            <a:r>
              <a:rPr lang="it-IT" dirty="0"/>
              <a:t> </a:t>
            </a:r>
            <a:r>
              <a:rPr lang="it-IT" dirty="0" err="1"/>
              <a:t>aliens</a:t>
            </a:r>
            <a:r>
              <a:rPr lang="it-IT" dirty="0"/>
              <a:t>»)</a:t>
            </a:r>
          </a:p>
          <a:p>
            <a:pPr lvl="1"/>
            <a:r>
              <a:rPr lang="it-IT" dirty="0" err="1"/>
              <a:t>Intensifiers</a:t>
            </a:r>
            <a:r>
              <a:rPr lang="it-IT" dirty="0"/>
              <a:t> («</a:t>
            </a:r>
            <a:r>
              <a:rPr lang="it-IT" dirty="0" err="1"/>
              <a:t>Unprecedented</a:t>
            </a:r>
            <a:r>
              <a:rPr lang="it-IT" dirty="0"/>
              <a:t> </a:t>
            </a:r>
            <a:r>
              <a:rPr lang="it-IT" dirty="0" err="1"/>
              <a:t>crisis</a:t>
            </a:r>
            <a:r>
              <a:rPr lang="it-IT" dirty="0"/>
              <a:t>…»; «</a:t>
            </a:r>
            <a:r>
              <a:rPr lang="it-IT" dirty="0" err="1"/>
              <a:t>Thousands</a:t>
            </a:r>
            <a:r>
              <a:rPr lang="it-IT" dirty="0"/>
              <a:t> </a:t>
            </a:r>
            <a:r>
              <a:rPr lang="it-IT" dirty="0" err="1"/>
              <a:t>affected</a:t>
            </a:r>
            <a:r>
              <a:rPr lang="it-IT" dirty="0"/>
              <a:t>»)</a:t>
            </a:r>
          </a:p>
          <a:p>
            <a:pPr lvl="1"/>
            <a:r>
              <a:rPr lang="it-IT" dirty="0"/>
              <a:t>Narrative framing (e.g., </a:t>
            </a:r>
            <a:r>
              <a:rPr lang="it-IT" dirty="0" err="1"/>
              <a:t>victimhood</a:t>
            </a:r>
            <a:r>
              <a:rPr lang="it-IT" dirty="0"/>
              <a:t>)</a:t>
            </a:r>
          </a:p>
          <a:p>
            <a:pPr lvl="1"/>
            <a:r>
              <a:rPr lang="it-IT" dirty="0"/>
              <a:t>Social </a:t>
            </a:r>
            <a:r>
              <a:rPr lang="it-IT" dirty="0" err="1"/>
              <a:t>proofing</a:t>
            </a:r>
            <a:r>
              <a:rPr lang="it-IT" dirty="0"/>
              <a:t> («</a:t>
            </a:r>
            <a:r>
              <a:rPr lang="it-IT" dirty="0" err="1"/>
              <a:t>Many</a:t>
            </a:r>
            <a:r>
              <a:rPr lang="it-IT" dirty="0"/>
              <a:t> </a:t>
            </a:r>
            <a:r>
              <a:rPr lang="it-IT" dirty="0" err="1"/>
              <a:t>believe</a:t>
            </a:r>
            <a:r>
              <a:rPr lang="it-IT" dirty="0"/>
              <a:t>…»)</a:t>
            </a:r>
          </a:p>
          <a:p>
            <a:pPr lvl="1"/>
            <a:r>
              <a:rPr lang="it-IT" dirty="0"/>
              <a:t>Authority appeals («Scientists </a:t>
            </a:r>
            <a:r>
              <a:rPr lang="it-IT" dirty="0" err="1"/>
              <a:t>confirm</a:t>
            </a:r>
            <a:r>
              <a:rPr lang="it-IT" dirty="0"/>
              <a:t>…»)</a:t>
            </a:r>
          </a:p>
          <a:p>
            <a:pPr lvl="1"/>
            <a:r>
              <a:rPr lang="it-IT" dirty="0" err="1"/>
              <a:t>Pseudo-scientific</a:t>
            </a:r>
            <a:r>
              <a:rPr lang="it-IT" dirty="0"/>
              <a:t> </a:t>
            </a:r>
            <a:r>
              <a:rPr lang="it-IT" dirty="0" err="1"/>
              <a:t>language</a:t>
            </a:r>
            <a:endParaRPr lang="it-IT" dirty="0"/>
          </a:p>
          <a:p>
            <a:pPr lvl="1"/>
            <a:r>
              <a:rPr lang="it-IT" dirty="0" err="1"/>
              <a:t>Epistemic</a:t>
            </a:r>
            <a:r>
              <a:rPr lang="it-IT" dirty="0"/>
              <a:t> markers («</a:t>
            </a:r>
            <a:r>
              <a:rPr lang="it-IT" dirty="0" err="1"/>
              <a:t>There</a:t>
            </a:r>
            <a:r>
              <a:rPr lang="it-IT" dirty="0"/>
              <a:t> </a:t>
            </a:r>
            <a:r>
              <a:rPr lang="it-IT" dirty="0" err="1"/>
              <a:t>is</a:t>
            </a:r>
            <a:r>
              <a:rPr lang="it-IT" dirty="0"/>
              <a:t> no </a:t>
            </a:r>
            <a:r>
              <a:rPr lang="it-IT" dirty="0" err="1"/>
              <a:t>doubt</a:t>
            </a:r>
            <a:r>
              <a:rPr lang="it-IT" dirty="0"/>
              <a:t> </a:t>
            </a:r>
            <a:r>
              <a:rPr lang="it-IT" dirty="0" err="1"/>
              <a:t>that</a:t>
            </a:r>
            <a:r>
              <a:rPr lang="it-IT" dirty="0"/>
              <a:t>»)</a:t>
            </a:r>
          </a:p>
          <a:p>
            <a:pPr lvl="1"/>
            <a:r>
              <a:rPr lang="it-IT" dirty="0"/>
              <a:t>Shorter words</a:t>
            </a:r>
          </a:p>
          <a:p>
            <a:pPr lvl="1"/>
            <a:r>
              <a:rPr lang="it-IT" dirty="0" err="1"/>
              <a:t>Us</a:t>
            </a:r>
            <a:r>
              <a:rPr lang="it-IT" dirty="0"/>
              <a:t> vs. </a:t>
            </a:r>
            <a:r>
              <a:rPr lang="it-IT" dirty="0" err="1"/>
              <a:t>Them</a:t>
            </a:r>
            <a:endParaRPr lang="it-IT" dirty="0"/>
          </a:p>
          <a:p>
            <a:pPr lvl="1"/>
            <a:r>
              <a:rPr lang="it-IT" dirty="0" err="1"/>
              <a:t>Moralization</a:t>
            </a:r>
            <a:endParaRPr lang="it-IT" dirty="0"/>
          </a:p>
          <a:p>
            <a:pPr lvl="1"/>
            <a:r>
              <a:rPr lang="it-IT" dirty="0" err="1"/>
              <a:t>Rethorical</a:t>
            </a:r>
            <a:r>
              <a:rPr lang="it-IT" dirty="0"/>
              <a:t> </a:t>
            </a:r>
            <a:r>
              <a:rPr lang="it-IT" dirty="0" err="1"/>
              <a:t>questions</a:t>
            </a:r>
            <a:endParaRPr lang="it-IT" dirty="0"/>
          </a:p>
          <a:p>
            <a:pPr lvl="1"/>
            <a:r>
              <a:rPr lang="it-IT" dirty="0" err="1"/>
              <a:t>Anecdotal</a:t>
            </a:r>
            <a:r>
              <a:rPr lang="it-IT" dirty="0"/>
              <a:t> reporting </a:t>
            </a:r>
          </a:p>
        </p:txBody>
      </p:sp>
    </p:spTree>
    <p:extLst>
      <p:ext uri="{BB962C8B-B14F-4D97-AF65-F5344CB8AC3E}">
        <p14:creationId xmlns:p14="http://schemas.microsoft.com/office/powerpoint/2010/main" val="2257325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E4D730A-6D36-ADE3-290D-BD68D933C9BD}"/>
              </a:ext>
            </a:extLst>
          </p:cNvPr>
          <p:cNvSpPr>
            <a:spLocks noGrp="1"/>
          </p:cNvSpPr>
          <p:nvPr>
            <p:ph type="title"/>
          </p:nvPr>
        </p:nvSpPr>
        <p:spPr/>
        <p:txBody>
          <a:bodyPr/>
          <a:lstStyle/>
          <a:p>
            <a:r>
              <a:rPr lang="en-US" dirty="0"/>
              <a:t>From cognitive biases to linguistic signals</a:t>
            </a:r>
            <a:endParaRPr lang="it-IT" dirty="0"/>
          </a:p>
        </p:txBody>
      </p:sp>
      <p:sp>
        <p:nvSpPr>
          <p:cNvPr id="3" name="Segnaposto contenuto 2">
            <a:extLst>
              <a:ext uri="{FF2B5EF4-FFF2-40B4-BE49-F238E27FC236}">
                <a16:creationId xmlns:a16="http://schemas.microsoft.com/office/drawing/2014/main" id="{55DFD093-92DB-1630-79B7-91973505376C}"/>
              </a:ext>
            </a:extLst>
          </p:cNvPr>
          <p:cNvSpPr>
            <a:spLocks noGrp="1"/>
          </p:cNvSpPr>
          <p:nvPr>
            <p:ph idx="1"/>
          </p:nvPr>
        </p:nvSpPr>
        <p:spPr/>
        <p:txBody>
          <a:bodyPr/>
          <a:lstStyle/>
          <a:p>
            <a:r>
              <a:rPr lang="it-IT" dirty="0" err="1"/>
              <a:t>Exploiting</a:t>
            </a:r>
            <a:r>
              <a:rPr lang="it-IT" dirty="0"/>
              <a:t> Cognitive </a:t>
            </a:r>
            <a:r>
              <a:rPr lang="it-IT" dirty="0" err="1"/>
              <a:t>Miserliness</a:t>
            </a:r>
            <a:endParaRPr lang="it-IT" dirty="0"/>
          </a:p>
          <a:p>
            <a:r>
              <a:rPr lang="en-US" dirty="0"/>
              <a:t>Linguistic cues:</a:t>
            </a:r>
          </a:p>
          <a:p>
            <a:pPr lvl="1"/>
            <a:r>
              <a:rPr lang="en-US" dirty="0"/>
              <a:t>Repetition</a:t>
            </a:r>
          </a:p>
          <a:p>
            <a:pPr lvl="1"/>
            <a:r>
              <a:rPr lang="en-US" dirty="0"/>
              <a:t>Simple syntax / short words</a:t>
            </a:r>
          </a:p>
          <a:p>
            <a:pPr lvl="1"/>
            <a:r>
              <a:rPr lang="en-US" dirty="0"/>
              <a:t>Urgency cues (“Act now”)</a:t>
            </a:r>
          </a:p>
          <a:p>
            <a:pPr lvl="1"/>
            <a:r>
              <a:rPr lang="en-US" dirty="0"/>
              <a:t>Emotional intensifiers (“Catastrophic”, “Unprecedented”)</a:t>
            </a:r>
          </a:p>
          <a:p>
            <a:r>
              <a:rPr lang="en-US" dirty="0"/>
              <a:t>Easy-to-process content feels true and shareable</a:t>
            </a:r>
            <a:endParaRPr lang="it-IT" dirty="0"/>
          </a:p>
        </p:txBody>
      </p:sp>
    </p:spTree>
    <p:extLst>
      <p:ext uri="{BB962C8B-B14F-4D97-AF65-F5344CB8AC3E}">
        <p14:creationId xmlns:p14="http://schemas.microsoft.com/office/powerpoint/2010/main" val="282170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7B6FB-DDB7-BD7C-5BF3-93797EC3071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6AD1D3-3AE1-0B67-97A7-866FC766D190}"/>
              </a:ext>
            </a:extLst>
          </p:cNvPr>
          <p:cNvSpPr>
            <a:spLocks noGrp="1"/>
          </p:cNvSpPr>
          <p:nvPr>
            <p:ph type="title"/>
          </p:nvPr>
        </p:nvSpPr>
        <p:spPr/>
        <p:txBody>
          <a:bodyPr/>
          <a:lstStyle/>
          <a:p>
            <a:r>
              <a:rPr lang="en-US" dirty="0"/>
              <a:t>From cognitive biases to linguistic signals</a:t>
            </a:r>
            <a:endParaRPr lang="it-IT" dirty="0"/>
          </a:p>
        </p:txBody>
      </p:sp>
      <p:sp>
        <p:nvSpPr>
          <p:cNvPr id="3" name="Segnaposto contenuto 2">
            <a:extLst>
              <a:ext uri="{FF2B5EF4-FFF2-40B4-BE49-F238E27FC236}">
                <a16:creationId xmlns:a16="http://schemas.microsoft.com/office/drawing/2014/main" id="{5D587EF2-BEFE-A196-6465-9E742F6C2B7E}"/>
              </a:ext>
            </a:extLst>
          </p:cNvPr>
          <p:cNvSpPr>
            <a:spLocks noGrp="1"/>
          </p:cNvSpPr>
          <p:nvPr>
            <p:ph idx="1"/>
          </p:nvPr>
        </p:nvSpPr>
        <p:spPr/>
        <p:txBody>
          <a:bodyPr/>
          <a:lstStyle/>
          <a:p>
            <a:r>
              <a:rPr lang="it-IT" dirty="0" err="1"/>
              <a:t>Exploiting</a:t>
            </a:r>
            <a:r>
              <a:rPr lang="it-IT" dirty="0"/>
              <a:t> </a:t>
            </a:r>
            <a:r>
              <a:rPr lang="it-IT" dirty="0" err="1"/>
              <a:t>Motivated</a:t>
            </a:r>
            <a:r>
              <a:rPr lang="it-IT" dirty="0"/>
              <a:t> </a:t>
            </a:r>
            <a:r>
              <a:rPr lang="it-IT" dirty="0" err="1"/>
              <a:t>Reasoning</a:t>
            </a:r>
            <a:endParaRPr lang="it-IT" dirty="0"/>
          </a:p>
          <a:p>
            <a:r>
              <a:rPr lang="en-US" dirty="0"/>
              <a:t>Linguistic cues:</a:t>
            </a:r>
          </a:p>
          <a:p>
            <a:pPr lvl="1"/>
            <a:r>
              <a:rPr lang="en-US" dirty="0"/>
              <a:t>Moral language (“Corrupt”, “Betrayal”)</a:t>
            </a:r>
          </a:p>
          <a:p>
            <a:pPr lvl="1"/>
            <a:r>
              <a:rPr lang="en-US" dirty="0"/>
              <a:t>Us vs. Them pronouns</a:t>
            </a:r>
          </a:p>
          <a:p>
            <a:pPr lvl="1"/>
            <a:r>
              <a:rPr lang="en-US" dirty="0"/>
              <a:t>Dehumanization (“Illegal aliens”)</a:t>
            </a:r>
          </a:p>
          <a:p>
            <a:pPr lvl="1"/>
            <a:r>
              <a:rPr lang="en-US" dirty="0"/>
              <a:t>Absolutist terms (“Always”, “Never”)</a:t>
            </a:r>
          </a:p>
          <a:p>
            <a:pPr lvl="1"/>
            <a:r>
              <a:rPr lang="en-US" dirty="0"/>
              <a:t>Victimhood framing</a:t>
            </a:r>
          </a:p>
          <a:p>
            <a:r>
              <a:rPr lang="it-IT" dirty="0"/>
              <a:t>Triggers </a:t>
            </a:r>
            <a:r>
              <a:rPr lang="it-IT" dirty="0" err="1"/>
              <a:t>identity-protective</a:t>
            </a:r>
            <a:r>
              <a:rPr lang="it-IT" dirty="0"/>
              <a:t> </a:t>
            </a:r>
            <a:r>
              <a:rPr lang="it-IT" dirty="0" err="1"/>
              <a:t>cognition</a:t>
            </a:r>
            <a:endParaRPr lang="it-IT" dirty="0"/>
          </a:p>
        </p:txBody>
      </p:sp>
    </p:spTree>
    <p:extLst>
      <p:ext uri="{BB962C8B-B14F-4D97-AF65-F5344CB8AC3E}">
        <p14:creationId xmlns:p14="http://schemas.microsoft.com/office/powerpoint/2010/main" val="2576880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AB493-3E89-263C-A5BF-2B1E13735AE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FA2C3-2755-FF43-0C45-058744AF0B3B}"/>
              </a:ext>
            </a:extLst>
          </p:cNvPr>
          <p:cNvSpPr>
            <a:spLocks noGrp="1"/>
          </p:cNvSpPr>
          <p:nvPr>
            <p:ph type="title"/>
          </p:nvPr>
        </p:nvSpPr>
        <p:spPr/>
        <p:txBody>
          <a:bodyPr/>
          <a:lstStyle/>
          <a:p>
            <a:r>
              <a:rPr lang="en-US" dirty="0"/>
              <a:t>From cognitive biases to linguistic signals</a:t>
            </a:r>
            <a:endParaRPr lang="it-IT" dirty="0"/>
          </a:p>
        </p:txBody>
      </p:sp>
      <p:sp>
        <p:nvSpPr>
          <p:cNvPr id="3" name="Segnaposto contenuto 2">
            <a:extLst>
              <a:ext uri="{FF2B5EF4-FFF2-40B4-BE49-F238E27FC236}">
                <a16:creationId xmlns:a16="http://schemas.microsoft.com/office/drawing/2014/main" id="{75A84B16-97FB-FF47-9B56-41ADCB984E44}"/>
              </a:ext>
            </a:extLst>
          </p:cNvPr>
          <p:cNvSpPr>
            <a:spLocks noGrp="1"/>
          </p:cNvSpPr>
          <p:nvPr>
            <p:ph idx="1"/>
          </p:nvPr>
        </p:nvSpPr>
        <p:spPr/>
        <p:txBody>
          <a:bodyPr/>
          <a:lstStyle/>
          <a:p>
            <a:r>
              <a:rPr lang="it-IT" dirty="0" err="1"/>
              <a:t>Exploiting</a:t>
            </a:r>
            <a:r>
              <a:rPr lang="it-IT" dirty="0"/>
              <a:t> Social </a:t>
            </a:r>
            <a:r>
              <a:rPr lang="it-IT" dirty="0" err="1"/>
              <a:t>Heuristics</a:t>
            </a:r>
            <a:endParaRPr lang="it-IT" dirty="0"/>
          </a:p>
          <a:p>
            <a:r>
              <a:rPr lang="en-US" dirty="0"/>
              <a:t>Linguistic cues:</a:t>
            </a:r>
          </a:p>
          <a:p>
            <a:pPr lvl="1"/>
            <a:r>
              <a:rPr lang="en-US" dirty="0"/>
              <a:t>Anecdotal reporting (“We saw firsthand…”)</a:t>
            </a:r>
          </a:p>
          <a:p>
            <a:pPr lvl="1"/>
            <a:r>
              <a:rPr lang="en-US" dirty="0"/>
              <a:t>Authority appeals (“Scientists confirm…”)</a:t>
            </a:r>
          </a:p>
          <a:p>
            <a:pPr lvl="1"/>
            <a:r>
              <a:rPr lang="en-US" dirty="0"/>
              <a:t>Consensus claims (“Everyone knows…”)</a:t>
            </a:r>
          </a:p>
          <a:p>
            <a:pPr lvl="1"/>
            <a:r>
              <a:rPr lang="en-US" dirty="0"/>
              <a:t>Pseudo-scientific tone</a:t>
            </a:r>
          </a:p>
          <a:p>
            <a:r>
              <a:rPr lang="it-IT" dirty="0" err="1"/>
              <a:t>Reduces</a:t>
            </a:r>
            <a:r>
              <a:rPr lang="it-IT" dirty="0"/>
              <a:t> </a:t>
            </a:r>
            <a:r>
              <a:rPr lang="it-IT" dirty="0" err="1"/>
              <a:t>epistemic</a:t>
            </a:r>
            <a:r>
              <a:rPr lang="it-IT" dirty="0"/>
              <a:t> </a:t>
            </a:r>
            <a:r>
              <a:rPr lang="it-IT" dirty="0" err="1"/>
              <a:t>effort</a:t>
            </a:r>
            <a:r>
              <a:rPr lang="it-IT" dirty="0"/>
              <a:t>, </a:t>
            </a:r>
            <a:r>
              <a:rPr lang="it-IT" dirty="0" err="1"/>
              <a:t>reliying</a:t>
            </a:r>
            <a:r>
              <a:rPr lang="it-IT" dirty="0"/>
              <a:t> on </a:t>
            </a:r>
            <a:r>
              <a:rPr lang="it-IT" dirty="0" err="1"/>
              <a:t>others</a:t>
            </a:r>
            <a:r>
              <a:rPr lang="it-IT" dirty="0"/>
              <a:t> </a:t>
            </a:r>
            <a:r>
              <a:rPr lang="it-IT" dirty="0" err="1"/>
              <a:t>as</a:t>
            </a:r>
            <a:r>
              <a:rPr lang="it-IT" dirty="0"/>
              <a:t> </a:t>
            </a:r>
            <a:r>
              <a:rPr lang="it-IT" dirty="0" err="1"/>
              <a:t>cues</a:t>
            </a:r>
            <a:endParaRPr lang="it-IT" dirty="0"/>
          </a:p>
        </p:txBody>
      </p:sp>
    </p:spTree>
    <p:extLst>
      <p:ext uri="{BB962C8B-B14F-4D97-AF65-F5344CB8AC3E}">
        <p14:creationId xmlns:p14="http://schemas.microsoft.com/office/powerpoint/2010/main" val="2149591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A49D2-80D3-7F38-14C3-D314C299FEC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816A71C-17A6-4600-5760-4FD778101468}"/>
              </a:ext>
            </a:extLst>
          </p:cNvPr>
          <p:cNvSpPr>
            <a:spLocks noGrp="1"/>
          </p:cNvSpPr>
          <p:nvPr>
            <p:ph type="title"/>
          </p:nvPr>
        </p:nvSpPr>
        <p:spPr/>
        <p:txBody>
          <a:bodyPr/>
          <a:lstStyle/>
          <a:p>
            <a:r>
              <a:rPr lang="en-US" dirty="0"/>
              <a:t>From cognitive biases to linguistic signals</a:t>
            </a:r>
            <a:endParaRPr lang="it-IT" dirty="0"/>
          </a:p>
        </p:txBody>
      </p:sp>
      <p:sp>
        <p:nvSpPr>
          <p:cNvPr id="3" name="Segnaposto contenuto 2">
            <a:extLst>
              <a:ext uri="{FF2B5EF4-FFF2-40B4-BE49-F238E27FC236}">
                <a16:creationId xmlns:a16="http://schemas.microsoft.com/office/drawing/2014/main" id="{0DC3D566-DEEB-24AA-2E67-5107B124C373}"/>
              </a:ext>
            </a:extLst>
          </p:cNvPr>
          <p:cNvSpPr>
            <a:spLocks noGrp="1"/>
          </p:cNvSpPr>
          <p:nvPr>
            <p:ph idx="1"/>
          </p:nvPr>
        </p:nvSpPr>
        <p:spPr/>
        <p:txBody>
          <a:bodyPr/>
          <a:lstStyle/>
          <a:p>
            <a:r>
              <a:rPr lang="it-IT" dirty="0" err="1"/>
              <a:t>Exploiting</a:t>
            </a:r>
            <a:r>
              <a:rPr lang="it-IT" dirty="0"/>
              <a:t> </a:t>
            </a:r>
            <a:r>
              <a:rPr lang="it-IT" dirty="0" err="1"/>
              <a:t>Uncertainty</a:t>
            </a:r>
            <a:endParaRPr lang="it-IT" dirty="0"/>
          </a:p>
          <a:p>
            <a:r>
              <a:rPr lang="en-US" dirty="0"/>
              <a:t>Linguistic cues:</a:t>
            </a:r>
          </a:p>
          <a:p>
            <a:pPr lvl="1"/>
            <a:r>
              <a:rPr lang="en-US" dirty="0"/>
              <a:t>Vagueness (“Reports say…”)</a:t>
            </a:r>
          </a:p>
          <a:p>
            <a:pPr lvl="1"/>
            <a:r>
              <a:rPr lang="en-US" dirty="0"/>
              <a:t>Epistemic hedging</a:t>
            </a:r>
          </a:p>
          <a:p>
            <a:pPr lvl="1"/>
            <a:r>
              <a:rPr lang="en-US" dirty="0"/>
              <a:t>Rhetorical questions</a:t>
            </a:r>
          </a:p>
          <a:p>
            <a:pPr lvl="1"/>
            <a:r>
              <a:rPr lang="en-US" dirty="0"/>
              <a:t>Suspicion framing (“Why are they hiding this?”)</a:t>
            </a:r>
          </a:p>
          <a:p>
            <a:r>
              <a:rPr lang="it-IT" dirty="0" err="1"/>
              <a:t>Encourages</a:t>
            </a:r>
            <a:r>
              <a:rPr lang="it-IT" dirty="0"/>
              <a:t> </a:t>
            </a:r>
            <a:r>
              <a:rPr lang="it-IT" dirty="0" err="1"/>
              <a:t>inference</a:t>
            </a:r>
            <a:r>
              <a:rPr lang="it-IT" dirty="0"/>
              <a:t> </a:t>
            </a:r>
            <a:r>
              <a:rPr lang="it-IT" dirty="0" err="1"/>
              <a:t>without</a:t>
            </a:r>
            <a:r>
              <a:rPr lang="it-IT" dirty="0"/>
              <a:t> </a:t>
            </a:r>
            <a:r>
              <a:rPr lang="it-IT" dirty="0" err="1"/>
              <a:t>verification</a:t>
            </a:r>
            <a:endParaRPr lang="it-IT" dirty="0"/>
          </a:p>
        </p:txBody>
      </p:sp>
    </p:spTree>
    <p:extLst>
      <p:ext uri="{BB962C8B-B14F-4D97-AF65-F5344CB8AC3E}">
        <p14:creationId xmlns:p14="http://schemas.microsoft.com/office/powerpoint/2010/main" val="3716248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descr="Immagine che contiene testo&#10;&#10;Il contenuto generato dall'IA potrebbe non essere corretto.">
            <a:extLst>
              <a:ext uri="{FF2B5EF4-FFF2-40B4-BE49-F238E27FC236}">
                <a16:creationId xmlns:a16="http://schemas.microsoft.com/office/drawing/2014/main" id="{79D97C51-A01C-DBB5-18D2-0AFDB6A8B197}"/>
              </a:ext>
            </a:extLst>
          </p:cNvPr>
          <p:cNvPicPr>
            <a:picLocks noChangeAspect="1"/>
          </p:cNvPicPr>
          <p:nvPr/>
        </p:nvPicPr>
        <p:blipFill>
          <a:blip r:embed="rId2"/>
          <a:srcRect l="1890" r="4171"/>
          <a:stretch>
            <a:fillRect/>
          </a:stretch>
        </p:blipFill>
        <p:spPr>
          <a:xfrm>
            <a:off x="5325626" y="0"/>
            <a:ext cx="6866374" cy="6858000"/>
          </a:xfrm>
          <a:prstGeom prst="rect">
            <a:avLst/>
          </a:prstGeom>
        </p:spPr>
      </p:pic>
      <p:sp>
        <p:nvSpPr>
          <p:cNvPr id="2" name="Titolo 1">
            <a:extLst>
              <a:ext uri="{FF2B5EF4-FFF2-40B4-BE49-F238E27FC236}">
                <a16:creationId xmlns:a16="http://schemas.microsoft.com/office/drawing/2014/main" id="{00A73660-1D10-3050-6980-21230265BAFB}"/>
              </a:ext>
            </a:extLst>
          </p:cNvPr>
          <p:cNvSpPr>
            <a:spLocks noGrp="1"/>
          </p:cNvSpPr>
          <p:nvPr>
            <p:ph type="title"/>
          </p:nvPr>
        </p:nvSpPr>
        <p:spPr>
          <a:xfrm>
            <a:off x="714633" y="340412"/>
            <a:ext cx="10515600" cy="1325563"/>
          </a:xfrm>
        </p:spPr>
        <p:txBody>
          <a:bodyPr/>
          <a:lstStyle/>
          <a:p>
            <a:r>
              <a:rPr lang="it-IT" dirty="0"/>
              <a:t>From </a:t>
            </a:r>
            <a:r>
              <a:rPr lang="it-IT" dirty="0" err="1"/>
              <a:t>bias</a:t>
            </a:r>
            <a:r>
              <a:rPr lang="it-IT" dirty="0"/>
              <a:t> to </a:t>
            </a:r>
            <a:r>
              <a:rPr lang="it-IT" dirty="0" err="1"/>
              <a:t>classifiers</a:t>
            </a:r>
            <a:endParaRPr lang="it-IT" dirty="0"/>
          </a:p>
        </p:txBody>
      </p:sp>
      <p:sp>
        <p:nvSpPr>
          <p:cNvPr id="3" name="Segnaposto contenuto 2">
            <a:extLst>
              <a:ext uri="{FF2B5EF4-FFF2-40B4-BE49-F238E27FC236}">
                <a16:creationId xmlns:a16="http://schemas.microsoft.com/office/drawing/2014/main" id="{56C1765E-F22B-6C20-171F-08FB95609690}"/>
              </a:ext>
            </a:extLst>
          </p:cNvPr>
          <p:cNvSpPr>
            <a:spLocks noGrp="1"/>
          </p:cNvSpPr>
          <p:nvPr>
            <p:ph idx="1"/>
          </p:nvPr>
        </p:nvSpPr>
        <p:spPr>
          <a:xfrm>
            <a:off x="838200" y="1825625"/>
            <a:ext cx="4166286" cy="4351338"/>
          </a:xfrm>
        </p:spPr>
        <p:txBody>
          <a:bodyPr/>
          <a:lstStyle/>
          <a:p>
            <a:r>
              <a:rPr lang="en-US" dirty="0"/>
              <a:t>If bias has linguistic signals, can we detect them?</a:t>
            </a:r>
          </a:p>
          <a:p>
            <a:r>
              <a:rPr lang="en-US" dirty="0"/>
              <a:t>Many classifiers use rhetorical &amp; stylistic features</a:t>
            </a:r>
          </a:p>
          <a:p>
            <a:r>
              <a:rPr lang="en-US" dirty="0"/>
              <a:t>Deep learning models (e.g., </a:t>
            </a:r>
            <a:r>
              <a:rPr lang="en-US" dirty="0" err="1"/>
              <a:t>XLNet</a:t>
            </a:r>
            <a:r>
              <a:rPr lang="en-US" dirty="0"/>
              <a:t>, BERT) accuracy &gt; 95% </a:t>
            </a:r>
            <a:r>
              <a:rPr lang="en-US" baseline="30000" dirty="0"/>
              <a:t>[13,14]</a:t>
            </a:r>
            <a:endParaRPr lang="it-IT" baseline="30000" dirty="0"/>
          </a:p>
        </p:txBody>
      </p:sp>
    </p:spTree>
    <p:extLst>
      <p:ext uri="{BB962C8B-B14F-4D97-AF65-F5344CB8AC3E}">
        <p14:creationId xmlns:p14="http://schemas.microsoft.com/office/powerpoint/2010/main" val="2279770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0E128F-EA53-E760-7A4E-2F0EFC017BB0}"/>
              </a:ext>
            </a:extLst>
          </p:cNvPr>
          <p:cNvSpPr>
            <a:spLocks noGrp="1"/>
          </p:cNvSpPr>
          <p:nvPr>
            <p:ph type="title"/>
          </p:nvPr>
        </p:nvSpPr>
        <p:spPr/>
        <p:txBody>
          <a:bodyPr/>
          <a:lstStyle/>
          <a:p>
            <a:r>
              <a:rPr lang="it-IT" dirty="0"/>
              <a:t>The </a:t>
            </a:r>
            <a:r>
              <a:rPr lang="it-IT" dirty="0" err="1"/>
              <a:t>limits</a:t>
            </a:r>
            <a:r>
              <a:rPr lang="it-IT" dirty="0"/>
              <a:t> of </a:t>
            </a:r>
            <a:r>
              <a:rPr lang="it-IT" dirty="0" err="1"/>
              <a:t>detection</a:t>
            </a:r>
            <a:endParaRPr lang="it-IT" dirty="0"/>
          </a:p>
        </p:txBody>
      </p:sp>
      <p:sp>
        <p:nvSpPr>
          <p:cNvPr id="3" name="Segnaposto contenuto 2">
            <a:extLst>
              <a:ext uri="{FF2B5EF4-FFF2-40B4-BE49-F238E27FC236}">
                <a16:creationId xmlns:a16="http://schemas.microsoft.com/office/drawing/2014/main" id="{3412A01B-0AAC-0235-58A2-37FE81C09487}"/>
              </a:ext>
            </a:extLst>
          </p:cNvPr>
          <p:cNvSpPr>
            <a:spLocks noGrp="1"/>
          </p:cNvSpPr>
          <p:nvPr>
            <p:ph idx="1"/>
          </p:nvPr>
        </p:nvSpPr>
        <p:spPr>
          <a:xfrm>
            <a:off x="838200" y="1825625"/>
            <a:ext cx="10515600" cy="4667250"/>
          </a:xfrm>
        </p:spPr>
        <p:txBody>
          <a:bodyPr>
            <a:normAutofit fontScale="92500" lnSpcReduction="10000"/>
          </a:bodyPr>
          <a:lstStyle/>
          <a:p>
            <a:r>
              <a:rPr lang="it-IT" dirty="0"/>
              <a:t>Data-</a:t>
            </a:r>
            <a:r>
              <a:rPr lang="it-IT" dirty="0" err="1"/>
              <a:t>Related</a:t>
            </a:r>
            <a:r>
              <a:rPr lang="it-IT" dirty="0"/>
              <a:t> Challenges</a:t>
            </a:r>
          </a:p>
          <a:p>
            <a:pPr lvl="1"/>
            <a:r>
              <a:rPr lang="it-IT" dirty="0"/>
              <a:t>Quality vs </a:t>
            </a:r>
            <a:r>
              <a:rPr lang="it-IT" dirty="0" err="1"/>
              <a:t>quantity</a:t>
            </a:r>
            <a:endParaRPr lang="it-IT" dirty="0"/>
          </a:p>
          <a:p>
            <a:pPr lvl="1"/>
            <a:r>
              <a:rPr lang="it-IT" dirty="0"/>
              <a:t>Balance </a:t>
            </a:r>
            <a:r>
              <a:rPr lang="it-IT" dirty="0" err="1"/>
              <a:t>issue</a:t>
            </a:r>
            <a:endParaRPr lang="it-IT" dirty="0"/>
          </a:p>
          <a:p>
            <a:r>
              <a:rPr lang="it-IT" dirty="0" err="1"/>
              <a:t>Computational</a:t>
            </a:r>
            <a:r>
              <a:rPr lang="it-IT" dirty="0"/>
              <a:t> and </a:t>
            </a:r>
            <a:r>
              <a:rPr lang="it-IT" dirty="0" err="1"/>
              <a:t>Architectural</a:t>
            </a:r>
            <a:r>
              <a:rPr lang="it-IT" dirty="0"/>
              <a:t> Challenges</a:t>
            </a:r>
          </a:p>
          <a:p>
            <a:pPr lvl="1"/>
            <a:r>
              <a:rPr lang="it-IT" dirty="0"/>
              <a:t>Real-time </a:t>
            </a:r>
            <a:r>
              <a:rPr lang="it-IT" dirty="0" err="1"/>
              <a:t>applications</a:t>
            </a:r>
            <a:endParaRPr lang="it-IT" dirty="0"/>
          </a:p>
          <a:p>
            <a:r>
              <a:rPr lang="it-IT" dirty="0" err="1"/>
              <a:t>Interpretability</a:t>
            </a:r>
            <a:r>
              <a:rPr lang="it-IT" dirty="0"/>
              <a:t> and </a:t>
            </a:r>
            <a:r>
              <a:rPr lang="it-IT" dirty="0" err="1"/>
              <a:t>Explainability</a:t>
            </a:r>
            <a:r>
              <a:rPr lang="it-IT" dirty="0"/>
              <a:t> Challenges</a:t>
            </a:r>
          </a:p>
          <a:p>
            <a:pPr lvl="1"/>
            <a:r>
              <a:rPr lang="it-IT" dirty="0" err="1"/>
              <a:t>Lack</a:t>
            </a:r>
            <a:r>
              <a:rPr lang="it-IT" dirty="0"/>
              <a:t> of </a:t>
            </a:r>
            <a:r>
              <a:rPr lang="it-IT" dirty="0" err="1"/>
              <a:t>transparency</a:t>
            </a:r>
            <a:endParaRPr lang="it-IT" dirty="0"/>
          </a:p>
          <a:p>
            <a:r>
              <a:rPr lang="it-IT" dirty="0" err="1"/>
              <a:t>Ethical</a:t>
            </a:r>
            <a:r>
              <a:rPr lang="it-IT" dirty="0"/>
              <a:t> Challenges</a:t>
            </a:r>
          </a:p>
          <a:p>
            <a:pPr lvl="1"/>
            <a:r>
              <a:rPr lang="it-IT" dirty="0"/>
              <a:t>User data in training </a:t>
            </a:r>
            <a:r>
              <a:rPr lang="it-IT" dirty="0" err="1"/>
              <a:t>phase</a:t>
            </a:r>
            <a:endParaRPr lang="it-IT" dirty="0"/>
          </a:p>
          <a:p>
            <a:r>
              <a:rPr lang="it-IT" dirty="0" err="1"/>
              <a:t>Generalizability</a:t>
            </a:r>
            <a:r>
              <a:rPr lang="it-IT" dirty="0"/>
              <a:t> and </a:t>
            </a:r>
            <a:r>
              <a:rPr lang="it-IT" dirty="0" err="1"/>
              <a:t>Adaptability</a:t>
            </a:r>
            <a:r>
              <a:rPr lang="it-IT" dirty="0"/>
              <a:t> Challenges</a:t>
            </a:r>
          </a:p>
          <a:p>
            <a:pPr lvl="1"/>
            <a:r>
              <a:rPr lang="it-IT" dirty="0"/>
              <a:t>Cross-</a:t>
            </a:r>
            <a:r>
              <a:rPr lang="it-IT" dirty="0" err="1"/>
              <a:t>language</a:t>
            </a:r>
            <a:r>
              <a:rPr lang="it-IT" dirty="0"/>
              <a:t> and domain </a:t>
            </a:r>
            <a:r>
              <a:rPr lang="it-IT" dirty="0" err="1"/>
              <a:t>adaptation</a:t>
            </a:r>
            <a:endParaRPr lang="it-IT" dirty="0"/>
          </a:p>
          <a:p>
            <a:pPr lvl="1"/>
            <a:r>
              <a:rPr lang="it-IT" dirty="0" err="1"/>
              <a:t>LLMs</a:t>
            </a:r>
            <a:endParaRPr lang="it-IT" dirty="0"/>
          </a:p>
          <a:p>
            <a:endParaRPr lang="it-IT" dirty="0"/>
          </a:p>
        </p:txBody>
      </p:sp>
    </p:spTree>
    <p:extLst>
      <p:ext uri="{BB962C8B-B14F-4D97-AF65-F5344CB8AC3E}">
        <p14:creationId xmlns:p14="http://schemas.microsoft.com/office/powerpoint/2010/main" val="2143342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5E6A134-937C-8214-2354-D2359F63F5E9}"/>
              </a:ext>
            </a:extLst>
          </p:cNvPr>
          <p:cNvSpPr>
            <a:spLocks noGrp="1"/>
          </p:cNvSpPr>
          <p:nvPr>
            <p:ph type="title"/>
          </p:nvPr>
        </p:nvSpPr>
        <p:spPr/>
        <p:txBody>
          <a:bodyPr/>
          <a:lstStyle/>
          <a:p>
            <a:r>
              <a:rPr lang="pt-BR" dirty="0"/>
              <a:t>Static vs. adaptive manipulation</a:t>
            </a:r>
            <a:endParaRPr lang="it-IT" dirty="0"/>
          </a:p>
        </p:txBody>
      </p:sp>
      <p:sp>
        <p:nvSpPr>
          <p:cNvPr id="3" name="Segnaposto contenuto 2">
            <a:extLst>
              <a:ext uri="{FF2B5EF4-FFF2-40B4-BE49-F238E27FC236}">
                <a16:creationId xmlns:a16="http://schemas.microsoft.com/office/drawing/2014/main" id="{CABA82A2-4E7F-86D2-E1C4-1645453384D1}"/>
              </a:ext>
            </a:extLst>
          </p:cNvPr>
          <p:cNvSpPr>
            <a:spLocks noGrp="1"/>
          </p:cNvSpPr>
          <p:nvPr>
            <p:ph idx="1"/>
          </p:nvPr>
        </p:nvSpPr>
        <p:spPr/>
        <p:txBody>
          <a:bodyPr/>
          <a:lstStyle/>
          <a:p>
            <a:r>
              <a:rPr lang="en-US" dirty="0"/>
              <a:t>Static manipulation</a:t>
            </a:r>
          </a:p>
          <a:p>
            <a:pPr lvl="1"/>
            <a:r>
              <a:rPr lang="en-US" dirty="0"/>
              <a:t>Cognitive biases exist</a:t>
            </a:r>
          </a:p>
          <a:p>
            <a:pPr lvl="1"/>
            <a:r>
              <a:rPr lang="en-US" dirty="0"/>
              <a:t>Certain linguistic framings exploit them</a:t>
            </a:r>
          </a:p>
          <a:p>
            <a:pPr lvl="1"/>
            <a:r>
              <a:rPr lang="en-US" dirty="0"/>
              <a:t>We try to detect or debunk those patterns</a:t>
            </a:r>
          </a:p>
          <a:p>
            <a:r>
              <a:rPr lang="en-US" dirty="0"/>
              <a:t>What if the message changes depending on the audience?</a:t>
            </a:r>
          </a:p>
          <a:p>
            <a:pPr lvl="1"/>
            <a:r>
              <a:rPr lang="en-US" dirty="0"/>
              <a:t>(LLM-based) Microtargeting </a:t>
            </a:r>
            <a:r>
              <a:rPr lang="en-US" baseline="30000" dirty="0"/>
              <a:t>[16]</a:t>
            </a:r>
          </a:p>
          <a:p>
            <a:r>
              <a:rPr lang="en-US" dirty="0"/>
              <a:t>Interventions can also be personalized </a:t>
            </a:r>
            <a:r>
              <a:rPr lang="en-US" baseline="30000" dirty="0"/>
              <a:t>[17]</a:t>
            </a:r>
            <a:endParaRPr lang="it-IT" baseline="30000" dirty="0"/>
          </a:p>
        </p:txBody>
      </p:sp>
    </p:spTree>
    <p:extLst>
      <p:ext uri="{BB962C8B-B14F-4D97-AF65-F5344CB8AC3E}">
        <p14:creationId xmlns:p14="http://schemas.microsoft.com/office/powerpoint/2010/main" val="2112799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1323575-F3E6-C42A-D1E4-9E1A25914DF2}"/>
              </a:ext>
            </a:extLst>
          </p:cNvPr>
          <p:cNvSpPr>
            <a:spLocks noGrp="1"/>
          </p:cNvSpPr>
          <p:nvPr>
            <p:ph type="title"/>
          </p:nvPr>
        </p:nvSpPr>
        <p:spPr/>
        <p:txBody>
          <a:bodyPr/>
          <a:lstStyle/>
          <a:p>
            <a:r>
              <a:rPr lang="pt-BR" dirty="0"/>
              <a:t>The limits of debunking</a:t>
            </a:r>
            <a:endParaRPr lang="it-IT" dirty="0"/>
          </a:p>
        </p:txBody>
      </p:sp>
      <p:sp>
        <p:nvSpPr>
          <p:cNvPr id="3" name="Segnaposto contenuto 2">
            <a:extLst>
              <a:ext uri="{FF2B5EF4-FFF2-40B4-BE49-F238E27FC236}">
                <a16:creationId xmlns:a16="http://schemas.microsoft.com/office/drawing/2014/main" id="{F96E166F-86EF-F5FC-2995-4995470450A7}"/>
              </a:ext>
            </a:extLst>
          </p:cNvPr>
          <p:cNvSpPr>
            <a:spLocks noGrp="1"/>
          </p:cNvSpPr>
          <p:nvPr>
            <p:ph idx="1"/>
          </p:nvPr>
        </p:nvSpPr>
        <p:spPr>
          <a:xfrm>
            <a:off x="838200" y="1825624"/>
            <a:ext cx="10515600" cy="4871737"/>
          </a:xfrm>
        </p:spPr>
        <p:txBody>
          <a:bodyPr>
            <a:normAutofit lnSpcReduction="10000"/>
          </a:bodyPr>
          <a:lstStyle/>
          <a:p>
            <a:r>
              <a:rPr lang="pt-BR" dirty="0"/>
              <a:t>Prebunking vs debunking </a:t>
            </a:r>
            <a:r>
              <a:rPr lang="pt-BR" baseline="30000" dirty="0"/>
              <a:t>[15]</a:t>
            </a:r>
          </a:p>
          <a:p>
            <a:r>
              <a:rPr lang="pt-BR" dirty="0"/>
              <a:t>Examples:</a:t>
            </a:r>
          </a:p>
          <a:p>
            <a:pPr lvl="1"/>
            <a:r>
              <a:rPr lang="pt-BR" dirty="0"/>
              <a:t>Inoculation, </a:t>
            </a:r>
            <a:r>
              <a:rPr lang="pt-BR" u="sng" dirty="0"/>
              <a:t>accuracy</a:t>
            </a:r>
            <a:r>
              <a:rPr lang="pt-BR" dirty="0"/>
              <a:t> nudges, media literacy</a:t>
            </a:r>
          </a:p>
          <a:p>
            <a:pPr lvl="1"/>
            <a:r>
              <a:rPr lang="pt-BR" dirty="0"/>
              <a:t>Fact-checking corrections, platform labels</a:t>
            </a:r>
          </a:p>
          <a:p>
            <a:r>
              <a:rPr lang="pt-BR" dirty="0"/>
              <a:t>Classifiers are closer to debunking than prebunking</a:t>
            </a:r>
          </a:p>
          <a:p>
            <a:r>
              <a:rPr lang="pt-BR" dirty="0"/>
              <a:t>Prebunking &gt; debunking ?</a:t>
            </a:r>
          </a:p>
          <a:p>
            <a:r>
              <a:rPr lang="pt-BR" dirty="0"/>
              <a:t>Debunking works too but:</a:t>
            </a:r>
          </a:p>
          <a:p>
            <a:pPr lvl="1"/>
            <a:r>
              <a:rPr lang="pt-BR" dirty="0"/>
              <a:t>Causal alternative &gt; retraction</a:t>
            </a:r>
          </a:p>
          <a:p>
            <a:pPr lvl="1"/>
            <a:r>
              <a:rPr lang="pt-BR" dirty="0"/>
              <a:t>Correction from high-credibility sources</a:t>
            </a:r>
          </a:p>
          <a:p>
            <a:pPr lvl="1"/>
            <a:r>
              <a:rPr lang="pt-BR" dirty="0"/>
              <a:t>Language is important</a:t>
            </a:r>
          </a:p>
          <a:p>
            <a:pPr lvl="1"/>
            <a:r>
              <a:rPr lang="pt-BR" dirty="0"/>
              <a:t>Effects do not last/generalize to group-level</a:t>
            </a:r>
          </a:p>
          <a:p>
            <a:pPr lvl="1"/>
            <a:endParaRPr lang="pt-BR" dirty="0"/>
          </a:p>
          <a:p>
            <a:pPr lvl="1"/>
            <a:endParaRPr lang="pt-BR" dirty="0"/>
          </a:p>
          <a:p>
            <a:endParaRPr lang="pt-BR" dirty="0"/>
          </a:p>
          <a:p>
            <a:endParaRPr lang="it-IT" dirty="0"/>
          </a:p>
        </p:txBody>
      </p:sp>
    </p:spTree>
    <p:extLst>
      <p:ext uri="{BB962C8B-B14F-4D97-AF65-F5344CB8AC3E}">
        <p14:creationId xmlns:p14="http://schemas.microsoft.com/office/powerpoint/2010/main" val="4241700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896E4-E563-4BA8-6B5E-F86ADEF347F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A6C8E6D-3443-C8F1-6CD0-2A30A730E273}"/>
              </a:ext>
            </a:extLst>
          </p:cNvPr>
          <p:cNvSpPr>
            <a:spLocks noGrp="1"/>
          </p:cNvSpPr>
          <p:nvPr>
            <p:ph type="title"/>
          </p:nvPr>
        </p:nvSpPr>
        <p:spPr/>
        <p:txBody>
          <a:bodyPr/>
          <a:lstStyle/>
          <a:p>
            <a:r>
              <a:rPr lang="pt-BR" dirty="0"/>
              <a:t>The limits of debunking</a:t>
            </a:r>
            <a:endParaRPr lang="it-IT" dirty="0"/>
          </a:p>
        </p:txBody>
      </p:sp>
      <p:sp>
        <p:nvSpPr>
          <p:cNvPr id="3" name="Segnaposto contenuto 2">
            <a:extLst>
              <a:ext uri="{FF2B5EF4-FFF2-40B4-BE49-F238E27FC236}">
                <a16:creationId xmlns:a16="http://schemas.microsoft.com/office/drawing/2014/main" id="{9EFB0EFA-9BBC-8A10-FDA9-503850D09E19}"/>
              </a:ext>
            </a:extLst>
          </p:cNvPr>
          <p:cNvSpPr>
            <a:spLocks noGrp="1"/>
          </p:cNvSpPr>
          <p:nvPr>
            <p:ph idx="1"/>
          </p:nvPr>
        </p:nvSpPr>
        <p:spPr>
          <a:xfrm>
            <a:off x="838200" y="1825624"/>
            <a:ext cx="10515600" cy="4871737"/>
          </a:xfrm>
        </p:spPr>
        <p:txBody>
          <a:bodyPr>
            <a:normAutofit/>
          </a:bodyPr>
          <a:lstStyle/>
          <a:p>
            <a:r>
              <a:rPr lang="pt-BR" dirty="0"/>
              <a:t>Prebunking vs debunking </a:t>
            </a:r>
            <a:r>
              <a:rPr lang="pt-BR" baseline="30000" dirty="0"/>
              <a:t>[15]</a:t>
            </a:r>
          </a:p>
          <a:p>
            <a:r>
              <a:rPr lang="pt-BR" dirty="0"/>
              <a:t>Examples:</a:t>
            </a:r>
          </a:p>
          <a:p>
            <a:pPr lvl="1"/>
            <a:r>
              <a:rPr lang="pt-BR" dirty="0"/>
              <a:t>Inoculation, accuracy nudges, media literacy</a:t>
            </a:r>
          </a:p>
          <a:p>
            <a:pPr lvl="1"/>
            <a:r>
              <a:rPr lang="pt-BR" dirty="0"/>
              <a:t>Fact-checking corrections, platform labels</a:t>
            </a:r>
          </a:p>
          <a:p>
            <a:r>
              <a:rPr lang="pt-BR" dirty="0"/>
              <a:t>Classifiers are closer to debunking than prebunking</a:t>
            </a:r>
          </a:p>
          <a:p>
            <a:r>
              <a:rPr lang="pt-BR" dirty="0"/>
              <a:t>Debunking works too but:</a:t>
            </a:r>
          </a:p>
          <a:p>
            <a:pPr lvl="1"/>
            <a:r>
              <a:rPr lang="pt-BR" dirty="0"/>
              <a:t>Causal alternative &gt; retraction</a:t>
            </a:r>
          </a:p>
          <a:p>
            <a:pPr lvl="1"/>
            <a:r>
              <a:rPr lang="pt-BR" dirty="0"/>
              <a:t>Correction from high-credibility sources</a:t>
            </a:r>
          </a:p>
          <a:p>
            <a:pPr lvl="1"/>
            <a:r>
              <a:rPr lang="pt-BR" dirty="0"/>
              <a:t>Language is important</a:t>
            </a:r>
          </a:p>
          <a:p>
            <a:pPr lvl="1"/>
            <a:r>
              <a:rPr lang="pt-BR" dirty="0"/>
              <a:t>Effects do not last/generalize to group-level</a:t>
            </a:r>
          </a:p>
          <a:p>
            <a:pPr lvl="1"/>
            <a:endParaRPr lang="pt-BR" dirty="0"/>
          </a:p>
          <a:p>
            <a:pPr lvl="1"/>
            <a:endParaRPr lang="pt-BR" dirty="0"/>
          </a:p>
          <a:p>
            <a:endParaRPr lang="pt-BR" dirty="0"/>
          </a:p>
          <a:p>
            <a:endParaRPr lang="it-IT" dirty="0"/>
          </a:p>
        </p:txBody>
      </p:sp>
    </p:spTree>
    <p:extLst>
      <p:ext uri="{BB962C8B-B14F-4D97-AF65-F5344CB8AC3E}">
        <p14:creationId xmlns:p14="http://schemas.microsoft.com/office/powerpoint/2010/main" val="2700515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5A5C1-C125-3775-D3B3-A1F188AEFDC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8400F0E-D062-55F7-43E6-B070C5769ADE}"/>
              </a:ext>
            </a:extLst>
          </p:cNvPr>
          <p:cNvSpPr>
            <a:spLocks noGrp="1"/>
          </p:cNvSpPr>
          <p:nvPr>
            <p:ph type="title"/>
          </p:nvPr>
        </p:nvSpPr>
        <p:spPr/>
        <p:txBody>
          <a:bodyPr/>
          <a:lstStyle/>
          <a:p>
            <a:r>
              <a:rPr lang="pt-BR" dirty="0"/>
              <a:t>What is this course about?</a:t>
            </a:r>
            <a:endParaRPr lang="it-IT" dirty="0"/>
          </a:p>
        </p:txBody>
      </p:sp>
      <p:sp>
        <p:nvSpPr>
          <p:cNvPr id="3" name="Segnaposto contenuto 2">
            <a:extLst>
              <a:ext uri="{FF2B5EF4-FFF2-40B4-BE49-F238E27FC236}">
                <a16:creationId xmlns:a16="http://schemas.microsoft.com/office/drawing/2014/main" id="{B6D9C42C-C750-8128-C8E1-C9CE1EEED9B2}"/>
              </a:ext>
            </a:extLst>
          </p:cNvPr>
          <p:cNvSpPr>
            <a:spLocks noGrp="1"/>
          </p:cNvSpPr>
          <p:nvPr>
            <p:ph idx="1"/>
          </p:nvPr>
        </p:nvSpPr>
        <p:spPr>
          <a:xfrm>
            <a:off x="838201" y="1825625"/>
            <a:ext cx="5257800" cy="4351338"/>
          </a:xfrm>
        </p:spPr>
        <p:txBody>
          <a:bodyPr>
            <a:normAutofit/>
          </a:bodyPr>
          <a:lstStyle/>
          <a:p>
            <a:r>
              <a:rPr lang="pt-BR" dirty="0"/>
              <a:t>Natural language processing...with a twist.</a:t>
            </a:r>
          </a:p>
          <a:p>
            <a:r>
              <a:rPr lang="pt-BR" dirty="0"/>
              <a:t>Why it matters?</a:t>
            </a:r>
          </a:p>
          <a:p>
            <a:r>
              <a:rPr lang="en-US" dirty="0"/>
              <a:t>We use NLP to measure “minds” through language</a:t>
            </a:r>
            <a:endParaRPr lang="pt-BR" dirty="0"/>
          </a:p>
        </p:txBody>
      </p:sp>
      <p:graphicFrame>
        <p:nvGraphicFramePr>
          <p:cNvPr id="4" name="Diagramma 3">
            <a:extLst>
              <a:ext uri="{FF2B5EF4-FFF2-40B4-BE49-F238E27FC236}">
                <a16:creationId xmlns:a16="http://schemas.microsoft.com/office/drawing/2014/main" id="{905793B0-4C20-2B2D-7669-E55E29381B47}"/>
              </a:ext>
            </a:extLst>
          </p:cNvPr>
          <p:cNvGraphicFramePr/>
          <p:nvPr/>
        </p:nvGraphicFramePr>
        <p:xfrm>
          <a:off x="5084957" y="1690688"/>
          <a:ext cx="7107044" cy="45874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asellaDiTesto 4">
            <a:extLst>
              <a:ext uri="{FF2B5EF4-FFF2-40B4-BE49-F238E27FC236}">
                <a16:creationId xmlns:a16="http://schemas.microsoft.com/office/drawing/2014/main" id="{AA7EFDD6-8137-5390-ACE6-089D05E28846}"/>
              </a:ext>
            </a:extLst>
          </p:cNvPr>
          <p:cNvSpPr txBox="1"/>
          <p:nvPr/>
        </p:nvSpPr>
        <p:spPr>
          <a:xfrm>
            <a:off x="7704166" y="3713357"/>
            <a:ext cx="1004937" cy="369332"/>
          </a:xfrm>
          <a:prstGeom prst="rect">
            <a:avLst/>
          </a:prstGeom>
          <a:noFill/>
        </p:spPr>
        <p:txBody>
          <a:bodyPr wrap="square" rtlCol="0">
            <a:spAutoFit/>
          </a:bodyPr>
          <a:lstStyle/>
          <a:p>
            <a:r>
              <a:rPr lang="pt-BR" dirty="0"/>
              <a:t>CSS</a:t>
            </a:r>
            <a:endParaRPr lang="it-IT" dirty="0"/>
          </a:p>
        </p:txBody>
      </p:sp>
      <p:sp>
        <p:nvSpPr>
          <p:cNvPr id="6" name="CasellaDiTesto 5">
            <a:extLst>
              <a:ext uri="{FF2B5EF4-FFF2-40B4-BE49-F238E27FC236}">
                <a16:creationId xmlns:a16="http://schemas.microsoft.com/office/drawing/2014/main" id="{537E4B01-2A5D-A90A-35F6-092A606A845C}"/>
              </a:ext>
            </a:extLst>
          </p:cNvPr>
          <p:cNvSpPr txBox="1"/>
          <p:nvPr/>
        </p:nvSpPr>
        <p:spPr>
          <a:xfrm>
            <a:off x="8943146" y="3713357"/>
            <a:ext cx="1004937" cy="369332"/>
          </a:xfrm>
          <a:prstGeom prst="rect">
            <a:avLst/>
          </a:prstGeom>
          <a:noFill/>
        </p:spPr>
        <p:txBody>
          <a:bodyPr wrap="square" rtlCol="0">
            <a:spAutoFit/>
          </a:bodyPr>
          <a:lstStyle/>
          <a:p>
            <a:r>
              <a:rPr lang="pt-BR" dirty="0"/>
              <a:t>NLP</a:t>
            </a:r>
            <a:endParaRPr lang="it-IT" dirty="0"/>
          </a:p>
        </p:txBody>
      </p:sp>
      <p:sp>
        <p:nvSpPr>
          <p:cNvPr id="7" name="CasellaDiTesto 6">
            <a:extLst>
              <a:ext uri="{FF2B5EF4-FFF2-40B4-BE49-F238E27FC236}">
                <a16:creationId xmlns:a16="http://schemas.microsoft.com/office/drawing/2014/main" id="{225C03C8-BD27-4692-6EDC-9F663233B620}"/>
              </a:ext>
            </a:extLst>
          </p:cNvPr>
          <p:cNvSpPr txBox="1"/>
          <p:nvPr/>
        </p:nvSpPr>
        <p:spPr>
          <a:xfrm>
            <a:off x="8440677" y="4626415"/>
            <a:ext cx="1004937" cy="369332"/>
          </a:xfrm>
          <a:prstGeom prst="rect">
            <a:avLst/>
          </a:prstGeom>
          <a:noFill/>
        </p:spPr>
        <p:txBody>
          <a:bodyPr wrap="square" rtlCol="0">
            <a:spAutoFit/>
          </a:bodyPr>
          <a:lstStyle/>
          <a:p>
            <a:r>
              <a:rPr lang="pt-BR" dirty="0"/>
              <a:t>PL</a:t>
            </a:r>
            <a:endParaRPr lang="it-IT" dirty="0"/>
          </a:p>
        </p:txBody>
      </p:sp>
      <p:cxnSp>
        <p:nvCxnSpPr>
          <p:cNvPr id="9" name="Connettore 2 8">
            <a:extLst>
              <a:ext uri="{FF2B5EF4-FFF2-40B4-BE49-F238E27FC236}">
                <a16:creationId xmlns:a16="http://schemas.microsoft.com/office/drawing/2014/main" id="{B519AC05-DB8F-63B4-CE4E-5653CE6D3C1F}"/>
              </a:ext>
            </a:extLst>
          </p:cNvPr>
          <p:cNvCxnSpPr>
            <a:cxnSpLocks/>
          </p:cNvCxnSpPr>
          <p:nvPr/>
        </p:nvCxnSpPr>
        <p:spPr>
          <a:xfrm flipH="1">
            <a:off x="8638479" y="3546088"/>
            <a:ext cx="2412380" cy="7102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CasellaDiTesto 9">
            <a:extLst>
              <a:ext uri="{FF2B5EF4-FFF2-40B4-BE49-F238E27FC236}">
                <a16:creationId xmlns:a16="http://schemas.microsoft.com/office/drawing/2014/main" id="{8DCEB2EE-ECD2-8163-EBD3-C9355D0D2708}"/>
              </a:ext>
            </a:extLst>
          </p:cNvPr>
          <p:cNvSpPr txBox="1"/>
          <p:nvPr/>
        </p:nvSpPr>
        <p:spPr>
          <a:xfrm>
            <a:off x="10446039" y="3127246"/>
            <a:ext cx="1588782" cy="369332"/>
          </a:xfrm>
          <a:prstGeom prst="rect">
            <a:avLst/>
          </a:prstGeom>
          <a:noFill/>
        </p:spPr>
        <p:txBody>
          <a:bodyPr wrap="square" rtlCol="0">
            <a:spAutoFit/>
          </a:bodyPr>
          <a:lstStyle/>
          <a:p>
            <a:r>
              <a:rPr lang="pt-BR" dirty="0"/>
              <a:t>We are here</a:t>
            </a:r>
            <a:endParaRPr lang="it-IT" dirty="0"/>
          </a:p>
        </p:txBody>
      </p:sp>
    </p:spTree>
    <p:extLst>
      <p:ext uri="{BB962C8B-B14F-4D97-AF65-F5344CB8AC3E}">
        <p14:creationId xmlns:p14="http://schemas.microsoft.com/office/powerpoint/2010/main" val="888609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figure 1">
            <a:extLst>
              <a:ext uri="{FF2B5EF4-FFF2-40B4-BE49-F238E27FC236}">
                <a16:creationId xmlns:a16="http://schemas.microsoft.com/office/drawing/2014/main" id="{A4E59429-A783-EF50-7E12-C843BA3DE3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32563" y="0"/>
            <a:ext cx="5659437"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CasellaDiTesto 3">
            <a:extLst>
              <a:ext uri="{FF2B5EF4-FFF2-40B4-BE49-F238E27FC236}">
                <a16:creationId xmlns:a16="http://schemas.microsoft.com/office/drawing/2014/main" id="{1C2E1FA9-C6CC-E1C3-1F11-002DB9A59B90}"/>
              </a:ext>
            </a:extLst>
          </p:cNvPr>
          <p:cNvSpPr txBox="1"/>
          <p:nvPr/>
        </p:nvSpPr>
        <p:spPr>
          <a:xfrm>
            <a:off x="838200" y="1689020"/>
            <a:ext cx="3236494" cy="2585323"/>
          </a:xfrm>
          <a:prstGeom prst="rect">
            <a:avLst/>
          </a:prstGeom>
          <a:noFill/>
        </p:spPr>
        <p:txBody>
          <a:bodyPr wrap="square" rtlCol="0">
            <a:spAutoFit/>
          </a:bodyPr>
          <a:lstStyle/>
          <a:p>
            <a:r>
              <a:rPr lang="it-IT" dirty="0" err="1"/>
              <a:t>Aroyehun</a:t>
            </a:r>
            <a:r>
              <a:rPr lang="it-IT" dirty="0"/>
              <a:t>, S.T., Simchon, A., Carrella, F. </a:t>
            </a:r>
            <a:r>
              <a:rPr lang="it-IT" i="1" dirty="0"/>
              <a:t>et al.</a:t>
            </a:r>
            <a:r>
              <a:rPr lang="it-IT" dirty="0"/>
              <a:t> </a:t>
            </a:r>
            <a:r>
              <a:rPr lang="it-IT" dirty="0" err="1"/>
              <a:t>Computational</a:t>
            </a:r>
            <a:r>
              <a:rPr lang="it-IT" dirty="0"/>
              <a:t> </a:t>
            </a:r>
            <a:r>
              <a:rPr lang="it-IT" dirty="0" err="1"/>
              <a:t>analysis</a:t>
            </a:r>
            <a:r>
              <a:rPr lang="it-IT" dirty="0"/>
              <a:t> of US </a:t>
            </a:r>
            <a:r>
              <a:rPr lang="it-IT" dirty="0" err="1"/>
              <a:t>congressional</a:t>
            </a:r>
            <a:r>
              <a:rPr lang="it-IT" dirty="0"/>
              <a:t> speeches </a:t>
            </a:r>
            <a:r>
              <a:rPr lang="it-IT" dirty="0" err="1"/>
              <a:t>reveals</a:t>
            </a:r>
            <a:r>
              <a:rPr lang="it-IT" dirty="0"/>
              <a:t> a shift from </a:t>
            </a:r>
            <a:r>
              <a:rPr lang="it-IT" dirty="0" err="1"/>
              <a:t>evidence</a:t>
            </a:r>
            <a:r>
              <a:rPr lang="it-IT" dirty="0"/>
              <a:t> to </a:t>
            </a:r>
            <a:r>
              <a:rPr lang="it-IT" dirty="0" err="1"/>
              <a:t>intuition</a:t>
            </a:r>
            <a:r>
              <a:rPr lang="it-IT" dirty="0"/>
              <a:t>. </a:t>
            </a:r>
            <a:r>
              <a:rPr lang="it-IT" i="1" dirty="0" err="1"/>
              <a:t>Nat</a:t>
            </a:r>
            <a:r>
              <a:rPr lang="it-IT" i="1" dirty="0"/>
              <a:t> </a:t>
            </a:r>
            <a:r>
              <a:rPr lang="it-IT" i="1" dirty="0" err="1"/>
              <a:t>Hum</a:t>
            </a:r>
            <a:r>
              <a:rPr lang="it-IT" i="1" dirty="0"/>
              <a:t> </a:t>
            </a:r>
            <a:r>
              <a:rPr lang="it-IT" i="1" dirty="0" err="1"/>
              <a:t>Behav</a:t>
            </a:r>
            <a:r>
              <a:rPr lang="it-IT" dirty="0"/>
              <a:t> </a:t>
            </a:r>
            <a:r>
              <a:rPr lang="it-IT" b="1" dirty="0"/>
              <a:t>9</a:t>
            </a:r>
            <a:r>
              <a:rPr lang="it-IT" dirty="0"/>
              <a:t>, 1122–1133 (2025). https://doi.org/10.1038/s41562-025-02136-2</a:t>
            </a:r>
          </a:p>
        </p:txBody>
      </p:sp>
      <p:sp>
        <p:nvSpPr>
          <p:cNvPr id="5" name="Titolo 4">
            <a:extLst>
              <a:ext uri="{FF2B5EF4-FFF2-40B4-BE49-F238E27FC236}">
                <a16:creationId xmlns:a16="http://schemas.microsoft.com/office/drawing/2014/main" id="{6AF8C178-BABA-8AC2-FD17-AF24D5B70D1C}"/>
              </a:ext>
            </a:extLst>
          </p:cNvPr>
          <p:cNvSpPr>
            <a:spLocks noGrp="1"/>
          </p:cNvSpPr>
          <p:nvPr>
            <p:ph type="title"/>
          </p:nvPr>
        </p:nvSpPr>
        <p:spPr/>
        <p:txBody>
          <a:bodyPr/>
          <a:lstStyle/>
          <a:p>
            <a:r>
              <a:rPr lang="pt-BR" dirty="0"/>
              <a:t>Why it matters?</a:t>
            </a:r>
            <a:endParaRPr lang="it-IT" dirty="0"/>
          </a:p>
        </p:txBody>
      </p:sp>
    </p:spTree>
    <p:extLst>
      <p:ext uri="{BB962C8B-B14F-4D97-AF65-F5344CB8AC3E}">
        <p14:creationId xmlns:p14="http://schemas.microsoft.com/office/powerpoint/2010/main" val="29757129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5DBD6-9EC1-35C5-EEDB-E930FF4E868B}"/>
            </a:ext>
          </a:extLst>
        </p:cNvPr>
        <p:cNvGrpSpPr/>
        <p:nvPr/>
      </p:nvGrpSpPr>
      <p:grpSpPr>
        <a:xfrm>
          <a:off x="0" y="0"/>
          <a:ext cx="0" cy="0"/>
          <a:chOff x="0" y="0"/>
          <a:chExt cx="0" cy="0"/>
        </a:xfrm>
      </p:grpSpPr>
      <p:sp>
        <p:nvSpPr>
          <p:cNvPr id="4" name="CasellaDiTesto 3">
            <a:extLst>
              <a:ext uri="{FF2B5EF4-FFF2-40B4-BE49-F238E27FC236}">
                <a16:creationId xmlns:a16="http://schemas.microsoft.com/office/drawing/2014/main" id="{147FBBD3-5F79-6EBA-35B1-7D7B7C01D223}"/>
              </a:ext>
            </a:extLst>
          </p:cNvPr>
          <p:cNvSpPr txBox="1"/>
          <p:nvPr/>
        </p:nvSpPr>
        <p:spPr>
          <a:xfrm>
            <a:off x="272716" y="1517051"/>
            <a:ext cx="1832810" cy="5078313"/>
          </a:xfrm>
          <a:prstGeom prst="rect">
            <a:avLst/>
          </a:prstGeom>
          <a:noFill/>
        </p:spPr>
        <p:txBody>
          <a:bodyPr wrap="square" rtlCol="0">
            <a:spAutoFit/>
          </a:bodyPr>
          <a:lstStyle/>
          <a:p>
            <a:r>
              <a:rPr lang="en-US" dirty="0"/>
              <a:t>Lasser, J., </a:t>
            </a:r>
            <a:r>
              <a:rPr lang="en-US" dirty="0" err="1"/>
              <a:t>Aroyehun</a:t>
            </a:r>
            <a:r>
              <a:rPr lang="en-US" dirty="0"/>
              <a:t>, S.T., Carrella, F. </a:t>
            </a:r>
            <a:r>
              <a:rPr lang="en-US" i="1" dirty="0"/>
              <a:t>et al.</a:t>
            </a:r>
            <a:r>
              <a:rPr lang="en-US" dirty="0"/>
              <a:t> From alternative conceptions of honesty to alternative facts in communications by US politicians. </a:t>
            </a:r>
            <a:r>
              <a:rPr lang="en-US" i="1" dirty="0"/>
              <a:t>Nat Hum </a:t>
            </a:r>
            <a:r>
              <a:rPr lang="en-US" i="1" dirty="0" err="1"/>
              <a:t>Behav</a:t>
            </a:r>
            <a:r>
              <a:rPr lang="en-US" dirty="0"/>
              <a:t> </a:t>
            </a:r>
            <a:r>
              <a:rPr lang="en-US" b="1" dirty="0"/>
              <a:t>7</a:t>
            </a:r>
            <a:r>
              <a:rPr lang="en-US" dirty="0"/>
              <a:t>, 2140–2151 (2023). https://doi.org/10.1038/s41562-023-01691-w</a:t>
            </a:r>
            <a:endParaRPr lang="it-IT" dirty="0"/>
          </a:p>
        </p:txBody>
      </p:sp>
      <p:sp>
        <p:nvSpPr>
          <p:cNvPr id="5" name="Titolo 4">
            <a:extLst>
              <a:ext uri="{FF2B5EF4-FFF2-40B4-BE49-F238E27FC236}">
                <a16:creationId xmlns:a16="http://schemas.microsoft.com/office/drawing/2014/main" id="{BC3555AD-C467-2474-DDE4-8FE1F5A2765E}"/>
              </a:ext>
            </a:extLst>
          </p:cNvPr>
          <p:cNvSpPr>
            <a:spLocks noGrp="1"/>
          </p:cNvSpPr>
          <p:nvPr>
            <p:ph type="title"/>
          </p:nvPr>
        </p:nvSpPr>
        <p:spPr/>
        <p:txBody>
          <a:bodyPr/>
          <a:lstStyle/>
          <a:p>
            <a:r>
              <a:rPr lang="pt-BR" dirty="0"/>
              <a:t>Why it matters?</a:t>
            </a:r>
            <a:endParaRPr lang="it-IT" dirty="0"/>
          </a:p>
        </p:txBody>
      </p:sp>
      <p:pic>
        <p:nvPicPr>
          <p:cNvPr id="2050" name="Picture 2" descr="figure 3">
            <a:extLst>
              <a:ext uri="{FF2B5EF4-FFF2-40B4-BE49-F238E27FC236}">
                <a16:creationId xmlns:a16="http://schemas.microsoft.com/office/drawing/2014/main" id="{AFACD4A8-2AB4-B055-3FF1-34656B0CCD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24243" y="1251284"/>
            <a:ext cx="9414638" cy="56098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4371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CFD57BD1-BF83-C8AE-D47F-C5045EE381B0}"/>
              </a:ext>
            </a:extLst>
          </p:cNvPr>
          <p:cNvSpPr>
            <a:spLocks noGrp="1"/>
          </p:cNvSpPr>
          <p:nvPr>
            <p:ph idx="1"/>
          </p:nvPr>
        </p:nvSpPr>
        <p:spPr>
          <a:xfrm>
            <a:off x="0" y="0"/>
            <a:ext cx="12192000" cy="6858000"/>
          </a:xfrm>
        </p:spPr>
        <p:txBody>
          <a:bodyPr>
            <a:normAutofit fontScale="55000" lnSpcReduction="20000"/>
          </a:bodyPr>
          <a:lstStyle/>
          <a:p>
            <a:pPr marL="514350" indent="-514350">
              <a:buFont typeface="+mj-lt"/>
              <a:buAutoNum type="arabicPeriod"/>
            </a:pPr>
            <a:r>
              <a:rPr lang="en-US" dirty="0"/>
              <a:t>Toplak, M.E., West, R.F., &amp; Stanovich, K.E. (2011). The Cognitive Reflection Test as a predictor of performance on heuristics-and-biases tasks. </a:t>
            </a:r>
            <a:r>
              <a:rPr lang="en-US" i="1" dirty="0"/>
              <a:t>Memory &amp; Cognition, 39</a:t>
            </a:r>
            <a:r>
              <a:rPr lang="en-US" dirty="0"/>
              <a:t>, 1275-1289.</a:t>
            </a:r>
          </a:p>
          <a:p>
            <a:pPr marL="514350" indent="-514350">
              <a:buFont typeface="+mj-lt"/>
              <a:buAutoNum type="arabicPeriod"/>
            </a:pPr>
            <a:r>
              <a:rPr lang="en-US" dirty="0"/>
              <a:t>Evans, J. (2008). Dual-processing accounts of reasoning, judgment, and social cognition. </a:t>
            </a:r>
            <a:r>
              <a:rPr lang="en-US" i="1" dirty="0"/>
              <a:t>Annual review of psychology, 59</a:t>
            </a:r>
            <a:r>
              <a:rPr lang="en-US" dirty="0"/>
              <a:t>, 255-78 .</a:t>
            </a:r>
          </a:p>
          <a:p>
            <a:pPr marL="514350" indent="-514350">
              <a:buFont typeface="+mj-lt"/>
              <a:buAutoNum type="arabicPeriod"/>
            </a:pPr>
            <a:r>
              <a:rPr lang="en-US" dirty="0"/>
              <a:t>Pennycook, G. (2017). A perspective on the theoretical foundation of dual process models. In </a:t>
            </a:r>
            <a:r>
              <a:rPr lang="en-US" i="1" dirty="0"/>
              <a:t>Dual process theory 2.0</a:t>
            </a:r>
            <a:r>
              <a:rPr lang="en-US" dirty="0"/>
              <a:t> (pp. 5-27). Routledge.</a:t>
            </a:r>
          </a:p>
          <a:p>
            <a:pPr marL="514350" indent="-514350">
              <a:buFont typeface="+mj-lt"/>
              <a:buAutoNum type="arabicPeriod"/>
            </a:pPr>
            <a:r>
              <a:rPr lang="en-US" dirty="0"/>
              <a:t>Metzger, M. J., &amp; Flanagin, A. J. (2013). Credibility and trust of information in online environments: The use of cognitive heuristics. </a:t>
            </a:r>
            <a:r>
              <a:rPr lang="en-US" i="1" dirty="0"/>
              <a:t>Journal of pragmatics</a:t>
            </a:r>
            <a:r>
              <a:rPr lang="en-US" dirty="0"/>
              <a:t>, </a:t>
            </a:r>
            <a:r>
              <a:rPr lang="en-US" i="1" dirty="0"/>
              <a:t>59</a:t>
            </a:r>
            <a:r>
              <a:rPr lang="en-US" dirty="0"/>
              <a:t>, 210-220.</a:t>
            </a:r>
          </a:p>
          <a:p>
            <a:pPr marL="514350" indent="-514350">
              <a:buFont typeface="+mj-lt"/>
              <a:buAutoNum type="arabicPeriod"/>
            </a:pPr>
            <a:r>
              <a:rPr lang="en-US" dirty="0"/>
              <a:t>Klayman, J. (1995). Varieties of confirmation bias. </a:t>
            </a:r>
            <a:r>
              <a:rPr lang="en-US" i="1" dirty="0"/>
              <a:t>Psychology of learning and motivation</a:t>
            </a:r>
            <a:r>
              <a:rPr lang="en-US" dirty="0"/>
              <a:t>, </a:t>
            </a:r>
            <a:r>
              <a:rPr lang="en-US" i="1" dirty="0"/>
              <a:t>32</a:t>
            </a:r>
            <a:r>
              <a:rPr lang="en-US" dirty="0"/>
              <a:t>, 385-418.</a:t>
            </a:r>
          </a:p>
          <a:p>
            <a:pPr marL="514350" indent="-514350">
              <a:buFont typeface="+mj-lt"/>
              <a:buAutoNum type="arabicPeriod"/>
            </a:pPr>
            <a:r>
              <a:rPr lang="en-US" dirty="0"/>
              <a:t>Freedman, J. L., &amp; Sears, D. O. (1965). Selective exposure. In </a:t>
            </a:r>
            <a:r>
              <a:rPr lang="en-US" i="1" dirty="0"/>
              <a:t>Advances in experimental social psychology</a:t>
            </a:r>
            <a:r>
              <a:rPr lang="en-US" dirty="0"/>
              <a:t> (Vol. 2, pp. 57-97). Academic Press.</a:t>
            </a:r>
          </a:p>
          <a:p>
            <a:pPr marL="514350" indent="-514350">
              <a:buFont typeface="+mj-lt"/>
              <a:buAutoNum type="arabicPeriod"/>
            </a:pPr>
            <a:r>
              <a:rPr lang="en-US" dirty="0"/>
              <a:t>Ross, L., &amp; Ward, A. (2013). Naive realism in everyday life: Implications for social conflict and misunderstanding. In </a:t>
            </a:r>
            <a:r>
              <a:rPr lang="en-US" i="1" dirty="0"/>
              <a:t>Values and knowledge</a:t>
            </a:r>
            <a:r>
              <a:rPr lang="en-US" dirty="0"/>
              <a:t> (pp. 103-135). Psychology Press.</a:t>
            </a:r>
          </a:p>
          <a:p>
            <a:pPr marL="514350" indent="-514350">
              <a:buFont typeface="+mj-lt"/>
              <a:buAutoNum type="arabicPeriod"/>
            </a:pPr>
            <a:r>
              <a:rPr lang="en-US" dirty="0"/>
              <a:t>Prentice, D. A., &amp; Miller, D. T. (1996). Pluralistic ignorance and the perpetuation of social norms by unwitting actors. In </a:t>
            </a:r>
            <a:r>
              <a:rPr lang="en-US" i="1" dirty="0"/>
              <a:t>Advances in experimental social psychology</a:t>
            </a:r>
            <a:r>
              <a:rPr lang="en-US" dirty="0"/>
              <a:t> (Vol. 28, pp. 161-209). Academic Press.</a:t>
            </a:r>
          </a:p>
          <a:p>
            <a:pPr marL="514350" indent="-514350">
              <a:buFont typeface="+mj-lt"/>
              <a:buAutoNum type="arabicPeriod"/>
            </a:pPr>
            <a:r>
              <a:rPr lang="en-US" dirty="0"/>
              <a:t>Kahan, D. M. (2017). Misconceptions, misinformation, and the logic of identity-protective cognition.</a:t>
            </a:r>
          </a:p>
          <a:p>
            <a:pPr marL="514350" indent="-514350">
              <a:buFont typeface="+mj-lt"/>
              <a:buAutoNum type="arabicPeriod"/>
            </a:pPr>
            <a:r>
              <a:rPr lang="en-US" dirty="0"/>
              <a:t>Fazio, L. K., Brashier, N. M., Payne, B. K., &amp; Marsh, E. J. (2015). Knowledge does not protect against illusory truth. </a:t>
            </a:r>
            <a:r>
              <a:rPr lang="en-US" i="1" dirty="0"/>
              <a:t>Journal of experimental psychology: general</a:t>
            </a:r>
            <a:r>
              <a:rPr lang="en-US" dirty="0"/>
              <a:t>, </a:t>
            </a:r>
            <a:r>
              <a:rPr lang="en-US" i="1" dirty="0"/>
              <a:t>144</a:t>
            </a:r>
            <a:r>
              <a:rPr lang="en-US" dirty="0"/>
              <a:t>(5), 993.</a:t>
            </a:r>
          </a:p>
          <a:p>
            <a:pPr marL="514350" indent="-514350">
              <a:buFont typeface="+mj-lt"/>
              <a:buAutoNum type="arabicPeriod"/>
            </a:pPr>
            <a:r>
              <a:rPr lang="en-US" dirty="0"/>
              <a:t>Schmitt‐Beck, R. (2015). Bandwagon effect. </a:t>
            </a:r>
            <a:r>
              <a:rPr lang="en-US" i="1" dirty="0"/>
              <a:t>The international encyclopedia of political communication</a:t>
            </a:r>
            <a:r>
              <a:rPr lang="en-US" dirty="0"/>
              <a:t>, 1-5.</a:t>
            </a:r>
          </a:p>
          <a:p>
            <a:pPr marL="514350" indent="-514350">
              <a:buFont typeface="+mj-lt"/>
              <a:buAutoNum type="arabicPeriod"/>
            </a:pPr>
            <a:r>
              <a:rPr lang="en-US" dirty="0"/>
              <a:t>McPherson, M., Smith-Lovin, L., &amp; Cook, J. M. (2001). Birds of a feather: Homophily in social networks. </a:t>
            </a:r>
            <a:r>
              <a:rPr lang="en-US" i="1" dirty="0"/>
              <a:t>Annual review of sociology</a:t>
            </a:r>
            <a:r>
              <a:rPr lang="en-US" dirty="0"/>
              <a:t>, </a:t>
            </a:r>
            <a:r>
              <a:rPr lang="en-US" i="1" dirty="0"/>
              <a:t>27</a:t>
            </a:r>
            <a:r>
              <a:rPr lang="en-US" dirty="0"/>
              <a:t>(1), 415-444.</a:t>
            </a:r>
          </a:p>
          <a:p>
            <a:pPr marL="514350" indent="-514350">
              <a:buFont typeface="+mj-lt"/>
              <a:buAutoNum type="arabicPeriod"/>
            </a:pPr>
            <a:r>
              <a:rPr lang="en-US" dirty="0"/>
              <a:t>Capuano, N., </a:t>
            </a:r>
            <a:r>
              <a:rPr lang="en-US" dirty="0" err="1"/>
              <a:t>Fenza</a:t>
            </a:r>
            <a:r>
              <a:rPr lang="en-US" dirty="0"/>
              <a:t>, G., Loia, V., &amp; Nota, F. D. (2023). Content-based fake news detection with machine and deep learning: a systematic review. </a:t>
            </a:r>
            <a:r>
              <a:rPr lang="en-US" i="1" dirty="0"/>
              <a:t>Neurocomputing</a:t>
            </a:r>
            <a:r>
              <a:rPr lang="en-US" dirty="0"/>
              <a:t>, </a:t>
            </a:r>
            <a:r>
              <a:rPr lang="en-US" i="1" dirty="0"/>
              <a:t>530</a:t>
            </a:r>
            <a:r>
              <a:rPr lang="en-US" dirty="0"/>
              <a:t>, 91-103.</a:t>
            </a:r>
          </a:p>
          <a:p>
            <a:pPr marL="514350" indent="-514350">
              <a:buFont typeface="+mj-lt"/>
              <a:buAutoNum type="arabicPeriod"/>
            </a:pPr>
            <a:r>
              <a:rPr lang="en-US" dirty="0" err="1"/>
              <a:t>Bashaddadh</a:t>
            </a:r>
            <a:r>
              <a:rPr lang="en-US" dirty="0"/>
              <a:t>, O., Omar, N., Mohd, M., &amp; Khalid, M. N. A. (2025). Machine learning and deep learning approaches for fake news detection: A systematic review of techniques, challenges, and advancements. </a:t>
            </a:r>
            <a:r>
              <a:rPr lang="en-US" i="1" dirty="0"/>
              <a:t>IEEE Access</a:t>
            </a:r>
            <a:r>
              <a:rPr lang="en-US" dirty="0"/>
              <a:t>.</a:t>
            </a:r>
          </a:p>
          <a:p>
            <a:pPr marL="514350" indent="-514350">
              <a:buFont typeface="+mj-lt"/>
              <a:buAutoNum type="arabicPeriod"/>
            </a:pPr>
            <a:r>
              <a:rPr lang="it-IT" dirty="0"/>
              <a:t>Ecker, U.K., Lewandowsky, S., Cook, J., Schmid, P., Fazio, L.K., </a:t>
            </a:r>
            <a:r>
              <a:rPr lang="it-IT" dirty="0" err="1"/>
              <a:t>Brashier</a:t>
            </a:r>
            <a:r>
              <a:rPr lang="it-IT" dirty="0"/>
              <a:t>, N.M., </a:t>
            </a:r>
            <a:r>
              <a:rPr lang="it-IT" dirty="0" err="1"/>
              <a:t>Kendeou</a:t>
            </a:r>
            <a:r>
              <a:rPr lang="it-IT" dirty="0"/>
              <a:t>, P., </a:t>
            </a:r>
            <a:r>
              <a:rPr lang="it-IT" dirty="0" err="1"/>
              <a:t>Vraga</a:t>
            </a:r>
            <a:r>
              <a:rPr lang="it-IT" dirty="0"/>
              <a:t>, E.K., &amp; </a:t>
            </a:r>
            <a:r>
              <a:rPr lang="it-IT" dirty="0" err="1"/>
              <a:t>Amazeen</a:t>
            </a:r>
            <a:r>
              <a:rPr lang="it-IT" dirty="0"/>
              <a:t>, M.A. (2022). The </a:t>
            </a:r>
            <a:r>
              <a:rPr lang="it-IT" dirty="0" err="1"/>
              <a:t>psychological</a:t>
            </a:r>
            <a:r>
              <a:rPr lang="it-IT" dirty="0"/>
              <a:t> drivers of </a:t>
            </a:r>
            <a:r>
              <a:rPr lang="it-IT" dirty="0" err="1"/>
              <a:t>misinformation</a:t>
            </a:r>
            <a:r>
              <a:rPr lang="it-IT" dirty="0"/>
              <a:t> </a:t>
            </a:r>
            <a:r>
              <a:rPr lang="it-IT" dirty="0" err="1"/>
              <a:t>belief</a:t>
            </a:r>
            <a:r>
              <a:rPr lang="it-IT" dirty="0"/>
              <a:t> and </a:t>
            </a:r>
            <a:r>
              <a:rPr lang="it-IT" dirty="0" err="1"/>
              <a:t>its</a:t>
            </a:r>
            <a:r>
              <a:rPr lang="it-IT" dirty="0"/>
              <a:t> </a:t>
            </a:r>
            <a:r>
              <a:rPr lang="it-IT" dirty="0" err="1"/>
              <a:t>resistance</a:t>
            </a:r>
            <a:r>
              <a:rPr lang="it-IT" dirty="0"/>
              <a:t> to </a:t>
            </a:r>
            <a:r>
              <a:rPr lang="it-IT" dirty="0" err="1"/>
              <a:t>correction</a:t>
            </a:r>
            <a:r>
              <a:rPr lang="it-IT" dirty="0"/>
              <a:t>. </a:t>
            </a:r>
            <a:r>
              <a:rPr lang="it-IT" i="1" dirty="0"/>
              <a:t>Nature Reviews </a:t>
            </a:r>
            <a:r>
              <a:rPr lang="it-IT" i="1" dirty="0" err="1"/>
              <a:t>Psychology</a:t>
            </a:r>
            <a:r>
              <a:rPr lang="it-IT" i="1" dirty="0"/>
              <a:t>, 1</a:t>
            </a:r>
            <a:r>
              <a:rPr lang="it-IT" dirty="0"/>
              <a:t>, 13 - 29.</a:t>
            </a:r>
          </a:p>
          <a:p>
            <a:pPr marL="514350" indent="-514350">
              <a:buFont typeface="+mj-lt"/>
              <a:buAutoNum type="arabicPeriod"/>
            </a:pPr>
            <a:r>
              <a:rPr lang="en-US" dirty="0"/>
              <a:t>Simchon, A., Edwards, M., &amp; Lewandowsky, S. (2024). The persuasive effects of political microtargeting in the age of generative artificial intelligence. </a:t>
            </a:r>
            <a:r>
              <a:rPr lang="en-US" i="1" dirty="0"/>
              <a:t>PNAS nexus</a:t>
            </a:r>
            <a:r>
              <a:rPr lang="en-US" dirty="0"/>
              <a:t>, </a:t>
            </a:r>
            <a:r>
              <a:rPr lang="en-US" i="1" dirty="0"/>
              <a:t>3</a:t>
            </a:r>
            <a:r>
              <a:rPr lang="en-US" dirty="0"/>
              <a:t>(2), pgae035.</a:t>
            </a:r>
          </a:p>
          <a:p>
            <a:pPr marL="514350" indent="-514350">
              <a:buFont typeface="+mj-lt"/>
              <a:buAutoNum type="arabicPeriod"/>
            </a:pPr>
            <a:r>
              <a:rPr lang="en-US" dirty="0"/>
              <a:t>Costello, T. H., Pennycook, G., &amp; Rand, D. G. (2024). Durably reducing conspiracy beliefs through dialogues with AI. </a:t>
            </a:r>
            <a:r>
              <a:rPr lang="en-US" i="1" dirty="0"/>
              <a:t>Science</a:t>
            </a:r>
            <a:r>
              <a:rPr lang="en-US" dirty="0"/>
              <a:t>, </a:t>
            </a:r>
            <a:r>
              <a:rPr lang="en-US" i="1" dirty="0"/>
              <a:t>385</a:t>
            </a:r>
            <a:r>
              <a:rPr lang="en-US" dirty="0"/>
              <a:t>(6714), eadq1814.</a:t>
            </a:r>
            <a:endParaRPr lang="it-IT" dirty="0"/>
          </a:p>
        </p:txBody>
      </p:sp>
    </p:spTree>
    <p:extLst>
      <p:ext uri="{BB962C8B-B14F-4D97-AF65-F5344CB8AC3E}">
        <p14:creationId xmlns:p14="http://schemas.microsoft.com/office/powerpoint/2010/main" val="1138298439"/>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3367</TotalTime>
  <Words>2503</Words>
  <Application>Microsoft Office PowerPoint</Application>
  <PresentationFormat>Widescreen</PresentationFormat>
  <Paragraphs>274</Paragraphs>
  <Slides>24</Slides>
  <Notes>18</Notes>
  <HiddenSlides>2</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Aptos</vt:lpstr>
      <vt:lpstr>Aptos Display</vt:lpstr>
      <vt:lpstr>Arial</vt:lpstr>
      <vt:lpstr>Tema di Office</vt:lpstr>
      <vt:lpstr>MO850 – Tópicos Avançados em Ciência da Computação I</vt:lpstr>
      <vt:lpstr>What is this course about?</vt:lpstr>
      <vt:lpstr>Why this course matter?</vt:lpstr>
      <vt:lpstr>Course structure</vt:lpstr>
      <vt:lpstr>Course structure</vt:lpstr>
      <vt:lpstr>What is misinformation?</vt:lpstr>
      <vt:lpstr>What is misinformation?</vt:lpstr>
      <vt:lpstr>What is misinformation?</vt:lpstr>
      <vt:lpstr>What is misinformation?</vt:lpstr>
      <vt:lpstr>Why do we fall for misinformation?</vt:lpstr>
      <vt:lpstr>How does this relate to text?</vt:lpstr>
      <vt:lpstr>From cognitive biases to linguistic signals</vt:lpstr>
      <vt:lpstr>From cognitive biases to linguistic signals</vt:lpstr>
      <vt:lpstr>From cognitive biases to linguistic signals</vt:lpstr>
      <vt:lpstr>From cognitive biases to linguistic signals</vt:lpstr>
      <vt:lpstr>From bias to classifiers</vt:lpstr>
      <vt:lpstr>The limits of detection</vt:lpstr>
      <vt:lpstr>Static vs. adaptive manipulation</vt:lpstr>
      <vt:lpstr>The limits of debunking</vt:lpstr>
      <vt:lpstr>The limits of debunking</vt:lpstr>
      <vt:lpstr>What is this course about?</vt:lpstr>
      <vt:lpstr>Why it matters?</vt:lpstr>
      <vt:lpstr>Why it matters?</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Fabio Carrella</dc:creator>
  <cp:lastModifiedBy>Fabio Carrella</cp:lastModifiedBy>
  <cp:revision>43</cp:revision>
  <dcterms:created xsi:type="dcterms:W3CDTF">2026-02-16T17:47:36Z</dcterms:created>
  <dcterms:modified xsi:type="dcterms:W3CDTF">2026-02-23T21:23:19Z</dcterms:modified>
</cp:coreProperties>
</file>